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283" r:id="rId5"/>
    <p:sldId id="284" r:id="rId6"/>
    <p:sldId id="285" r:id="rId7"/>
    <p:sldId id="286" r:id="rId8"/>
    <p:sldId id="287" r:id="rId9"/>
    <p:sldId id="262" r:id="rId10"/>
    <p:sldId id="263" r:id="rId11"/>
    <p:sldId id="265" r:id="rId12"/>
    <p:sldId id="274" r:id="rId13"/>
    <p:sldId id="275" r:id="rId14"/>
    <p:sldId id="278" r:id="rId15"/>
    <p:sldId id="280" r:id="rId16"/>
    <p:sldId id="276" r:id="rId17"/>
    <p:sldId id="277" r:id="rId18"/>
    <p:sldId id="281" r:id="rId19"/>
    <p:sldId id="288" r:id="rId20"/>
    <p:sldId id="291" r:id="rId21"/>
    <p:sldId id="292" r:id="rId22"/>
    <p:sldId id="293" r:id="rId23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89" d="100"/>
          <a:sy n="89" d="100"/>
        </p:scale>
        <p:origin x="485" y="58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105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9F209-C406-41C7-A9BA-A72A502CBDA4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C34B94-FC75-45F3-A22E-5A648626D47B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D077C8-0942-45A8-B346-451DEA9C4B7C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8AEDE0-F549-4A76-B960-CFCAEA4C576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2C454-7F91-4687-B3AD-651E2F21BC70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11E3E4-1EA4-4FD7-BAAA-4D66415769E1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3330E3-4467-476B-A4FC-5186254927DF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A382C0-BA74-4F4A-9091-ECF11704304F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E35AE6-0D97-43AC-8FA3-285D735F57B8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8D6E22-C161-485A-AED3-9B7C3CA70D0A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361078-0AE0-41C1-B005-77A93A7B3806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DD2FA6-7268-4917-9392-9EEB69846A7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0AA46-45A2-442D-85F5-76782C5F4052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3A1C7-68F4-40D2-82F2-D6B217B1AC30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42375-1443-46DD-837C-F141B7D6C61F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CEF8DA-2DE3-49D1-812D-7D35E6796EF8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4F648E-F560-45B4-A8DD-752D986569C8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4348C6-E92A-4005-A379-EAAD0551048C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4626F-C2FF-4762-B60B-7BC1A6BA8D12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FCD450-756D-49B2-AEA0-3B3E0BFBC19E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17F35-1C8D-4E0B-89C2-7638C279B0B2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87F054-8CD7-49CE-99E5-9B44107DBCAD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20" Type="http://schemas.openxmlformats.org/officeDocument/2006/relationships/tags" Target="../tags/tag63.xml"/><Relationship Id="rId2" Type="http://schemas.openxmlformats.org/officeDocument/2006/relationships/slideLayout" Target="../slideLayouts/slideLayout2.xml"/><Relationship Id="rId19" Type="http://schemas.openxmlformats.org/officeDocument/2006/relationships/image" Target="file:///D:\qq&#25991;&#20214;\712321467\Image\C2C\Image2\%7b75232B38-A165-1FB7-499C-2E1C792CACB5%7d.png" TargetMode="External"/><Relationship Id="rId18" Type="http://schemas.openxmlformats.org/officeDocument/2006/relationships/image" Target="../media/image1.png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1073743875" descr="学科网 zxxk.com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 r:link="rId19"/>
          <a:stretch>
            <a:fillRect/>
          </a:stretch>
        </p:blipFill>
        <p:spPr>
          <a:xfrm>
            <a:off x="838200" y="365125"/>
            <a:ext cx="9525" cy="9525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</p:spPr>
      </p:pic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ct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96FFA5F-BB24-4234-BB90-54E78DDB614F}" type="datetimeFigureOut">
              <a:rPr lang="zh-CN" altLang="en-US">
                <a:solidFill>
                  <a:prstClr val="white">
                    <a:tint val="75000"/>
                  </a:prstClr>
                </a:solidFill>
              </a:rPr>
            </a:fld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prstClr val="white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FFFFFF"/>
                </a:solidFill>
                <a:latin typeface="Calibri" panose="020F050202020403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024DE6D1-2762-494F-ABC2-DF5566A59C0B}" type="slidenum">
              <a:rPr lang="zh-CN" altLang="en-US" smtClean="0"/>
            </a:fld>
            <a:endParaRPr lang="en-US" altLang="zh-CN" smtClean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image" Target="../media/image2.jpeg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slide" Target="slide8.xml"/><Relationship Id="rId2" Type="http://schemas.openxmlformats.org/officeDocument/2006/relationships/slide" Target="slide7.xml"/><Relationship Id="rId1" Type="http://schemas.openxmlformats.org/officeDocument/2006/relationships/slide" Target="slide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slide" Target="slide5.xml"/><Relationship Id="rId2" Type="http://schemas.openxmlformats.org/officeDocument/2006/relationships/slide" Target="slide12.xml"/><Relationship Id="rId1" Type="http://schemas.openxmlformats.org/officeDocument/2006/relationships/slide" Target="slide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slide" Target="slide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" Target="slide3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2.xml"/><Relationship Id="rId5" Type="http://schemas.openxmlformats.org/officeDocument/2006/relationships/slide" Target="slide3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image" Target="../media/image5.png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6.xml"/><Relationship Id="rId5" Type="http://schemas.openxmlformats.org/officeDocument/2006/relationships/image" Target="../media/image6.png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slide" Target="slide4.xml"/><Relationship Id="rId1" Type="http://schemas.openxmlformats.org/officeDocument/2006/relationships/tags" Target="../tags/tag73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image" Target="../media/image7.pn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image" Target="../media/image8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88.xml"/><Relationship Id="rId4" Type="http://schemas.openxmlformats.org/officeDocument/2006/relationships/image" Target="../media/image9.jpeg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10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Relationship Id="rId3" Type="http://schemas.openxmlformats.org/officeDocument/2006/relationships/image" Target="../media/image11.png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8.xml"/><Relationship Id="rId4" Type="http://schemas.openxmlformats.org/officeDocument/2006/relationships/image" Target="../media/image12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slide" Target="slide4.xml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13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e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0" name="图片 99"/>
          <p:cNvPicPr/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-635" y="3141345"/>
            <a:ext cx="12192635" cy="1891665"/>
          </a:xfrm>
          <a:prstGeom prst="rect">
            <a:avLst/>
          </a:prstGeom>
          <a:solidFill>
            <a:schemeClr val="tx1">
              <a:alpha val="45000"/>
            </a:schemeClr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altLang="zh-CN" sz="5400" b="1" spc="3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主题</a:t>
            </a:r>
            <a:r>
              <a:rPr lang="en-US" sz="5400" b="1" spc="3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 </a:t>
            </a:r>
            <a:r>
              <a:rPr altLang="zh-CN" sz="5400" b="1" spc="300" dirty="0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altLang="zh-CN" sz="5400" b="1" spc="300" dirty="0" err="1"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常见的地质灾害</a:t>
            </a:r>
            <a:endParaRPr altLang="zh-CN" sz="5400" b="1" spc="300" dirty="0" smtClean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>
              <a:lnSpc>
                <a:spcPct val="150000"/>
              </a:lnSpc>
            </a:pPr>
            <a:endParaRPr lang="zh-CN" altLang="zh-CN" sz="2400" b="1" spc="3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1656464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一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概述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1</a:t>
            </a:r>
            <a:r>
              <a:rPr lang="en-US" altLang="zh-CN" b="1" kern="100" dirty="0">
                <a:latin typeface="宋体" pitchFamily="2" charset="-122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定义  地质灾害指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自然产生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或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人为诱发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的对人民生命和财产安全造成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危害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的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地质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现象。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266700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en-US" altLang="zh-CN" b="1" kern="100" dirty="0">
                <a:latin typeface="宋体" pitchFamily="2" charset="-122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我国主要地质灾害类型 有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地震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、</a:t>
            </a:r>
            <a:r>
              <a:rPr lang="zh-CN" altLang="zh-CN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滑坡</a:t>
            </a:r>
            <a:r>
              <a:rPr lang="zh-CN" altLang="en-US" b="1" kern="100" dirty="0">
                <a:latin typeface="Times New Roman" panose="02020603050405020304" pitchFamily="18" charset="0"/>
                <a:ea typeface="宋体" pitchFamily="2" charset="-122"/>
              </a:rPr>
              <a:t>、</a:t>
            </a:r>
            <a:r>
              <a:rPr lang="zh-CN" altLang="zh-CN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泥石</a:t>
            </a:r>
            <a:r>
              <a:rPr lang="zh-CN" altLang="en-US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流</a:t>
            </a:r>
            <a:r>
              <a:rPr lang="zh-CN" altLang="en-US" b="1" kern="100" dirty="0" smtClean="0">
                <a:latin typeface="Times New Roman" panose="02020603050405020304" pitchFamily="18" charset="0"/>
                <a:ea typeface="宋体" pitchFamily="2" charset="-122"/>
              </a:rPr>
              <a:t>和</a:t>
            </a:r>
            <a:r>
              <a:rPr lang="zh-CN" altLang="en-US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地面沉降</a:t>
            </a:r>
            <a:r>
              <a:rPr lang="zh-CN" altLang="en-US" b="1" kern="100" dirty="0" smtClean="0">
                <a:latin typeface="Times New Roman" panose="02020603050405020304" pitchFamily="18" charset="0"/>
                <a:ea typeface="宋体" pitchFamily="2" charset="-122"/>
              </a:rPr>
              <a:t>等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   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二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关于“地震”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（一）定义  地震是地球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内部的能量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积聚到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局部地区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，在极短时间内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突然释放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造成地球表面的快速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震动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（二）地震要素及影响因素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339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1</a:t>
            </a:r>
            <a:r>
              <a:rPr lang="en-US" altLang="zh-CN" b="1" kern="100" dirty="0">
                <a:latin typeface="宋体" pitchFamily="2" charset="-122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震级 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  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震级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代表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地震所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释放能量多少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，用来表示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地震本身的强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度。同一次地震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，</a:t>
            </a:r>
            <a:r>
              <a:rPr lang="zh-CN" altLang="en-US" b="1" kern="100" dirty="0" smtClean="0">
                <a:latin typeface="Times New Roman" panose="02020603050405020304" pitchFamily="18" charset="0"/>
                <a:ea typeface="宋体" pitchFamily="2" charset="-122"/>
              </a:rPr>
              <a:t>只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有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一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个震级。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339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en-US" altLang="zh-CN" b="1" kern="100" dirty="0">
                <a:latin typeface="宋体" pitchFamily="2" charset="-122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烈度  地震破坏程度用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烈度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表示。同一次地震，有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多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个烈度。烈度相同点的连线称为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等震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线。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33985"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3</a:t>
            </a:r>
            <a:r>
              <a:rPr lang="en-US" altLang="zh-CN" b="1" kern="100" dirty="0">
                <a:latin typeface="宋体" pitchFamily="2" charset="-122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其他地震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要素</a:t>
            </a:r>
            <a:endParaRPr lang="en-US" altLang="zh-CN" b="1" kern="100" dirty="0" smtClean="0">
              <a:latin typeface="Times New Roman" panose="02020603050405020304" pitchFamily="18" charset="0"/>
              <a:ea typeface="宋体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150" y="4151013"/>
            <a:ext cx="3761924" cy="2454886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255946" y="3441611"/>
            <a:ext cx="759695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）图中地下</a:t>
            </a:r>
            <a:r>
              <a:rPr lang="en-US" altLang="zh-CN" dirty="0"/>
              <a:t>A</a:t>
            </a:r>
            <a:r>
              <a:rPr lang="zh-CN" altLang="zh-CN" dirty="0"/>
              <a:t>处岩层在断裂、错动时</a:t>
            </a:r>
            <a:r>
              <a:rPr lang="zh-CN" altLang="zh-CN" u="sng" dirty="0"/>
              <a:t>释放</a:t>
            </a:r>
            <a:r>
              <a:rPr lang="zh-CN" altLang="zh-CN" u="sng" dirty="0" smtClean="0"/>
              <a:t>能量</a:t>
            </a:r>
            <a:r>
              <a:rPr lang="zh-CN" altLang="zh-CN" dirty="0" smtClean="0"/>
              <a:t>，</a:t>
            </a:r>
            <a:r>
              <a:rPr lang="zh-CN" altLang="zh-CN" dirty="0"/>
              <a:t>为</a:t>
            </a:r>
            <a:r>
              <a:rPr lang="zh-CN" altLang="zh-CN" u="sng" dirty="0"/>
              <a:t> </a:t>
            </a:r>
            <a:r>
              <a:rPr lang="zh-CN" altLang="zh-CN" u="sng" dirty="0">
                <a:solidFill>
                  <a:srgbClr val="C00000"/>
                </a:solidFill>
              </a:rPr>
              <a:t>震源 </a:t>
            </a:r>
            <a:r>
              <a:rPr lang="zh-CN" altLang="zh-CN" dirty="0"/>
              <a:t>，</a:t>
            </a:r>
            <a:r>
              <a:rPr lang="en-US" altLang="zh-CN" dirty="0"/>
              <a:t>B</a:t>
            </a:r>
            <a:r>
              <a:rPr lang="zh-CN" altLang="zh-CN" dirty="0"/>
              <a:t>是</a:t>
            </a:r>
            <a:r>
              <a:rPr lang="zh-CN" altLang="zh-CN" u="sng" dirty="0"/>
              <a:t> </a:t>
            </a:r>
            <a:r>
              <a:rPr lang="zh-CN" altLang="zh-CN" u="sng" dirty="0">
                <a:solidFill>
                  <a:srgbClr val="C00000"/>
                </a:solidFill>
              </a:rPr>
              <a:t>震中 </a:t>
            </a:r>
            <a:endParaRPr lang="en-US" altLang="zh-CN" u="sng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dirty="0" smtClean="0"/>
              <a:t>，</a:t>
            </a:r>
            <a:r>
              <a:rPr lang="en-US" altLang="zh-CN" dirty="0"/>
              <a:t>AB</a:t>
            </a:r>
            <a:r>
              <a:rPr lang="zh-CN" altLang="zh-CN" dirty="0"/>
              <a:t>间的距离叫</a:t>
            </a:r>
            <a:r>
              <a:rPr lang="zh-CN" altLang="zh-CN" u="sng" dirty="0"/>
              <a:t> </a:t>
            </a:r>
            <a:r>
              <a:rPr lang="zh-CN" altLang="zh-CN" u="sng" dirty="0">
                <a:solidFill>
                  <a:srgbClr val="C00000"/>
                </a:solidFill>
              </a:rPr>
              <a:t>震源深度</a:t>
            </a:r>
            <a:r>
              <a:rPr lang="zh-CN" altLang="zh-CN" dirty="0"/>
              <a:t>，</a:t>
            </a:r>
            <a:r>
              <a:rPr lang="en-US" altLang="zh-CN" dirty="0"/>
              <a:t>BD</a:t>
            </a:r>
            <a:r>
              <a:rPr lang="zh-CN" altLang="zh-CN" dirty="0"/>
              <a:t>间的距离叫</a:t>
            </a:r>
            <a:r>
              <a:rPr lang="zh-CN" altLang="zh-CN" u="sng" dirty="0"/>
              <a:t> </a:t>
            </a:r>
            <a:r>
              <a:rPr lang="zh-CN" altLang="zh-CN" u="sng" dirty="0">
                <a:solidFill>
                  <a:srgbClr val="C00000"/>
                </a:solidFill>
              </a:rPr>
              <a:t>震中距 </a:t>
            </a:r>
            <a:r>
              <a:rPr lang="zh-CN" altLang="zh-CN" dirty="0"/>
              <a:t>。</a:t>
            </a:r>
            <a:r>
              <a:rPr lang="en-US" altLang="zh-CN" dirty="0"/>
              <a:t> E</a:t>
            </a:r>
            <a:r>
              <a:rPr lang="zh-CN" altLang="zh-CN" dirty="0"/>
              <a:t>、</a:t>
            </a:r>
            <a:r>
              <a:rPr lang="en-US" altLang="zh-CN" dirty="0"/>
              <a:t>F</a:t>
            </a:r>
            <a:r>
              <a:rPr lang="zh-CN" altLang="zh-CN" dirty="0"/>
              <a:t>是</a:t>
            </a:r>
            <a:r>
              <a:rPr lang="zh-CN" altLang="zh-CN" u="sng" dirty="0">
                <a:solidFill>
                  <a:srgbClr val="C00000"/>
                </a:solidFill>
              </a:rPr>
              <a:t>等震</a:t>
            </a:r>
            <a:r>
              <a:rPr lang="zh-CN" altLang="zh-CN" dirty="0">
                <a:solidFill>
                  <a:srgbClr val="C00000"/>
                </a:solidFill>
              </a:rPr>
              <a:t>线</a:t>
            </a:r>
            <a:r>
              <a:rPr lang="zh-CN" altLang="zh-CN" dirty="0" smtClean="0"/>
              <a:t>，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zh-CN" dirty="0" smtClean="0"/>
              <a:t>且</a:t>
            </a:r>
            <a:r>
              <a:rPr lang="en-US" altLang="zh-CN" dirty="0"/>
              <a:t>E</a:t>
            </a:r>
            <a:r>
              <a:rPr lang="zh-CN" altLang="zh-CN" dirty="0"/>
              <a:t>的</a:t>
            </a:r>
            <a:r>
              <a:rPr lang="zh-CN" altLang="zh-CN" dirty="0" smtClean="0"/>
              <a:t>烈度</a:t>
            </a:r>
            <a:r>
              <a:rPr lang="zh-CN" altLang="en-US" dirty="0" smtClean="0"/>
              <a:t>一般</a:t>
            </a:r>
            <a:r>
              <a:rPr lang="zh-CN" altLang="zh-CN" dirty="0" smtClean="0"/>
              <a:t>比</a:t>
            </a:r>
            <a:r>
              <a:rPr lang="en-US" altLang="zh-CN" dirty="0" smtClean="0"/>
              <a:t>F</a:t>
            </a:r>
            <a:r>
              <a:rPr lang="zh-CN" altLang="zh-CN" u="sng" dirty="0" smtClean="0">
                <a:solidFill>
                  <a:srgbClr val="C00000"/>
                </a:solidFill>
              </a:rPr>
              <a:t>大</a:t>
            </a:r>
            <a:r>
              <a:rPr lang="zh-CN" altLang="zh-CN" dirty="0"/>
              <a:t>，原因是</a:t>
            </a:r>
            <a:r>
              <a:rPr lang="zh-CN" altLang="zh-CN" u="sng" dirty="0"/>
              <a:t> </a:t>
            </a:r>
            <a:r>
              <a:rPr lang="en-US" altLang="zh-CN" u="sng" dirty="0">
                <a:solidFill>
                  <a:srgbClr val="C00000"/>
                </a:solidFill>
              </a:rPr>
              <a:t>E</a:t>
            </a:r>
            <a:r>
              <a:rPr lang="zh-CN" altLang="zh-CN" u="sng" dirty="0">
                <a:solidFill>
                  <a:srgbClr val="C00000"/>
                </a:solidFill>
              </a:rPr>
              <a:t>距离震中更近 </a:t>
            </a:r>
            <a:r>
              <a:rPr lang="zh-CN" altLang="zh-CN" dirty="0"/>
              <a:t>。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）图中代表横波的字母是</a:t>
            </a:r>
            <a:r>
              <a:rPr lang="zh-CN" altLang="zh-CN" u="sng" dirty="0"/>
              <a:t> </a:t>
            </a:r>
            <a:r>
              <a:rPr lang="en-US" altLang="zh-CN" u="sng" dirty="0">
                <a:solidFill>
                  <a:srgbClr val="C00000"/>
                </a:solidFill>
              </a:rPr>
              <a:t>S </a:t>
            </a:r>
            <a:r>
              <a:rPr lang="zh-CN" altLang="zh-CN" dirty="0"/>
              <a:t>，代表纵波的字母是</a:t>
            </a:r>
            <a:r>
              <a:rPr lang="en-US" altLang="zh-CN" u="sng" dirty="0">
                <a:solidFill>
                  <a:srgbClr val="C00000"/>
                </a:solidFill>
              </a:rPr>
              <a:t> P </a:t>
            </a:r>
            <a:r>
              <a:rPr lang="en-US" altLang="zh-CN" dirty="0"/>
              <a:t> </a:t>
            </a:r>
            <a:r>
              <a:rPr lang="zh-CN" altLang="zh-CN" dirty="0"/>
              <a:t>。在震中区，</a:t>
            </a:r>
            <a:r>
              <a:rPr lang="zh-CN" altLang="zh-CN" dirty="0" smtClean="0"/>
              <a:t>人</a:t>
            </a: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zh-CN" altLang="zh-CN" dirty="0" smtClean="0"/>
              <a:t>们</a:t>
            </a:r>
            <a:r>
              <a:rPr lang="zh-CN" altLang="zh-CN" dirty="0"/>
              <a:t>先觉察到的是纵波带来的地面</a:t>
            </a:r>
            <a:r>
              <a:rPr lang="zh-CN" altLang="zh-CN" u="sng" dirty="0">
                <a:solidFill>
                  <a:srgbClr val="C00000"/>
                </a:solidFill>
              </a:rPr>
              <a:t>上下颠簸</a:t>
            </a:r>
            <a:r>
              <a:rPr lang="zh-CN" altLang="zh-CN" dirty="0"/>
              <a:t>，接着横波到达时造成的</a:t>
            </a:r>
            <a:r>
              <a:rPr lang="zh-CN" altLang="zh-CN" u="sng" dirty="0">
                <a:solidFill>
                  <a:srgbClr val="C00000"/>
                </a:solidFill>
              </a:rPr>
              <a:t>左右</a:t>
            </a:r>
            <a:r>
              <a:rPr lang="zh-CN" altLang="zh-CN" u="sng" dirty="0" smtClean="0">
                <a:solidFill>
                  <a:srgbClr val="C00000"/>
                </a:solidFill>
              </a:rPr>
              <a:t>、</a:t>
            </a:r>
            <a:endParaRPr lang="en-US" altLang="zh-CN" u="sng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u="sng" dirty="0" smtClean="0">
                <a:solidFill>
                  <a:srgbClr val="C00000"/>
                </a:solidFill>
              </a:rPr>
              <a:t>前后</a:t>
            </a:r>
            <a:r>
              <a:rPr lang="zh-CN" altLang="zh-CN" u="sng" dirty="0">
                <a:solidFill>
                  <a:srgbClr val="C00000"/>
                </a:solidFill>
              </a:rPr>
              <a:t>摇晃</a:t>
            </a:r>
            <a:r>
              <a:rPr lang="zh-CN" altLang="zh-CN" dirty="0"/>
              <a:t>，导致地表物体的损毁。横波与纵波之间的</a:t>
            </a:r>
            <a:r>
              <a:rPr lang="zh-CN" altLang="zh-CN" dirty="0" smtClean="0"/>
              <a:t>时间差约</a:t>
            </a:r>
            <a:r>
              <a:rPr lang="zh-CN" altLang="en-US" dirty="0" smtClean="0"/>
              <a:t>为</a:t>
            </a:r>
            <a:r>
              <a:rPr lang="en-US" altLang="zh-CN" u="sng" dirty="0" smtClean="0">
                <a:solidFill>
                  <a:srgbClr val="C00000"/>
                </a:solidFill>
              </a:rPr>
              <a:t>12</a:t>
            </a:r>
            <a:r>
              <a:rPr lang="zh-CN" altLang="zh-CN" u="sng" dirty="0" smtClean="0">
                <a:solidFill>
                  <a:srgbClr val="C00000"/>
                </a:solidFill>
              </a:rPr>
              <a:t>秒，</a:t>
            </a:r>
            <a:endParaRPr lang="en-US" altLang="zh-CN" u="sng" dirty="0" smtClean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zh-CN" dirty="0" smtClean="0"/>
              <a:t>为</a:t>
            </a:r>
            <a:r>
              <a:rPr lang="zh-CN" altLang="zh-CN" dirty="0"/>
              <a:t>地震逃生赢得宝贵的时间。</a:t>
            </a:r>
            <a:endParaRPr lang="zh-CN" altLang="zh-CN" dirty="0"/>
          </a:p>
          <a:p>
            <a:pPr indent="133985" algn="just">
              <a:lnSpc>
                <a:spcPct val="150000"/>
              </a:lnSpc>
              <a:spcAft>
                <a:spcPts val="0"/>
              </a:spcAft>
            </a:pPr>
            <a:endParaRPr lang="zh-CN" altLang="zh-CN" kern="100" dirty="0"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9776383" y="3606483"/>
            <a:ext cx="487111" cy="35892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0818976" y="3606325"/>
            <a:ext cx="572568" cy="3076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841069" y="6306757"/>
            <a:ext cx="940037" cy="2991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8972991" y="3934205"/>
            <a:ext cx="915423" cy="4023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6161635" y="3913997"/>
            <a:ext cx="902838" cy="4016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7169921" y="4871103"/>
            <a:ext cx="273466" cy="2478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9511469" y="4836920"/>
            <a:ext cx="264920" cy="32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7481843" y="5224782"/>
            <a:ext cx="927219" cy="3418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10895887" y="5250420"/>
            <a:ext cx="700756" cy="316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255806" y="5640224"/>
            <a:ext cx="965674" cy="324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0652333" y="5662240"/>
            <a:ext cx="739211" cy="3845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161518" y="4428373"/>
            <a:ext cx="299102" cy="307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7315200" y="4428373"/>
            <a:ext cx="1657884" cy="3076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224388" y="3441535"/>
            <a:ext cx="7839457" cy="3553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08417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33985">
              <a:lnSpc>
                <a:spcPct val="150000"/>
              </a:lnSpc>
            </a:pP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4</a:t>
            </a:r>
            <a:r>
              <a:rPr lang="en-US" altLang="zh-CN" b="1" kern="100" dirty="0">
                <a:latin typeface="宋体" pitchFamily="2" charset="-122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影响烈度大小的因素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1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）震级越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大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，震源越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浅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，受影响地区的烈度越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 大 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2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）在同一次地震中，离震中越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近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，烈度越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 大 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3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）在与震中距离相同的地点中，地下有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断裂带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（地质构造）的地点，烈度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 大 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4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）地面建筑物</a:t>
            </a:r>
            <a:r>
              <a:rPr lang="zh-CN" altLang="zh-CN" b="1" u="sng" kern="100" dirty="0" smtClean="0">
                <a:latin typeface="Times New Roman" panose="02020603050405020304" pitchFamily="18" charset="0"/>
                <a:ea typeface="宋体" pitchFamily="2" charset="-122"/>
              </a:rPr>
              <a:t>抗震能力越差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，震中区自然环境越</a:t>
            </a:r>
            <a:r>
              <a:rPr lang="zh-CN" altLang="zh-CN" b="1" u="sng" kern="100" dirty="0" smtClean="0">
                <a:latin typeface="Times New Roman" panose="02020603050405020304" pitchFamily="18" charset="0"/>
                <a:ea typeface="宋体" pitchFamily="2" charset="-122"/>
              </a:rPr>
              <a:t>恶劣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，救援难度越大，烈度越</a:t>
            </a:r>
            <a:r>
              <a:rPr lang="zh-CN" altLang="zh-CN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 大 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 smtClean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en-US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5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）夜间发生地震的烈度，比白天</a:t>
            </a:r>
            <a:r>
              <a:rPr lang="zh-CN" altLang="zh-CN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 大 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 smtClean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en-US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6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）震中区人口越多、经济越发达，烈度越</a:t>
            </a:r>
            <a:r>
              <a:rPr lang="zh-CN" altLang="zh-CN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 大 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zh-CN" altLang="zh-CN" b="1" kern="100" dirty="0" smtClean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en-US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7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）经济越发达、科技水平越高，抗震救灾能力越强，烈度越</a:t>
            </a:r>
            <a:r>
              <a:rPr lang="zh-CN" altLang="zh-CN" b="1" u="sng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  <a:hlinkClick r:id="rId1" action="ppaction://hlinksldjump"/>
              </a:rPr>
              <a:t>小 </a:t>
            </a:r>
            <a:r>
              <a:rPr lang="zh-CN" altLang="zh-CN" b="1" kern="100" dirty="0" smtClean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。</a:t>
            </a:r>
            <a:endParaRPr lang="en-US" altLang="zh-CN" b="1" kern="100" dirty="0" smtClean="0">
              <a:solidFill>
                <a:srgbClr val="C00000"/>
              </a:solidFill>
              <a:latin typeface="Times New Roman" panose="02020603050405020304" pitchFamily="18" charset="0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（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三）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  <a:hlinkClick r:id="rId2" action="ppaction://hlinksldjump"/>
              </a:rPr>
              <a:t>地震的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  <a:hlinkClick r:id="rId2" action="ppaction://hlinksldjump"/>
              </a:rPr>
              <a:t>分布</a:t>
            </a:r>
            <a:r>
              <a:rPr lang="zh-CN" altLang="en-US" b="1" kern="100" dirty="0" smtClean="0">
                <a:latin typeface="Times New Roman" panose="02020603050405020304" pitchFamily="18" charset="0"/>
                <a:ea typeface="宋体" pitchFamily="2" charset="-122"/>
              </a:rPr>
              <a:t>（见第七张</a:t>
            </a:r>
            <a:r>
              <a:rPr lang="en-US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PPT</a:t>
            </a:r>
            <a:r>
              <a:rPr lang="zh-CN" altLang="en-US" b="1" kern="100" dirty="0" smtClean="0">
                <a:latin typeface="Times New Roman" panose="02020603050405020304" pitchFamily="18" charset="0"/>
                <a:ea typeface="宋体" pitchFamily="2" charset="-122"/>
              </a:rPr>
              <a:t>）</a:t>
            </a:r>
            <a:endParaRPr lang="en-US" altLang="zh-CN" b="1" kern="100" dirty="0" smtClean="0">
              <a:latin typeface="Times New Roman" panose="02020603050405020304" pitchFamily="18" charset="0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（四）地震的危害 </a:t>
            </a:r>
            <a:r>
              <a:rPr lang="zh-CN" altLang="zh-CN" kern="100" dirty="0">
                <a:latin typeface="Times New Roman" panose="02020603050405020304" pitchFamily="18" charset="0"/>
                <a:ea typeface="宋体" pitchFamily="2" charset="-122"/>
              </a:rPr>
              <a:t> </a:t>
            </a:r>
            <a:endParaRPr lang="en-US" altLang="zh-CN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en-US" altLang="zh-CN" kern="100" dirty="0" smtClean="0">
                <a:latin typeface="Times New Roman" panose="02020603050405020304" pitchFamily="18" charset="0"/>
                <a:ea typeface="宋体" pitchFamily="2" charset="-122"/>
              </a:rPr>
              <a:t>   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地震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直接破坏</a:t>
            </a:r>
            <a:r>
              <a:rPr lang="zh-CN" altLang="zh-CN" b="1" u="sng" kern="100" dirty="0">
                <a:latin typeface="Times New Roman" panose="02020603050405020304" pitchFamily="18" charset="0"/>
                <a:ea typeface="宋体" pitchFamily="2" charset="-122"/>
              </a:rPr>
              <a:t>地面、建筑物、山体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等，还常常引发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火灾、洪涝、滑坡、泥石流</a:t>
            </a:r>
            <a:r>
              <a:rPr lang="zh-CN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、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海啸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（震源在海底）、</a:t>
            </a:r>
            <a:r>
              <a:rPr lang="zh-CN" altLang="zh-CN" b="1" u="sng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瘟疫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等</a:t>
            </a:r>
            <a:r>
              <a:rPr lang="zh-CN" altLang="zh-CN" b="1" kern="100" dirty="0">
                <a:solidFill>
                  <a:srgbClr val="C00000"/>
                </a:solidFill>
                <a:latin typeface="Times New Roman" panose="02020603050405020304" pitchFamily="18" charset="0"/>
                <a:ea typeface="宋体" pitchFamily="2" charset="-122"/>
              </a:rPr>
              <a:t>次生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灾害。</a:t>
            </a:r>
            <a:endParaRPr lang="zh-CN" altLang="zh-CN" b="1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（五）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  <a:hlinkClick r:id="rId3" action="ppaction://hlinksldjump"/>
              </a:rPr>
              <a:t>减轻地震灾害的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  <a:hlinkClick r:id="rId3" action="ppaction://hlinksldjump"/>
              </a:rPr>
              <a:t>对策</a:t>
            </a:r>
            <a:r>
              <a:rPr lang="zh-CN" altLang="en-US" b="1" kern="100" dirty="0" smtClean="0">
                <a:latin typeface="Times New Roman" panose="02020603050405020304" pitchFamily="18" charset="0"/>
                <a:ea typeface="宋体" pitchFamily="2" charset="-122"/>
              </a:rPr>
              <a:t>（见第八张</a:t>
            </a:r>
            <a:r>
              <a:rPr lang="en-US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PPT</a:t>
            </a:r>
            <a:r>
              <a:rPr lang="zh-CN" altLang="en-US" b="1" kern="100" dirty="0" smtClean="0">
                <a:latin typeface="Times New Roman" panose="02020603050405020304" pitchFamily="18" charset="0"/>
                <a:ea typeface="宋体" pitchFamily="2" charset="-122"/>
              </a:rPr>
              <a:t>）</a:t>
            </a:r>
            <a:endParaRPr lang="en-US" altLang="zh-CN" kern="100" dirty="0">
              <a:latin typeface="Times New Roman" panose="02020603050405020304" pitchFamily="18" charset="0"/>
              <a:ea typeface="宋体" pitchFamily="2" charset="-122"/>
            </a:endParaRPr>
          </a:p>
          <a:p>
            <a:pPr indent="179705">
              <a:lnSpc>
                <a:spcPct val="150000"/>
              </a:lnSpc>
            </a:pPr>
            <a:endParaRPr lang="en-US" altLang="zh-CN" b="1" kern="100" dirty="0" smtClean="0"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302203"/>
            <a:ext cx="11833413" cy="4552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0"/>
              </a:spcAft>
            </a:pP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</a:rPr>
              <a:t>三</a:t>
            </a:r>
            <a:r>
              <a:rPr lang="en-US" altLang="zh-CN" b="1" kern="100" dirty="0">
                <a:latin typeface="Times New Roman" panose="02020603050405020304" pitchFamily="18" charset="0"/>
                <a:ea typeface="宋体" pitchFamily="2" charset="-122"/>
              </a:rPr>
              <a:t>.</a:t>
            </a:r>
            <a:r>
              <a:rPr lang="zh-CN" altLang="zh-CN" b="1" kern="100" dirty="0">
                <a:latin typeface="Times New Roman" panose="02020603050405020304" pitchFamily="18" charset="0"/>
                <a:ea typeface="宋体" pitchFamily="2" charset="-122"/>
              </a:rPr>
              <a:t>关于</a:t>
            </a:r>
            <a:r>
              <a:rPr lang="zh-CN" altLang="zh-CN" b="1" kern="100" dirty="0" smtClean="0">
                <a:latin typeface="Times New Roman" panose="02020603050405020304" pitchFamily="18" charset="0"/>
                <a:ea typeface="宋体" pitchFamily="2" charset="-122"/>
                <a:hlinkClick r:id="rId1" action="ppaction://hlinksldjump"/>
              </a:rPr>
              <a:t>“滑坡、泥石流”</a:t>
            </a:r>
            <a:endParaRPr lang="zh-CN" altLang="zh-CN" kern="100" dirty="0"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16540" y="986678"/>
          <a:ext cx="10645087" cy="39849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22074"/>
                <a:gridCol w="678190"/>
                <a:gridCol w="5890646"/>
                <a:gridCol w="3354177"/>
              </a:tblGrid>
              <a:tr h="332298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effectLst/>
                        </a:rPr>
                        <a:t> 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bg1"/>
                          </a:solidFill>
                          <a:effectLst/>
                          <a:hlinkClick r:id="rId1" action="ppaction://hlinksldjump"/>
                        </a:rPr>
                        <a:t>滑坡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solidFill>
                            <a:schemeClr val="bg1"/>
                          </a:solidFill>
                          <a:effectLst/>
                          <a:hlinkClick r:id="rId2" action="ppaction://hlinksldjump"/>
                        </a:rPr>
                        <a:t>泥石流</a:t>
                      </a:r>
                      <a:endParaRPr lang="zh-CN" sz="160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  <a:tr h="1182513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定义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滑坡指</a:t>
                      </a:r>
                      <a:r>
                        <a:rPr lang="zh-CN" sz="1600" u="sng" kern="100" dirty="0">
                          <a:effectLst/>
                        </a:rPr>
                        <a:t>斜坡上</a:t>
                      </a:r>
                      <a:r>
                        <a:rPr lang="zh-CN" sz="1600" kern="100" dirty="0">
                          <a:effectLst/>
                        </a:rPr>
                        <a:t>大量</a:t>
                      </a:r>
                      <a:r>
                        <a:rPr lang="zh-CN" sz="1600" u="sng" kern="100" dirty="0">
                          <a:effectLst/>
                        </a:rPr>
                        <a:t>土体、岩体或其他构造物</a:t>
                      </a:r>
                      <a:r>
                        <a:rPr lang="zh-CN" sz="1600" kern="100" dirty="0">
                          <a:effectLst/>
                        </a:rPr>
                        <a:t>在</a:t>
                      </a:r>
                      <a:r>
                        <a:rPr lang="zh-CN" sz="1600" u="sng" kern="100" dirty="0">
                          <a:effectLst/>
                        </a:rPr>
                        <a:t>重力</a:t>
                      </a:r>
                      <a:r>
                        <a:rPr lang="zh-CN" sz="1600" kern="100" dirty="0">
                          <a:effectLst/>
                        </a:rPr>
                        <a:t>作用下，沿一定的滑动面做</a:t>
                      </a:r>
                      <a:r>
                        <a:rPr lang="zh-CN" sz="1600" u="sng" kern="100" dirty="0">
                          <a:effectLst/>
                        </a:rPr>
                        <a:t>整体或分散下滑</a:t>
                      </a:r>
                      <a:r>
                        <a:rPr lang="zh-CN" sz="1600" kern="100" dirty="0">
                          <a:effectLst/>
                        </a:rPr>
                        <a:t>的现象。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泥石流指</a:t>
                      </a:r>
                      <a:r>
                        <a:rPr lang="zh-CN" sz="1600" u="sng" kern="100" dirty="0">
                          <a:effectLst/>
                        </a:rPr>
                        <a:t>山区沟谷</a:t>
                      </a:r>
                      <a:r>
                        <a:rPr lang="zh-CN" sz="1600" kern="100" dirty="0">
                          <a:effectLst/>
                        </a:rPr>
                        <a:t>中，由</a:t>
                      </a:r>
                      <a:r>
                        <a:rPr lang="zh-CN" sz="1600" u="sng" kern="100" dirty="0">
                          <a:effectLst/>
                        </a:rPr>
                        <a:t>暴雨、冰雪融水</a:t>
                      </a:r>
                      <a:r>
                        <a:rPr lang="zh-CN" sz="1600" kern="100" dirty="0">
                          <a:effectLst/>
                        </a:rPr>
                        <a:t>等引发的、含有大量</a:t>
                      </a:r>
                      <a:r>
                        <a:rPr lang="zh-CN" sz="1600" u="sng" kern="100" dirty="0">
                          <a:effectLst/>
                        </a:rPr>
                        <a:t>泥沙、石块</a:t>
                      </a:r>
                      <a:r>
                        <a:rPr lang="zh-CN" sz="1600" kern="100" dirty="0">
                          <a:effectLst/>
                        </a:rPr>
                        <a:t>等的</a:t>
                      </a:r>
                      <a:r>
                        <a:rPr lang="zh-CN" sz="1600" u="sng" kern="100" dirty="0">
                          <a:effectLst/>
                        </a:rPr>
                        <a:t>突发</a:t>
                      </a:r>
                      <a:r>
                        <a:rPr lang="zh-CN" sz="1600" kern="100" dirty="0">
                          <a:effectLst/>
                        </a:rPr>
                        <a:t>性</a:t>
                      </a:r>
                      <a:r>
                        <a:rPr lang="zh-CN" sz="1600" u="sng" kern="100" dirty="0">
                          <a:effectLst/>
                        </a:rPr>
                        <a:t>洪流</a:t>
                      </a:r>
                      <a:r>
                        <a:rPr lang="zh-CN" sz="1600" kern="100" dirty="0">
                          <a:effectLst/>
                        </a:rPr>
                        <a:t>。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  <a:tr h="394171">
                <a:tc gridSpan="2"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发生位置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山地</a:t>
                      </a:r>
                      <a:r>
                        <a:rPr lang="zh-CN" sz="1600" u="sng" kern="100" dirty="0">
                          <a:effectLst/>
                        </a:rPr>
                        <a:t>斜坡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山地</a:t>
                      </a:r>
                      <a:r>
                        <a:rPr lang="zh-CN" sz="1600" u="sng" kern="100">
                          <a:effectLst/>
                        </a:rPr>
                        <a:t>沟谷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  <a:tr h="394171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特点</a:t>
                      </a:r>
                      <a:endParaRPr lang="zh-CN" sz="16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同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突然发生，历时</a:t>
                      </a:r>
                      <a:r>
                        <a:rPr lang="zh-CN" sz="1600" u="sng" kern="100" dirty="0">
                          <a:effectLst/>
                        </a:rPr>
                        <a:t>短</a:t>
                      </a:r>
                      <a:r>
                        <a:rPr lang="zh-CN" sz="1600" kern="100" dirty="0">
                          <a:effectLst/>
                        </a:rPr>
                        <a:t>，爆发力</a:t>
                      </a:r>
                      <a:r>
                        <a:rPr lang="zh-CN" sz="1600" u="sng" kern="100" dirty="0">
                          <a:effectLst/>
                        </a:rPr>
                        <a:t>强</a:t>
                      </a:r>
                      <a:r>
                        <a:rPr lang="zh-CN" sz="1600" kern="100" dirty="0">
                          <a:effectLst/>
                        </a:rPr>
                        <a:t>，破坏力</a:t>
                      </a:r>
                      <a:r>
                        <a:rPr lang="zh-CN" sz="1600" u="sng" kern="100" dirty="0">
                          <a:effectLst/>
                        </a:rPr>
                        <a:t>大</a:t>
                      </a:r>
                      <a:r>
                        <a:rPr lang="zh-CN" sz="1600" kern="100" dirty="0">
                          <a:effectLst/>
                        </a:rPr>
                        <a:t>，成灾速度</a:t>
                      </a:r>
                      <a:r>
                        <a:rPr lang="zh-CN" sz="1600" u="sng" kern="100" dirty="0">
                          <a:effectLst/>
                        </a:rPr>
                        <a:t>快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394171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异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波及面</a:t>
                      </a:r>
                      <a:r>
                        <a:rPr lang="zh-CN" sz="1600" u="sng" kern="100" dirty="0">
                          <a:effectLst/>
                        </a:rPr>
                        <a:t>小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波及面</a:t>
                      </a:r>
                      <a:r>
                        <a:rPr lang="zh-CN" sz="1600" u="sng" kern="100" dirty="0">
                          <a:effectLst/>
                        </a:rPr>
                        <a:t>大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  <a:tr h="499233">
                <a:tc rowSpan="2"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成因</a:t>
                      </a:r>
                      <a:endParaRPr lang="zh-CN" sz="1600" b="1" kern="1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同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山地丘陵，地表起伏</a:t>
                      </a:r>
                      <a:r>
                        <a:rPr lang="zh-CN" sz="1600" u="sng" kern="100" dirty="0">
                          <a:effectLst/>
                        </a:rPr>
                        <a:t>大</a:t>
                      </a:r>
                      <a:r>
                        <a:rPr lang="zh-CN" sz="1600" kern="100" dirty="0">
                          <a:effectLst/>
                        </a:rPr>
                        <a:t>；地表岩体</a:t>
                      </a:r>
                      <a:r>
                        <a:rPr lang="zh-CN" sz="1600" u="sng" kern="100" dirty="0">
                          <a:effectLst/>
                        </a:rPr>
                        <a:t>破碎</a:t>
                      </a:r>
                      <a:r>
                        <a:rPr lang="zh-CN" sz="1600" kern="100" dirty="0">
                          <a:effectLst/>
                        </a:rPr>
                        <a:t>；植被覆盖率</a:t>
                      </a:r>
                      <a:r>
                        <a:rPr lang="zh-CN" sz="1600" u="sng" kern="100" dirty="0">
                          <a:effectLst/>
                        </a:rPr>
                        <a:t>低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 hMerge="1">
                  <a:tcPr/>
                </a:tc>
              </a:tr>
              <a:tr h="788343">
                <a:tc vMerge="1"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>
                          <a:effectLst/>
                        </a:rPr>
                        <a:t>异</a:t>
                      </a:r>
                      <a:endParaRPr lang="zh-CN" sz="1600" kern="10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u="sng" kern="100" dirty="0">
                          <a:effectLst/>
                          <a:hlinkClick r:id="rId3" action="ppaction://hlinksldjump"/>
                        </a:rPr>
                        <a:t>重力</a:t>
                      </a:r>
                      <a:r>
                        <a:rPr lang="zh-CN" sz="1600" kern="100" dirty="0">
                          <a:effectLst/>
                          <a:hlinkClick r:id="rId3" action="ppaction://hlinksldjump"/>
                        </a:rPr>
                        <a:t>作用导致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山地</a:t>
                      </a:r>
                      <a:r>
                        <a:rPr lang="zh-CN" sz="1600" u="sng" kern="100" dirty="0">
                          <a:effectLst/>
                        </a:rPr>
                        <a:t>暴雨</a:t>
                      </a:r>
                      <a:r>
                        <a:rPr lang="zh-CN" sz="1600" kern="100" dirty="0">
                          <a:effectLst/>
                        </a:rPr>
                        <a:t>或</a:t>
                      </a:r>
                      <a:r>
                        <a:rPr lang="zh-CN" sz="1600" u="sng" kern="100" dirty="0">
                          <a:effectLst/>
                        </a:rPr>
                        <a:t>气温急剧升高</a:t>
                      </a:r>
                      <a:r>
                        <a:rPr lang="zh-CN" sz="1600" kern="100" dirty="0">
                          <a:effectLst/>
                        </a:rPr>
                        <a:t>导致冰雪融水迅速增加，</a:t>
                      </a:r>
                      <a:r>
                        <a:rPr lang="zh-CN" sz="1600" u="sng" kern="100" dirty="0">
                          <a:effectLst/>
                          <a:hlinkClick r:id="rId3" action="ppaction://hlinksldjump"/>
                        </a:rPr>
                        <a:t>山洪</a:t>
                      </a:r>
                      <a:r>
                        <a:rPr lang="zh-CN" sz="1600" kern="100" dirty="0">
                          <a:effectLst/>
                          <a:hlinkClick r:id="rId3" action="ppaction://hlinksldjump"/>
                        </a:rPr>
                        <a:t>爆发导致。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07578" y="4967286"/>
          <a:ext cx="10677217" cy="14198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0304"/>
                <a:gridCol w="5934393"/>
                <a:gridCol w="3382520"/>
              </a:tblGrid>
              <a:tr h="97422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危害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滑坡体会</a:t>
                      </a:r>
                      <a:r>
                        <a:rPr lang="zh-CN" sz="1600" u="sng" kern="100" dirty="0">
                          <a:effectLst/>
                        </a:rPr>
                        <a:t>堵塞河道，掩埋农田</a:t>
                      </a:r>
                      <a:r>
                        <a:rPr lang="zh-CN" sz="1600" u="sng" kern="100" dirty="0" smtClean="0">
                          <a:effectLst/>
                        </a:rPr>
                        <a:t>，</a:t>
                      </a:r>
                      <a:endParaRPr lang="en-US" altLang="zh-CN" sz="1600" u="sng" kern="100" dirty="0" smtClean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u="sng" kern="100" dirty="0" smtClean="0">
                          <a:effectLst/>
                        </a:rPr>
                        <a:t>封</a:t>
                      </a:r>
                      <a:r>
                        <a:rPr lang="zh-CN" sz="1600" u="sng" kern="100" dirty="0">
                          <a:effectLst/>
                        </a:rPr>
                        <a:t>堵道路，毁坏房屋</a:t>
                      </a:r>
                      <a:r>
                        <a:rPr lang="zh-CN" sz="1600" kern="100" dirty="0" smtClean="0">
                          <a:effectLst/>
                        </a:rPr>
                        <a:t>，</a:t>
                      </a:r>
                      <a:endParaRPr lang="en-US" altLang="zh-CN" sz="1600" kern="100" dirty="0" smtClean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 smtClean="0">
                          <a:effectLst/>
                        </a:rPr>
                        <a:t>造成</a:t>
                      </a:r>
                      <a:r>
                        <a:rPr lang="zh-CN" sz="1600" kern="100" dirty="0">
                          <a:effectLst/>
                        </a:rPr>
                        <a:t>大量人员伤亡和财产损失。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>
                          <a:effectLst/>
                        </a:rPr>
                        <a:t>泥石流会摧毁沿途的</a:t>
                      </a:r>
                      <a:r>
                        <a:rPr lang="zh-CN" sz="1600" u="sng" kern="100" dirty="0">
                          <a:effectLst/>
                        </a:rPr>
                        <a:t>交通设施，破坏工厂矿山、水利工程、农田土地、村镇</a:t>
                      </a:r>
                      <a:r>
                        <a:rPr lang="zh-CN" sz="1600" kern="100" dirty="0">
                          <a:effectLst/>
                        </a:rPr>
                        <a:t>等，造成大量人员伤亡和财产损失。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95260" y="878541"/>
          <a:ext cx="11878655" cy="24355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61212"/>
                <a:gridCol w="5957558"/>
                <a:gridCol w="5159885"/>
              </a:tblGrid>
              <a:tr h="2435551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>
                          <a:effectLst/>
                        </a:rPr>
                        <a:t>避</a:t>
                      </a:r>
                      <a:r>
                        <a:rPr lang="zh-CN" sz="1800" kern="100" dirty="0" smtClean="0">
                          <a:effectLst/>
                        </a:rPr>
                        <a:t>险</a:t>
                      </a:r>
                      <a:endParaRPr lang="en-US" altLang="zh-CN" sz="1800" kern="100" dirty="0" smtClean="0">
                        <a:effectLst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kern="100" dirty="0" smtClean="0">
                          <a:effectLst/>
                        </a:rPr>
                        <a:t>对策</a:t>
                      </a:r>
                      <a:endParaRPr lang="zh-CN" sz="18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①当遭遇滑坡时，应沿着</a:t>
                      </a:r>
                      <a:r>
                        <a:rPr lang="zh-CN" sz="1800" u="none" kern="100" dirty="0">
                          <a:solidFill>
                            <a:srgbClr val="FFFF00"/>
                          </a:solidFill>
                          <a:effectLst/>
                        </a:rPr>
                        <a:t>垂直于滑坡体下滑的方向</a:t>
                      </a:r>
                      <a:r>
                        <a:rPr lang="zh-CN" sz="1800" u="none" kern="100" dirty="0">
                          <a:effectLst/>
                        </a:rPr>
                        <a:t>跑离到附近安全地带。②当滑坡体呈整体迅速滑动无法跑离时，可抱住身边的大树随其下滑，或躲避在结实的障碍物下，并保护好头部，防止被滚石伤害。</a:t>
                      </a:r>
                      <a:endParaRPr lang="zh-CN" sz="1800" u="none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③被困时，应及时用各种方式向外界发出求助信息。</a:t>
                      </a:r>
                      <a:endParaRPr lang="zh-CN" sz="1800" u="none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①当遇到泥石流时，应迅速向</a:t>
                      </a:r>
                      <a:r>
                        <a:rPr lang="zh-CN" sz="1800" u="none" kern="100" dirty="0">
                          <a:solidFill>
                            <a:srgbClr val="FFFF00"/>
                          </a:solidFill>
                          <a:effectLst/>
                        </a:rPr>
                        <a:t>沟谷两侧山坡或高地</a:t>
                      </a:r>
                      <a:r>
                        <a:rPr lang="zh-CN" sz="1800" u="none" kern="100" dirty="0">
                          <a:effectLst/>
                        </a:rPr>
                        <a:t>跑。不要躲在有滚石和大量堆积物的陡峭山坡下面；不要停留在低洼的地方；不要攀爬到树上躲避；不要站在泥石流岸边观看。</a:t>
                      </a:r>
                      <a:endParaRPr lang="zh-CN" sz="1800" u="none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②及时用各种方式向外界发出泥石流报警和求助信息。</a:t>
                      </a:r>
                      <a:endParaRPr lang="zh-CN" sz="1800" u="none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6911" y="3414779"/>
          <a:ext cx="11870109" cy="28151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80476"/>
                <a:gridCol w="11089633"/>
              </a:tblGrid>
              <a:tr h="281510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 smtClean="0">
                          <a:effectLst/>
                        </a:rPr>
                        <a:t>防治</a:t>
                      </a:r>
                      <a:endParaRPr lang="en-US" altLang="zh-CN" sz="1600" kern="100" dirty="0" smtClean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600" kern="100" dirty="0" smtClean="0">
                          <a:effectLst/>
                        </a:rPr>
                        <a:t>措施</a:t>
                      </a:r>
                      <a:endParaRPr lang="zh-CN" sz="1600" kern="100" dirty="0"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①加强</a:t>
                      </a:r>
                      <a:r>
                        <a:rPr lang="zh-CN" sz="1800" u="none" kern="100" dirty="0">
                          <a:solidFill>
                            <a:srgbClr val="FFFF00"/>
                          </a:solidFill>
                          <a:effectLst/>
                        </a:rPr>
                        <a:t>监测和预报</a:t>
                      </a:r>
                      <a:r>
                        <a:rPr lang="zh-CN" sz="1800" u="none" kern="100" dirty="0">
                          <a:effectLst/>
                        </a:rPr>
                        <a:t>，严禁诱发滑坡和泥石流的人为活动，对可能诱发滑坡和泥石流的区域及时采取治理措施，例如：加固山体、在易发生泥石流的地区设置导流渠、村庄搬离泥石流路径等。</a:t>
                      </a:r>
                      <a:endParaRPr lang="zh-CN" sz="1800" u="none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②保护和改善山区生态环境，</a:t>
                      </a:r>
                      <a:r>
                        <a:rPr lang="zh-CN" sz="1800" u="none" kern="100" dirty="0">
                          <a:solidFill>
                            <a:srgbClr val="FFFF00"/>
                          </a:solidFill>
                          <a:effectLst/>
                        </a:rPr>
                        <a:t>禁止滥伐乱垦，提高植被覆盖率</a:t>
                      </a:r>
                      <a:r>
                        <a:rPr lang="zh-CN" sz="1800" u="none" kern="100" dirty="0">
                          <a:effectLst/>
                        </a:rPr>
                        <a:t>；</a:t>
                      </a:r>
                      <a:endParaRPr lang="zh-CN" sz="1800" u="none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③</a:t>
                      </a:r>
                      <a:r>
                        <a:rPr lang="zh-CN" sz="1800" u="none" kern="100" dirty="0">
                          <a:solidFill>
                            <a:srgbClr val="FFFF00"/>
                          </a:solidFill>
                          <a:effectLst/>
                        </a:rPr>
                        <a:t>禁止不合理的采矿和施工开挖工程</a:t>
                      </a:r>
                      <a:r>
                        <a:rPr lang="zh-CN" sz="1800" u="none" kern="100" dirty="0">
                          <a:effectLst/>
                        </a:rPr>
                        <a:t>，对采矿、修路等施工过程中形成的废石、弃渣，应设置合适的堆弃场地，不能随意堆放。</a:t>
                      </a:r>
                      <a:endParaRPr lang="zh-CN" sz="1800" u="none" kern="100" dirty="0">
                        <a:effectLst/>
                      </a:endParaRPr>
                    </a:p>
                    <a:p>
                      <a:pPr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800" u="none" kern="100" dirty="0">
                          <a:effectLst/>
                        </a:rPr>
                        <a:t>④</a:t>
                      </a:r>
                      <a:r>
                        <a:rPr lang="zh-CN" sz="1800" u="none" kern="100" dirty="0">
                          <a:solidFill>
                            <a:srgbClr val="FFFF00"/>
                          </a:solidFill>
                          <a:effectLst/>
                        </a:rPr>
                        <a:t>管理好排水沟渠</a:t>
                      </a:r>
                      <a:r>
                        <a:rPr lang="zh-CN" sz="1800" u="none" kern="100" dirty="0">
                          <a:effectLst/>
                        </a:rPr>
                        <a:t>，在雨季到来之前，及时清除沟渠中的</a:t>
                      </a:r>
                      <a:r>
                        <a:rPr lang="zh-CN" sz="1800" u="none" kern="100" dirty="0">
                          <a:solidFill>
                            <a:srgbClr val="FFFF00"/>
                          </a:solidFill>
                          <a:effectLst/>
                          <a:hlinkClick r:id="rId1" action="ppaction://hlinksldjump"/>
                        </a:rPr>
                        <a:t>杂物。</a:t>
                      </a:r>
                      <a:endParaRPr lang="zh-CN" sz="1800" u="none" kern="100" dirty="0"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29" name="图片 1" descr="常见的地质灾害[00_16_32][20211216-152420]"/>
          <p:cNvPicPr>
            <a:picLocks noGrp="1" noChangeAspect="1"/>
          </p:cNvPicPr>
          <p:nvPr isPhoto="1"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左箭头 1">
            <a:hlinkClick r:id="rId2" action="ppaction://hlinksldjump"/>
          </p:cNvPr>
          <p:cNvSpPr/>
          <p:nvPr/>
        </p:nvSpPr>
        <p:spPr>
          <a:xfrm>
            <a:off x="11571006" y="6383708"/>
            <a:ext cx="384560" cy="205099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内容占位符 1"/>
          <p:cNvPicPr>
            <a:picLocks noGrp="1"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09880" y="1049020"/>
            <a:ext cx="7378700" cy="4759325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地震的分布</a:t>
            </a:r>
            <a:endParaRPr lang="zh-CN" alt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7930515" y="1115060"/>
            <a:ext cx="3992245" cy="4892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/>
              <a:t>世界上的地震大多集中分布在</a:t>
            </a:r>
            <a:r>
              <a:rPr lang="zh-CN" altLang="en-US" sz="2400" dirty="0">
                <a:solidFill>
                  <a:srgbClr val="FF0000"/>
                </a:solidFill>
              </a:rPr>
              <a:t>板块交界处，呈带状分布</a:t>
            </a:r>
            <a:r>
              <a:rPr lang="zh-CN" altLang="en-US" sz="2400" dirty="0"/>
              <a:t>。世界上主要有</a:t>
            </a:r>
            <a:r>
              <a:rPr lang="zh-CN" altLang="en-US" sz="2400" dirty="0">
                <a:solidFill>
                  <a:srgbClr val="FF0000"/>
                </a:solidFill>
              </a:rPr>
              <a:t>两大地震带</a:t>
            </a:r>
            <a:r>
              <a:rPr lang="zh-CN" altLang="en-US" sz="2400" dirty="0"/>
              <a:t>：其一为</a:t>
            </a:r>
            <a:r>
              <a:rPr lang="zh-CN" altLang="en-US" sz="2400" dirty="0">
                <a:solidFill>
                  <a:srgbClr val="FF0000"/>
                </a:solidFill>
              </a:rPr>
              <a:t>环太平洋地震带</a:t>
            </a:r>
            <a:r>
              <a:rPr lang="zh-CN" altLang="en-US" sz="2400" dirty="0"/>
              <a:t>，这里集中了世界上80% 以上的浅源地震、90% 以上的中源地震和几乎全部的深源地震；其二为</a:t>
            </a:r>
            <a:r>
              <a:rPr lang="zh-CN" altLang="en-US" sz="2400" dirty="0">
                <a:solidFill>
                  <a:srgbClr val="FF0000"/>
                </a:solidFill>
              </a:rPr>
              <a:t>地中海—喜马拉雅地震带</a:t>
            </a:r>
            <a:r>
              <a:rPr lang="zh-CN" altLang="en-US" sz="2400" dirty="0"/>
              <a:t>，这里集中了世界上约15% 的地震，其中绝大多数为浅源地震。</a:t>
            </a:r>
            <a:r>
              <a:rPr lang="zh-CN" altLang="en-US" sz="2400" dirty="0">
                <a:solidFill>
                  <a:srgbClr val="FF0000"/>
                </a:solidFill>
              </a:rPr>
              <a:t>我国位于世界两大地震带的交界地带</a:t>
            </a:r>
            <a:r>
              <a:rPr lang="zh-CN" altLang="en-US" sz="2400" dirty="0"/>
              <a:t>，是一个多地震的</a:t>
            </a:r>
            <a:r>
              <a:rPr lang="zh-CN" altLang="en-US" sz="2400" dirty="0">
                <a:hlinkClick r:id="rId5" action="ppaction://hlinksldjump"/>
              </a:rPr>
              <a:t>国家。</a:t>
            </a:r>
            <a:endParaRPr lang="zh-CN" altLang="en-US" sz="2400" dirty="0"/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302895" y="1132840"/>
            <a:ext cx="4700905" cy="4759325"/>
          </a:xfrm>
        </p:spPr>
        <p:txBody>
          <a:bodyPr>
            <a:normAutofit fontScale="97500"/>
          </a:bodyPr>
          <a:lstStyle/>
          <a:p>
            <a:r>
              <a:rPr lang="zh-CN" altLang="en-US" sz="2800" dirty="0"/>
              <a:t>加强公众避震和应急行动（自救、互救）等知识的</a:t>
            </a:r>
            <a:r>
              <a:rPr lang="zh-CN" altLang="en-US" sz="2800" dirty="0" smtClean="0"/>
              <a:t>普及。</a:t>
            </a:r>
            <a:endParaRPr lang="en-US" altLang="zh-CN" sz="2800" dirty="0" smtClean="0"/>
          </a:p>
          <a:p>
            <a:r>
              <a:rPr lang="zh-CN" altLang="en-US" sz="2800" dirty="0" smtClean="0"/>
              <a:t>加强</a:t>
            </a:r>
            <a:r>
              <a:rPr lang="zh-CN" altLang="en-US" sz="2800" dirty="0"/>
              <a:t>地震应急</a:t>
            </a:r>
            <a:r>
              <a:rPr lang="zh-CN" altLang="en-US" sz="2800" dirty="0" smtClean="0"/>
              <a:t>演练。</a:t>
            </a:r>
            <a:endParaRPr lang="en-US" altLang="zh-CN" sz="2800" dirty="0" smtClean="0"/>
          </a:p>
          <a:p>
            <a:r>
              <a:rPr lang="zh-CN" altLang="en-US" sz="2800" dirty="0" smtClean="0"/>
              <a:t>提高</a:t>
            </a:r>
            <a:r>
              <a:rPr lang="zh-CN" altLang="en-US" sz="2800" dirty="0"/>
              <a:t>建筑物的防震抗震能力。</a:t>
            </a:r>
            <a:endParaRPr lang="zh-CN" altLang="en-US" sz="2800" dirty="0"/>
          </a:p>
          <a:p>
            <a:r>
              <a:rPr lang="zh-CN" altLang="en-US" sz="2800" dirty="0"/>
              <a:t>重视地震监测预警预报体系</a:t>
            </a:r>
            <a:r>
              <a:rPr lang="zh-CN" altLang="en-US" sz="2800" dirty="0">
                <a:hlinkClick r:id="rId2" action="ppaction://hlinksldjump"/>
              </a:rPr>
              <a:t>建设</a:t>
            </a:r>
            <a:r>
              <a:rPr lang="zh-CN" altLang="en-US" sz="2800" dirty="0" smtClean="0">
                <a:hlinkClick r:id="rId2" action="ppaction://hlinksldjump"/>
              </a:rPr>
              <a:t>。</a:t>
            </a:r>
            <a:endParaRPr lang="zh-CN" altLang="en-US" sz="2800" dirty="0"/>
          </a:p>
        </p:txBody>
      </p:sp>
      <p:sp>
        <p:nvSpPr>
          <p:cNvPr id="5" name="标题 1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地震的对策</a:t>
            </a:r>
            <a:endParaRPr lang="zh-CN" alt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4690745" y="796290"/>
            <a:ext cx="7297420" cy="577024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滑坡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7675" y="1122045"/>
            <a:ext cx="7553960" cy="492569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8159750" y="1122045"/>
            <a:ext cx="3781425" cy="48936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/>
              <a:t>滑坡指</a:t>
            </a:r>
            <a:r>
              <a:rPr lang="zh-CN" altLang="en-US" sz="2400" u="sng" dirty="0">
                <a:solidFill>
                  <a:srgbClr val="FF0000"/>
                </a:solidFill>
              </a:rPr>
              <a:t>斜坡上</a:t>
            </a:r>
            <a:r>
              <a:rPr lang="zh-CN" altLang="en-US" sz="2400" dirty="0"/>
              <a:t>大量土体、岩体或其他构造物在</a:t>
            </a:r>
            <a:r>
              <a:rPr lang="zh-CN" altLang="en-US" sz="2400" u="sng" dirty="0">
                <a:solidFill>
                  <a:srgbClr val="FF0000"/>
                </a:solidFill>
              </a:rPr>
              <a:t>重力作用</a:t>
            </a:r>
            <a:r>
              <a:rPr lang="zh-CN" altLang="en-US" sz="2400" dirty="0"/>
              <a:t>下，沿一定的滑动面做整体或分散</a:t>
            </a:r>
            <a:r>
              <a:rPr lang="zh-CN" altLang="en-US" sz="2400" dirty="0">
                <a:solidFill>
                  <a:srgbClr val="FF0000"/>
                </a:solidFill>
              </a:rPr>
              <a:t>下滑</a:t>
            </a:r>
            <a:r>
              <a:rPr lang="zh-CN" altLang="en-US" sz="2400" dirty="0"/>
              <a:t>的现象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zh-CN" sz="2400" dirty="0"/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u="sng" dirty="0" smtClean="0">
                <a:solidFill>
                  <a:srgbClr val="FF0000"/>
                </a:solidFill>
              </a:rPr>
              <a:t>地势</a:t>
            </a:r>
            <a:r>
              <a:rPr lang="zh-CN" altLang="en-US" sz="2400" u="sng" dirty="0">
                <a:solidFill>
                  <a:srgbClr val="FF0000"/>
                </a:solidFill>
              </a:rPr>
              <a:t>起伏较大、岩体较破碎、植被覆盖差</a:t>
            </a:r>
            <a:r>
              <a:rPr lang="zh-CN" altLang="en-US" sz="2400" dirty="0"/>
              <a:t>的</a:t>
            </a:r>
            <a:r>
              <a:rPr lang="zh-CN" altLang="en-US" sz="2400" dirty="0">
                <a:solidFill>
                  <a:srgbClr val="FF0000"/>
                </a:solidFill>
              </a:rPr>
              <a:t>山地丘陵区</a:t>
            </a:r>
            <a:r>
              <a:rPr lang="zh-CN" altLang="en-US" sz="2400" dirty="0"/>
              <a:t>往往是滑坡多发区。此外，开挖坡脚、爆破振动、乱采滥伐等</a:t>
            </a:r>
            <a:r>
              <a:rPr lang="zh-CN" altLang="en-US" sz="2400" dirty="0">
                <a:solidFill>
                  <a:srgbClr val="FF0000"/>
                </a:solidFill>
              </a:rPr>
              <a:t>人类活动</a:t>
            </a:r>
            <a:r>
              <a:rPr lang="zh-CN" altLang="en-US" sz="2400" dirty="0"/>
              <a:t>，也会引起滑坡。</a:t>
            </a:r>
            <a:endParaRPr lang="zh-CN" altLang="en-US" sz="2400" dirty="0"/>
          </a:p>
        </p:txBody>
      </p:sp>
      <p:sp>
        <p:nvSpPr>
          <p:cNvPr id="4" name="文本框 3"/>
          <p:cNvSpPr txBox="1"/>
          <p:nvPr/>
        </p:nvSpPr>
        <p:spPr>
          <a:xfrm>
            <a:off x="8159750" y="75271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概念：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8226692" y="299028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成因：</a:t>
            </a:r>
            <a:endParaRPr lang="zh-CN" altLang="en-US" sz="2400" b="1" dirty="0"/>
          </a:p>
        </p:txBody>
      </p:sp>
      <p:sp>
        <p:nvSpPr>
          <p:cNvPr id="7" name="矩形 6"/>
          <p:cNvSpPr/>
          <p:nvPr/>
        </p:nvSpPr>
        <p:spPr>
          <a:xfrm>
            <a:off x="8159750" y="2990287"/>
            <a:ext cx="3781425" cy="30254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滑坡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7540" y="1102995"/>
            <a:ext cx="4813300" cy="530034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708650" y="1102995"/>
            <a:ext cx="6096000" cy="52629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400" dirty="0"/>
              <a:t>滑坡往往发生突然，具有</a:t>
            </a:r>
            <a:r>
              <a:rPr lang="zh-CN" altLang="en-US" sz="2400" u="sng" dirty="0">
                <a:solidFill>
                  <a:srgbClr val="FF0000"/>
                </a:solidFill>
              </a:rPr>
              <a:t>历时短、爆发力强、成灾快</a:t>
            </a:r>
            <a:r>
              <a:rPr lang="zh-CN" altLang="en-US" sz="2400" dirty="0"/>
              <a:t>的特点。滑坡能</a:t>
            </a:r>
            <a:r>
              <a:rPr lang="zh-CN" altLang="en-US" sz="2400" u="sng" dirty="0">
                <a:solidFill>
                  <a:srgbClr val="FF0000"/>
                </a:solidFill>
              </a:rPr>
              <a:t>堵塞河道，掩埋农田，封堵道路，毁坏房屋</a:t>
            </a:r>
            <a:r>
              <a:rPr lang="zh-CN" altLang="en-US" sz="2400" dirty="0"/>
              <a:t>，对人民生命财产和生产建设造成不同程度的危害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endParaRPr lang="zh-CN" altLang="en-US" sz="2400" dirty="0"/>
          </a:p>
          <a:p>
            <a:pPr marL="342900" indent="-342900">
              <a:buFont typeface="Wingdings" panose="05000000000000000000" charset="0"/>
              <a:buChar char="Ø"/>
            </a:pPr>
            <a:endParaRPr lang="en-US" altLang="zh-CN" sz="2400" dirty="0" smtClean="0"/>
          </a:p>
          <a:p>
            <a:r>
              <a:rPr lang="zh-CN" altLang="en-US" sz="2400" dirty="0" smtClean="0"/>
              <a:t>例如：</a:t>
            </a:r>
            <a:endParaRPr lang="en-US" altLang="zh-CN" sz="2400" dirty="0" smtClean="0"/>
          </a:p>
          <a:p>
            <a:r>
              <a:rPr lang="zh-CN" altLang="en-US" sz="2400" dirty="0" smtClean="0"/>
              <a:t>山坡</a:t>
            </a:r>
            <a:r>
              <a:rPr lang="zh-CN" altLang="en-US" sz="2400" dirty="0"/>
              <a:t>上的建筑物会发生变形，</a:t>
            </a:r>
            <a:r>
              <a:rPr lang="zh-CN" altLang="en-US" sz="2400" dirty="0" smtClean="0"/>
              <a:t>树木向</a:t>
            </a:r>
            <a:r>
              <a:rPr lang="zh-CN" altLang="en-US" sz="2400" dirty="0"/>
              <a:t>一个方向倾斜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井水</a:t>
            </a:r>
            <a:r>
              <a:rPr lang="zh-CN" altLang="en-US" sz="2400" dirty="0"/>
              <a:t>、泉水</a:t>
            </a:r>
            <a:r>
              <a:rPr lang="zh-CN" altLang="en-US" sz="2400" dirty="0" smtClean="0"/>
              <a:t>水位</a:t>
            </a:r>
            <a:r>
              <a:rPr lang="zh-CN" altLang="en-US" sz="2400" dirty="0"/>
              <a:t>、</a:t>
            </a:r>
            <a:r>
              <a:rPr lang="zh-CN" altLang="en-US" sz="2400" dirty="0" smtClean="0"/>
              <a:t>水</a:t>
            </a:r>
            <a:r>
              <a:rPr lang="zh-CN" altLang="en-US" sz="2400" dirty="0"/>
              <a:t>质变浑浊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滑坡体</a:t>
            </a:r>
            <a:r>
              <a:rPr lang="zh-CN" altLang="en-US" sz="2400" dirty="0"/>
              <a:t>四周的岩体和土体出现小型坍塌或松弛现象</a:t>
            </a:r>
            <a:r>
              <a:rPr lang="zh-CN" altLang="en-US" sz="2400" dirty="0" smtClean="0"/>
              <a:t>；</a:t>
            </a:r>
            <a:endParaRPr lang="en-US" altLang="zh-CN" sz="2400" dirty="0" smtClean="0"/>
          </a:p>
          <a:p>
            <a:r>
              <a:rPr lang="zh-CN" altLang="en-US" sz="2400" dirty="0" smtClean="0"/>
              <a:t>有</a:t>
            </a:r>
            <a:r>
              <a:rPr lang="zh-CN" altLang="en-US" sz="2400" dirty="0"/>
              <a:t>岩石开裂或挤压</a:t>
            </a:r>
            <a:r>
              <a:rPr lang="zh-CN" altLang="en-US" sz="2400" dirty="0" smtClean="0"/>
              <a:t>声响</a:t>
            </a:r>
            <a:endParaRPr lang="en-US" altLang="zh-CN" sz="2400" dirty="0" smtClean="0"/>
          </a:p>
          <a:p>
            <a:r>
              <a:rPr lang="zh-CN" altLang="en-US" sz="2400" dirty="0" smtClean="0"/>
              <a:t>动物</a:t>
            </a:r>
            <a:r>
              <a:rPr lang="zh-CN" altLang="en-US" sz="2400" dirty="0"/>
              <a:t>有异常等</a:t>
            </a:r>
            <a:r>
              <a:rPr lang="zh-CN" altLang="en-US" sz="2400" dirty="0" smtClean="0"/>
              <a:t>。</a:t>
            </a:r>
            <a:endParaRPr lang="zh-CN" altLang="en-US" sz="2400" dirty="0"/>
          </a:p>
        </p:txBody>
      </p:sp>
      <p:sp>
        <p:nvSpPr>
          <p:cNvPr id="6" name="文本框 5"/>
          <p:cNvSpPr txBox="1"/>
          <p:nvPr/>
        </p:nvSpPr>
        <p:spPr>
          <a:xfrm>
            <a:off x="5708650" y="70548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特点：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5708650" y="2797065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前兆：</a:t>
            </a:r>
            <a:endParaRPr lang="zh-CN" altLang="en-US" sz="2400" b="1" dirty="0"/>
          </a:p>
        </p:txBody>
      </p:sp>
      <p:sp>
        <p:nvSpPr>
          <p:cNvPr id="4" name="矩形 3"/>
          <p:cNvSpPr/>
          <p:nvPr/>
        </p:nvSpPr>
        <p:spPr>
          <a:xfrm>
            <a:off x="5593976" y="2716306"/>
            <a:ext cx="6418730" cy="3926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滑坡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55656" y="1825942"/>
            <a:ext cx="609600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/>
              <a:t>当遭遇滑坡时，应沿着</a:t>
            </a:r>
            <a:r>
              <a:rPr lang="zh-CN" altLang="en-US" sz="2800" u="sng" dirty="0">
                <a:solidFill>
                  <a:srgbClr val="FF0000"/>
                </a:solidFill>
              </a:rPr>
              <a:t>垂直于滑坡体下滑的方向逃</a:t>
            </a:r>
            <a:r>
              <a:rPr lang="zh-CN" altLang="en-US" sz="2800" dirty="0"/>
              <a:t>到附近的安全地带，不宜向滑坡体上方或下方跑。当滑坡体呈整体迅速滑动，无法跑离时，可</a:t>
            </a:r>
            <a:r>
              <a:rPr lang="zh-CN" altLang="en-US" sz="2800" u="sng" dirty="0">
                <a:solidFill>
                  <a:srgbClr val="FF0000"/>
                </a:solidFill>
              </a:rPr>
              <a:t>抱住身边的大树随其下滑</a:t>
            </a:r>
            <a:r>
              <a:rPr lang="zh-CN" altLang="en-US" sz="2800" dirty="0"/>
              <a:t>，或</a:t>
            </a:r>
            <a:r>
              <a:rPr lang="zh-CN" altLang="en-US" sz="2800" u="sng" dirty="0">
                <a:solidFill>
                  <a:srgbClr val="FF0000"/>
                </a:solidFill>
              </a:rPr>
              <a:t>躲避在结实的障碍物下，并保护好头部</a:t>
            </a:r>
            <a:r>
              <a:rPr lang="zh-CN" altLang="en-US" sz="2800" dirty="0"/>
              <a:t>，防止被滚石伤害。被困时，应及时用各种方式向外界发出求助信息。</a:t>
            </a:r>
            <a:endParaRPr lang="zh-CN" altLang="en-US" sz="2800" dirty="0"/>
          </a:p>
        </p:txBody>
      </p:sp>
      <p:pic>
        <p:nvPicPr>
          <p:cNvPr id="100" name="图片 99"/>
          <p:cNvPicPr/>
          <p:nvPr>
            <p:custDataLst>
              <p:tags r:id="rId3"/>
            </p:custDataLst>
          </p:nvPr>
        </p:nvPicPr>
        <p:blipFill>
          <a:blip r:embed="rId4"/>
          <a:srcRect t="3676" b="8741"/>
          <a:stretch>
            <a:fillRect/>
          </a:stretch>
        </p:blipFill>
        <p:spPr>
          <a:xfrm>
            <a:off x="7101840" y="352425"/>
            <a:ext cx="4558665" cy="61321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8159750" y="752713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概念：</a:t>
            </a:r>
            <a:endParaRPr lang="zh-CN" altLang="en-US" sz="24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55656" y="1214378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/>
              <a:t>避险措施：</a:t>
            </a:r>
            <a:endParaRPr lang="zh-CN" altLang="en-US" sz="2800" b="1" dirty="0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泥石流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1815" y="949960"/>
            <a:ext cx="11012805" cy="550037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泥石流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91160" y="871855"/>
            <a:ext cx="10924540" cy="56794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泥石流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6095682" y="856357"/>
            <a:ext cx="5586730" cy="60016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3200" dirty="0"/>
              <a:t>泥石流指</a:t>
            </a:r>
            <a:r>
              <a:rPr lang="zh-CN" altLang="en-US" sz="3200" u="sng" dirty="0">
                <a:solidFill>
                  <a:srgbClr val="FF0000"/>
                </a:solidFill>
              </a:rPr>
              <a:t>山区沟谷中</a:t>
            </a:r>
            <a:r>
              <a:rPr lang="zh-CN" altLang="en-US" sz="3200" dirty="0"/>
              <a:t>，由</a:t>
            </a:r>
            <a:r>
              <a:rPr lang="zh-CN" altLang="en-US" sz="3200" u="sng" dirty="0">
                <a:solidFill>
                  <a:srgbClr val="FF0000"/>
                </a:solidFill>
              </a:rPr>
              <a:t>暴雨、冰雪融水</a:t>
            </a:r>
            <a:r>
              <a:rPr lang="zh-CN" altLang="en-US" sz="3200" dirty="0"/>
              <a:t>等引发的，</a:t>
            </a:r>
            <a:r>
              <a:rPr lang="zh-CN" altLang="en-US" sz="3200" u="sng" dirty="0">
                <a:solidFill>
                  <a:srgbClr val="FF0000"/>
                </a:solidFill>
              </a:rPr>
              <a:t>含有大量泥沙、石块</a:t>
            </a:r>
            <a:r>
              <a:rPr lang="zh-CN" altLang="en-US" sz="3200" dirty="0"/>
              <a:t>等的突发性洪流。泥石流多发生</a:t>
            </a:r>
            <a:r>
              <a:rPr lang="zh-CN" altLang="en-US" sz="3200" dirty="0" smtClean="0"/>
              <a:t>在地势</a:t>
            </a:r>
            <a:r>
              <a:rPr lang="zh-CN" altLang="en-US" sz="3200" dirty="0"/>
              <a:t>陡峭的区域。</a:t>
            </a:r>
            <a:endParaRPr lang="zh-CN" altLang="en-US" sz="3200" dirty="0"/>
          </a:p>
          <a:p>
            <a:r>
              <a:rPr lang="zh-CN" altLang="en-US" sz="3200" dirty="0"/>
              <a:t>泥石流具有</a:t>
            </a:r>
            <a:r>
              <a:rPr lang="zh-CN" altLang="en-US" sz="3200" u="sng" dirty="0">
                <a:solidFill>
                  <a:srgbClr val="FF0000"/>
                </a:solidFill>
              </a:rPr>
              <a:t>暴发突然、来势凶猛</a:t>
            </a:r>
            <a:r>
              <a:rPr lang="zh-CN" altLang="en-US" sz="3200" dirty="0"/>
              <a:t>的特点，</a:t>
            </a:r>
            <a:r>
              <a:rPr lang="zh-CN" altLang="en-US" sz="3200" u="sng" dirty="0">
                <a:solidFill>
                  <a:srgbClr val="FF0000"/>
                </a:solidFill>
              </a:rPr>
              <a:t>波及面广，破坏力极大</a:t>
            </a:r>
            <a:r>
              <a:rPr lang="zh-CN" altLang="en-US" sz="3200" u="sng" dirty="0" smtClean="0">
                <a:solidFill>
                  <a:srgbClr val="FF0000"/>
                </a:solidFill>
              </a:rPr>
              <a:t>。</a:t>
            </a:r>
            <a:endParaRPr lang="en-US" altLang="zh-CN" sz="3200" u="sng" dirty="0" smtClean="0">
              <a:solidFill>
                <a:srgbClr val="FF0000"/>
              </a:solidFill>
            </a:endParaRPr>
          </a:p>
          <a:p>
            <a:r>
              <a:rPr lang="zh-CN" altLang="en-US" sz="3200" dirty="0" smtClean="0"/>
              <a:t>泥石流</a:t>
            </a:r>
            <a:r>
              <a:rPr lang="zh-CN" altLang="en-US" sz="3200" dirty="0"/>
              <a:t>常常会</a:t>
            </a:r>
            <a:r>
              <a:rPr lang="zh-CN" altLang="en-US" sz="3200" u="sng" dirty="0">
                <a:solidFill>
                  <a:srgbClr val="FF0000"/>
                </a:solidFill>
              </a:rPr>
              <a:t>摧毁交通设施，破坏工厂矿山、水利工程、农田土地、村镇</a:t>
            </a:r>
            <a:r>
              <a:rPr lang="zh-CN" altLang="en-US" sz="3200" dirty="0"/>
              <a:t>等，造成大量人员伤亡和财产损失。</a:t>
            </a:r>
            <a:endParaRPr lang="zh-CN" altLang="en-US" sz="3200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86815" y="1196975"/>
            <a:ext cx="4517390" cy="463169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6095682" y="3334871"/>
            <a:ext cx="5586730" cy="152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095682" y="4724400"/>
            <a:ext cx="5917024" cy="20439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泥石流</a:t>
            </a:r>
            <a:endParaRPr lang="en-US" altLang="zh-CN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18011" y="886460"/>
            <a:ext cx="10869295" cy="397031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dirty="0" smtClean="0"/>
              <a:t>避险对策：</a:t>
            </a:r>
            <a:endParaRPr lang="en-US" altLang="zh-CN" sz="2800" dirty="0" smtClean="0"/>
          </a:p>
          <a:p>
            <a:r>
              <a:rPr lang="zh-CN" altLang="en-US" sz="2800" dirty="0" smtClean="0"/>
              <a:t>当</a:t>
            </a:r>
            <a:r>
              <a:rPr lang="zh-CN" altLang="en-US" sz="2800" dirty="0"/>
              <a:t>遇到泥石流时，应</a:t>
            </a:r>
            <a:r>
              <a:rPr lang="zh-CN" altLang="en-US" sz="2800" u="sng" dirty="0">
                <a:solidFill>
                  <a:srgbClr val="FF0000"/>
                </a:solidFill>
              </a:rPr>
              <a:t>迅速向沟谷两侧山坡或高地跑</a:t>
            </a:r>
            <a:r>
              <a:rPr lang="zh-CN" altLang="en-US" sz="2800" dirty="0"/>
              <a:t>，</a:t>
            </a:r>
            <a:r>
              <a:rPr lang="zh-CN" altLang="en-US" sz="2800" dirty="0">
                <a:solidFill>
                  <a:srgbClr val="FF0000"/>
                </a:solidFill>
              </a:rPr>
              <a:t>切忌往泥石流的上游或下游方向逃生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endParaRPr lang="en-US" altLang="zh-CN" sz="2800" dirty="0"/>
          </a:p>
          <a:p>
            <a:r>
              <a:rPr lang="zh-CN" altLang="en-US" sz="2800" dirty="0" smtClean="0"/>
              <a:t>防灾措施：</a:t>
            </a:r>
            <a:endParaRPr lang="en-US" altLang="zh-CN" sz="2800" dirty="0" smtClean="0"/>
          </a:p>
          <a:p>
            <a:r>
              <a:rPr lang="zh-CN" altLang="en-US" sz="2800" dirty="0" smtClean="0"/>
              <a:t>保护生态环境</a:t>
            </a:r>
            <a:r>
              <a:rPr lang="zh-CN" altLang="en-US" sz="2800" dirty="0"/>
              <a:t>，禁止滥伐乱垦，提高植被覆盖率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zh-CN" altLang="en-US" sz="2800" dirty="0" smtClean="0"/>
              <a:t>禁止</a:t>
            </a:r>
            <a:r>
              <a:rPr lang="zh-CN" altLang="en-US" sz="2800" dirty="0"/>
              <a:t>不合理的采矿和施工开挖</a:t>
            </a:r>
            <a:r>
              <a:rPr lang="zh-CN" altLang="en-US" sz="2800" dirty="0" smtClean="0"/>
              <a:t>工程；</a:t>
            </a:r>
            <a:endParaRPr lang="en-US" altLang="zh-CN" sz="2800" dirty="0" smtClean="0"/>
          </a:p>
          <a:p>
            <a:r>
              <a:rPr lang="zh-CN" altLang="en-US" sz="2800" dirty="0" smtClean="0"/>
              <a:t>管理</a:t>
            </a:r>
            <a:r>
              <a:rPr lang="zh-CN" altLang="en-US" sz="2800" dirty="0"/>
              <a:t>好排水沟渠</a:t>
            </a:r>
            <a:r>
              <a:rPr lang="zh-CN" altLang="en-US" sz="2800" dirty="0" smtClean="0"/>
              <a:t>，清除</a:t>
            </a:r>
            <a:r>
              <a:rPr lang="zh-CN" altLang="en-US" sz="2800" dirty="0"/>
              <a:t>沟渠中的杂物</a:t>
            </a:r>
            <a:r>
              <a:rPr lang="zh-CN" altLang="en-US" sz="2800" dirty="0" smtClean="0"/>
              <a:t>；</a:t>
            </a:r>
            <a:endParaRPr lang="en-US" altLang="zh-CN" sz="2800" dirty="0" smtClean="0"/>
          </a:p>
          <a:p>
            <a:r>
              <a:rPr lang="zh-CN" altLang="en-US" sz="2800" dirty="0" smtClean="0"/>
              <a:t>运用信息技术加强实时监测和</a:t>
            </a:r>
            <a:r>
              <a:rPr lang="zh-CN" altLang="en-US" sz="2800" dirty="0" smtClean="0">
                <a:hlinkClick r:id="rId3" action="ppaction://hlinksldjump"/>
              </a:rPr>
              <a:t>预报。</a:t>
            </a:r>
            <a:endParaRPr lang="zh-CN" altLang="en-US" sz="2800" dirty="0"/>
          </a:p>
        </p:txBody>
      </p:sp>
      <p:sp>
        <p:nvSpPr>
          <p:cNvPr id="2" name="矩形 1"/>
          <p:cNvSpPr/>
          <p:nvPr/>
        </p:nvSpPr>
        <p:spPr>
          <a:xfrm>
            <a:off x="442463" y="2345615"/>
            <a:ext cx="9029401" cy="3200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0" y="0"/>
            <a:ext cx="12191365" cy="705485"/>
          </a:xfrm>
          <a:prstGeom prst="rect">
            <a:avLst/>
          </a:prstGeom>
          <a:solidFill>
            <a:srgbClr val="FFC000"/>
          </a:solidFill>
        </p:spPr>
        <p:txBody>
          <a:bodyPr vert="horz" lIns="90000" tIns="46800" rIns="90000" bIns="46800" rtlCol="0" anchor="ctr" anchorCtr="0">
            <a:normAutofit/>
          </a:bodyPr>
          <a:lstStyle>
            <a:lvl1pPr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600" b="1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地面沉降</a:t>
            </a:r>
            <a:endParaRPr lang="zh-CN" altLang="en-US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65785" y="908050"/>
            <a:ext cx="10907395" cy="535051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b="5846"/>
          <a:stretch>
            <a:fillRect/>
          </a:stretch>
        </p:blipFill>
        <p:spPr>
          <a:xfrm>
            <a:off x="92159" y="418743"/>
            <a:ext cx="7898160" cy="603333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11558"/>
          <a:stretch>
            <a:fillRect/>
          </a:stretch>
        </p:blipFill>
        <p:spPr>
          <a:xfrm>
            <a:off x="7349648" y="2871387"/>
            <a:ext cx="4842352" cy="379235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989" y="297428"/>
            <a:ext cx="7980580" cy="6220216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8117" y="137956"/>
            <a:ext cx="8633012" cy="642446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435" y="-35620"/>
            <a:ext cx="9009529" cy="6813978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AS_UNIQUEID" val="3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2.xml><?xml version="1.0" encoding="utf-8"?>
<p:tagLst xmlns:p="http://schemas.openxmlformats.org/presentationml/2006/main">
  <p:tag name="AS_UNIQUEID" val="3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3.xml><?xml version="1.0" encoding="utf-8"?>
<p:tagLst xmlns:p="http://schemas.openxmlformats.org/presentationml/2006/main">
  <p:tag name="AS_UNIQUEID" val="3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4.xml><?xml version="1.0" encoding="utf-8"?>
<p:tagLst xmlns:p="http://schemas.openxmlformats.org/presentationml/2006/main">
  <p:tag name="AS_UNIQUEID" val="3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5.xml><?xml version="1.0" encoding="utf-8"?>
<p:tagLst xmlns:p="http://schemas.openxmlformats.org/presentationml/2006/main">
  <p:tag name="AS_UNIQUEID" val="3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**"/>
  <p:tag name="KSO_WM_UNIT_LAYERLEVEL" val="1"/>
</p:tagLst>
</file>

<file path=ppt/tags/tag6.xml><?xml version="1.0" encoding="utf-8"?>
<p:tagLst xmlns:p="http://schemas.openxmlformats.org/presentationml/2006/main">
  <p:tag name="AS_UNIQUEID" val="3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7.xml><?xml version="1.0" encoding="utf-8"?>
<p:tagLst xmlns:p="http://schemas.openxmlformats.org/presentationml/2006/main">
  <p:tag name="AS_UNIQUEID" val="3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8.xml><?xml version="1.0" encoding="utf-8"?>
<p:tagLst xmlns:p="http://schemas.openxmlformats.org/presentationml/2006/main">
  <p:tag name="AS_UNIQUEID" val="3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9.xml><?xml version="1.0" encoding="utf-8"?>
<p:tagLst xmlns:p="http://schemas.openxmlformats.org/presentationml/2006/main">
  <p:tag name="AS_UNIQUEID" val="4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0.xml><?xml version="1.0" encoding="utf-8"?>
<p:tagLst xmlns:p="http://schemas.openxmlformats.org/presentationml/2006/main">
  <p:tag name="AS_UNIQUEID" val="4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2**"/>
  <p:tag name="KSO_WM_UNIT_LAYERLEVEL" val="1"/>
</p:tagLst>
</file>

<file path=ppt/tags/tag11.xml><?xml version="1.0" encoding="utf-8"?>
<p:tagLst xmlns:p="http://schemas.openxmlformats.org/presentationml/2006/main">
  <p:tag name="AS_UNIQUEID" val="4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2.xml><?xml version="1.0" encoding="utf-8"?>
<p:tagLst xmlns:p="http://schemas.openxmlformats.org/presentationml/2006/main">
  <p:tag name="AS_UNIQUEID" val="4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3.xml><?xml version="1.0" encoding="utf-8"?>
<p:tagLst xmlns:p="http://schemas.openxmlformats.org/presentationml/2006/main">
  <p:tag name="AS_UNIQUEID" val="4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4.xml><?xml version="1.0" encoding="utf-8"?>
<p:tagLst xmlns:p="http://schemas.openxmlformats.org/presentationml/2006/main">
  <p:tag name="AS_UNIQUEID" val="4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5.xml><?xml version="1.0" encoding="utf-8"?>
<p:tagLst xmlns:p="http://schemas.openxmlformats.org/presentationml/2006/main">
  <p:tag name="AS_UNIQUEID" val="4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3**"/>
  <p:tag name="KSO_WM_UNIT_LAYERLEVEL" val="1"/>
</p:tagLst>
</file>

<file path=ppt/tags/tag16.xml><?xml version="1.0" encoding="utf-8"?>
<p:tagLst xmlns:p="http://schemas.openxmlformats.org/presentationml/2006/main">
  <p:tag name="AS_UNIQUEID" val="4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7.xml><?xml version="1.0" encoding="utf-8"?>
<p:tagLst xmlns:p="http://schemas.openxmlformats.org/presentationml/2006/main">
  <p:tag name="AS_UNIQUEID" val="5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8.xml><?xml version="1.0" encoding="utf-8"?>
<p:tagLst xmlns:p="http://schemas.openxmlformats.org/presentationml/2006/main">
  <p:tag name="AS_UNIQUEID" val="5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19.xml><?xml version="1.0" encoding="utf-8"?>
<p:tagLst xmlns:p="http://schemas.openxmlformats.org/presentationml/2006/main">
  <p:tag name="AS_UNIQUEID" val="5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0.xml><?xml version="1.0" encoding="utf-8"?>
<p:tagLst xmlns:p="http://schemas.openxmlformats.org/presentationml/2006/main">
  <p:tag name="AS_UNIQUEID" val="5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1.xml><?xml version="1.0" encoding="utf-8"?>
<p:tagLst xmlns:p="http://schemas.openxmlformats.org/presentationml/2006/main">
  <p:tag name="AS_UNIQUEID" val="5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4**"/>
  <p:tag name="KSO_WM_UNIT_LAYERLEVEL" val="1"/>
</p:tagLst>
</file>

<file path=ppt/tags/tag22.xml><?xml version="1.0" encoding="utf-8"?>
<p:tagLst xmlns:p="http://schemas.openxmlformats.org/presentationml/2006/main">
  <p:tag name="AS_UNIQUEID" val="5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3.xml><?xml version="1.0" encoding="utf-8"?>
<p:tagLst xmlns:p="http://schemas.openxmlformats.org/presentationml/2006/main">
  <p:tag name="AS_UNIQUEID" val="5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4.xml><?xml version="1.0" encoding="utf-8"?>
<p:tagLst xmlns:p="http://schemas.openxmlformats.org/presentationml/2006/main">
  <p:tag name="AS_UNIQUEID" val="5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5.xml><?xml version="1.0" encoding="utf-8"?>
<p:tagLst xmlns:p="http://schemas.openxmlformats.org/presentationml/2006/main">
  <p:tag name="AS_UNIQUEID" val="5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6.xml><?xml version="1.0" encoding="utf-8"?>
<p:tagLst xmlns:p="http://schemas.openxmlformats.org/presentationml/2006/main">
  <p:tag name="AS_UNIQUEID" val="6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7.xml><?xml version="1.0" encoding="utf-8"?>
<p:tagLst xmlns:p="http://schemas.openxmlformats.org/presentationml/2006/main">
  <p:tag name="AS_UNIQUEID" val="6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8.xml><?xml version="1.0" encoding="utf-8"?>
<p:tagLst xmlns:p="http://schemas.openxmlformats.org/presentationml/2006/main">
  <p:tag name="AS_UNIQUEID" val="6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29.xml><?xml version="1.0" encoding="utf-8"?>
<p:tagLst xmlns:p="http://schemas.openxmlformats.org/presentationml/2006/main">
  <p:tag name="AS_UNIQUEID" val="6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5**"/>
  <p:tag name="KSO_WM_UNIT_LAYERLEVEL" val="1"/>
</p:tagLst>
</file>

<file path=ppt/tags/tag30.xml><?xml version="1.0" encoding="utf-8"?>
<p:tagLst xmlns:p="http://schemas.openxmlformats.org/presentationml/2006/main">
  <p:tag name="AS_UNIQUEID" val="6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1.xml><?xml version="1.0" encoding="utf-8"?>
<p:tagLst xmlns:p="http://schemas.openxmlformats.org/presentationml/2006/main">
  <p:tag name="AS_UNIQUEID" val="6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2.xml><?xml version="1.0" encoding="utf-8"?>
<p:tagLst xmlns:p="http://schemas.openxmlformats.org/presentationml/2006/main">
  <p:tag name="AS_UNIQUEID" val="6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3.xml><?xml version="1.0" encoding="utf-8"?>
<p:tagLst xmlns:p="http://schemas.openxmlformats.org/presentationml/2006/main">
  <p:tag name="AS_UNIQUEID" val="6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6**"/>
  <p:tag name="KSO_WM_UNIT_LAYERLEVEL" val="1"/>
</p:tagLst>
</file>

<file path=ppt/tags/tag34.xml><?xml version="1.0" encoding="utf-8"?>
<p:tagLst xmlns:p="http://schemas.openxmlformats.org/presentationml/2006/main">
  <p:tag name="AS_UNIQUEID" val="7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5.xml><?xml version="1.0" encoding="utf-8"?>
<p:tagLst xmlns:p="http://schemas.openxmlformats.org/presentationml/2006/main">
  <p:tag name="AS_UNIQUEID" val="7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6.xml><?xml version="1.0" encoding="utf-8"?>
<p:tagLst xmlns:p="http://schemas.openxmlformats.org/presentationml/2006/main">
  <p:tag name="AS_UNIQUEID" val="7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7**"/>
  <p:tag name="KSO_WM_UNIT_LAYERLEVEL" val="1"/>
</p:tagLst>
</file>

<file path=ppt/tags/tag37.xml><?xml version="1.0" encoding="utf-8"?>
<p:tagLst xmlns:p="http://schemas.openxmlformats.org/presentationml/2006/main">
  <p:tag name="AS_UNIQUEID" val="7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8.xml><?xml version="1.0" encoding="utf-8"?>
<p:tagLst xmlns:p="http://schemas.openxmlformats.org/presentationml/2006/main">
  <p:tag name="AS_UNIQUEID" val="7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39.xml><?xml version="1.0" encoding="utf-8"?>
<p:tagLst xmlns:p="http://schemas.openxmlformats.org/presentationml/2006/main">
  <p:tag name="AS_UNIQUEID" val="7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0.xml><?xml version="1.0" encoding="utf-8"?>
<p:tagLst xmlns:p="http://schemas.openxmlformats.org/presentationml/2006/main">
  <p:tag name="AS_UNIQUEID" val="7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1.xml><?xml version="1.0" encoding="utf-8"?>
<p:tagLst xmlns:p="http://schemas.openxmlformats.org/presentationml/2006/main">
  <p:tag name="AS_UNIQUEID" val="7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2.xml><?xml version="1.0" encoding="utf-8"?>
<p:tagLst xmlns:p="http://schemas.openxmlformats.org/presentationml/2006/main">
  <p:tag name="AS_UNIQUEID" val="7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8**"/>
  <p:tag name="KSO_WM_UNIT_LAYERLEVEL" val="1"/>
</p:tagLst>
</file>

<file path=ppt/tags/tag43.xml><?xml version="1.0" encoding="utf-8"?>
<p:tagLst xmlns:p="http://schemas.openxmlformats.org/presentationml/2006/main">
  <p:tag name="AS_UNIQUEID" val="8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4.xml><?xml version="1.0" encoding="utf-8"?>
<p:tagLst xmlns:p="http://schemas.openxmlformats.org/presentationml/2006/main">
  <p:tag name="AS_UNIQUEID" val="8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5.xml><?xml version="1.0" encoding="utf-8"?>
<p:tagLst xmlns:p="http://schemas.openxmlformats.org/presentationml/2006/main">
  <p:tag name="AS_UNIQUEID" val="8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6.xml><?xml version="1.0" encoding="utf-8"?>
<p:tagLst xmlns:p="http://schemas.openxmlformats.org/presentationml/2006/main">
  <p:tag name="AS_UNIQUEID" val="8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7.xml><?xml version="1.0" encoding="utf-8"?>
<p:tagLst xmlns:p="http://schemas.openxmlformats.org/presentationml/2006/main">
  <p:tag name="AS_UNIQUEID" val="8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9**"/>
  <p:tag name="KSO_WM_UNIT_LAYERLEVEL" val="1"/>
</p:tagLst>
</file>

<file path=ppt/tags/tag48.xml><?xml version="1.0" encoding="utf-8"?>
<p:tagLst xmlns:p="http://schemas.openxmlformats.org/presentationml/2006/main">
  <p:tag name="AS_UNIQUEID" val="87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49.xml><?xml version="1.0" encoding="utf-8"?>
<p:tagLst xmlns:p="http://schemas.openxmlformats.org/presentationml/2006/main">
  <p:tag name="AS_UNIQUEID" val="88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0.xml><?xml version="1.0" encoding="utf-8"?>
<p:tagLst xmlns:p="http://schemas.openxmlformats.org/presentationml/2006/main">
  <p:tag name="AS_UNIQUEID" val="89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1.xml><?xml version="1.0" encoding="utf-8"?>
<p:tagLst xmlns:p="http://schemas.openxmlformats.org/presentationml/2006/main">
  <p:tag name="AS_UNIQUEID" val="9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0**"/>
  <p:tag name="KSO_WM_UNIT_LAYERLEVEL" val="1"/>
</p:tagLst>
</file>

<file path=ppt/tags/tag52.xml><?xml version="1.0" encoding="utf-8"?>
<p:tagLst xmlns:p="http://schemas.openxmlformats.org/presentationml/2006/main">
  <p:tag name="AS_UNIQUEID" val="9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3.xml><?xml version="1.0" encoding="utf-8"?>
<p:tagLst xmlns:p="http://schemas.openxmlformats.org/presentationml/2006/main">
  <p:tag name="AS_UNIQUEID" val="93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4.xml><?xml version="1.0" encoding="utf-8"?>
<p:tagLst xmlns:p="http://schemas.openxmlformats.org/presentationml/2006/main">
  <p:tag name="AS_UNIQUEID" val="94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5.xml><?xml version="1.0" encoding="utf-8"?>
<p:tagLst xmlns:p="http://schemas.openxmlformats.org/presentationml/2006/main">
  <p:tag name="AS_UNIQUEID" val="95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6.xml><?xml version="1.0" encoding="utf-8"?>
<p:tagLst xmlns:p="http://schemas.openxmlformats.org/presentationml/2006/main">
  <p:tag name="AS_UNIQUEID" val="96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11**"/>
  <p:tag name="KSO_WM_UNIT_LAYERLEVEL" val="1"/>
</p:tagLst>
</file>

<file path=ppt/tags/tag57.xml><?xml version="1.0" encoding="utf-8"?>
<p:tagLst xmlns:p="http://schemas.openxmlformats.org/presentationml/2006/main">
  <p:tag name="AS_UNIQUEID" val="98"/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8.xml><?xml version="1.0" encoding="utf-8"?>
<p:tagLst xmlns:p="http://schemas.openxmlformats.org/presentationml/2006/main">
  <p:tag name="AS_UNIQUEID" val="99"/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59.xml><?xml version="1.0" encoding="utf-8"?>
<p:tagLst xmlns:p="http://schemas.openxmlformats.org/presentationml/2006/main">
  <p:tag name="AS_UNIQUEID" val="100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0.xml><?xml version="1.0" encoding="utf-8"?>
<p:tagLst xmlns:p="http://schemas.openxmlformats.org/presentationml/2006/main">
  <p:tag name="AS_UNIQUEID" val="101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1.xml><?xml version="1.0" encoding="utf-8"?>
<p:tagLst xmlns:p="http://schemas.openxmlformats.org/presentationml/2006/main">
  <p:tag name="AS_UNIQUEID" val="102"/>
  <p:tag name="KSO_WM_BEAUTIFY_FLAG" val="#wm#"/>
  <p:tag name="KSO_WM_TAG_VERSION" val="1.0"/>
  <p:tag name="KSO_WM_UNIT_COMPATIBLE" val="0"/>
  <p:tag name="KSO_WM_UNIT_DIAGRAM_ISNUMVISUAL" val="0"/>
  <p:tag name="KSO_WM_UNIT_DIAGRAM_ISREFERUNIT" val="0"/>
  <p:tag name="KSO_WM_UNIT_HIGHLIGHT" val="0"/>
  <p:tag name="KSO_WM_UNIT_ID" val="_0**"/>
  <p:tag name="KSO_WM_UNIT_LAYERLEVEL" val="1"/>
</p:tagLst>
</file>

<file path=ppt/tags/tag62.xml><?xml version="1.0" encoding="utf-8"?>
<p:tagLst xmlns:p="http://schemas.openxmlformats.org/presentationml/2006/main">
  <p:tag name="AS_UNIQUEID" val="103"/>
</p:tagLst>
</file>

<file path=ppt/tags/tag63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4.xml><?xml version="1.0" encoding="utf-8"?>
<p:tagLst xmlns:p="http://schemas.openxmlformats.org/presentationml/2006/main">
  <p:tag name="AS_UNIQUEID" val="105"/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custom20205081_1*a*1"/>
  <p:tag name="KSO_WM_UNIT_INDEX" val="1"/>
  <p:tag name="KSO_WM_UNIT_ISCONTENTSTITLE" val="0"/>
  <p:tag name="KSO_WM_UNIT_ISNUMDGMTITLE" val="0"/>
  <p:tag name="KSO_WM_UNIT_LAYERLEVEL" val="1"/>
  <p:tag name="KSO_WM_UNIT_NOCLEAR" val="0"/>
  <p:tag name="KSO_WM_UNIT_SHOW_EDIT_AREA_INDICATION" val="1"/>
  <p:tag name="KSO_WM_UNIT_TYPE" val="a"/>
  <p:tag name="KSO_WM_UNIT_VALUE" val="28"/>
</p:tagLst>
</file>

<file path=ppt/tags/tag65.xml><?xml version="1.0" encoding="utf-8"?>
<p:tagLst xmlns:p="http://schemas.openxmlformats.org/presentationml/2006/main">
  <p:tag name="AS_UNIQUEID" val="106"/>
  <p:tag name="KSO_WM_BEAUTIFY_FLAG" val="#wm#"/>
  <p:tag name="KSO_WM_TAG_VERSION" val="1.0"/>
  <p:tag name="KSO_WM_TEMPLATE_CATEGORY" val="custom"/>
  <p:tag name="KSO_WM_TEMPLATE_INDEX" val="20205081"/>
  <p:tag name="KSO_WM_UNIT_COMPATIBLE" val="0"/>
  <p:tag name="KSO_WM_UNIT_DIAGRAM_ISNUMVISUAL" val="0"/>
  <p:tag name="KSO_WM_UNIT_DIAGRAM_ISREFERUNIT" val="0"/>
  <p:tag name="KSO_WM_UNIT_HIGHLIGHT" val="0"/>
  <p:tag name="KSO_WM_UNIT_ID" val="custom20205081_1*b*1"/>
  <p:tag name="KSO_WM_UNIT_INDEX" val="1"/>
  <p:tag name="KSO_WM_UNIT_ISCONTENTSTITLE" val="0"/>
  <p:tag name="KSO_WM_UNIT_ISNUMDGMTITLE" val="0"/>
  <p:tag name="KSO_WM_UNIT_LAYERLEVEL" val="1"/>
  <p:tag name="KSO_WM_UNIT_NOCLEAR" val="0"/>
  <p:tag name="KSO_WM_UNIT_SHOW_EDIT_AREA_INDICATION" val="1"/>
  <p:tag name="KSO_WM_UNIT_TYPE" val="b"/>
  <p:tag name="KSO_WM_UNIT_VALUE" val="111"/>
</p:tagLst>
</file>

<file path=ppt/tags/tag66.xml><?xml version="1.0" encoding="utf-8"?>
<p:tagLst xmlns:p="http://schemas.openxmlformats.org/presentationml/2006/main">
  <p:tag name="AS_UNIQUEID" val="107"/>
</p:tagLst>
</file>

<file path=ppt/tags/tag67.xml><?xml version="1.0" encoding="utf-8"?>
<p:tagLst xmlns:p="http://schemas.openxmlformats.org/presentationml/2006/main">
  <p:tag name="AS_UNIQUEID" val="29"/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SLIDE_ID" val="custom20205081_1"/>
  <p:tag name="KSO_WM_SLIDE_INDEX" val="1"/>
  <p:tag name="KSO_WM_SLIDE_ITEM_CNT" val="0"/>
  <p:tag name="KSO_WM_SLIDE_LAYOUT" val="a_b"/>
  <p:tag name="KSO_WM_SLIDE_LAYOUT_CNT" val="1_1"/>
  <p:tag name="KSO_WM_SLIDE_SUBTYPE" val="defaultBlank"/>
  <p:tag name="KSO_WM_SLIDE_TYPE" val="title"/>
  <p:tag name="KSO_WM_TAG_VERSION" val="1.0"/>
  <p:tag name="KSO_WM_TEMPLATE_CATEGORY" val="custom"/>
  <p:tag name="KSO_WM_TEMPLATE_COLOR_TYPE" val="1"/>
  <p:tag name="KSO_WM_TEMPLATE_INDEX" val="20205081"/>
  <p:tag name="KSO_WM_TEMPLATE_MASTER_TYPE" val="0"/>
  <p:tag name="KSO_WM_TEMPLATE_SUBCATEGORY" val="19"/>
  <p:tag name="KSO_WM_TEMPLATE_THUMBS_INDEX" val="1、4、7、12、13、14、15、16、17、18、20、24、25、28、33、36、40、43、44"/>
  <p:tag name="KSO_WM_UNIT_SHOW_EDIT_AREA_INDICATION" val="1"/>
</p:tagLst>
</file>

<file path=ppt/tags/tag69.xml><?xml version="1.0" encoding="utf-8"?>
<p:tagLst xmlns:p="http://schemas.openxmlformats.org/presentationml/2006/main">
  <p:tag name="AS_UNIQUEID" val="126"/>
  <p:tag name="KSO_WM_BEAUTIFY_FLAG" val=""/>
</p:tagLst>
</file>

<file path=ppt/tags/tag70.xml><?xml version="1.0" encoding="utf-8"?>
<p:tagLst xmlns:p="http://schemas.openxmlformats.org/presentationml/2006/main">
  <p:tag name="AS_UNIQUEID" val="127"/>
  <p:tag name="KSO_WM_BEAUTIFY_FLAG" val=""/>
</p:tagLst>
</file>

<file path=ppt/tags/tag71.xml><?xml version="1.0" encoding="utf-8"?>
<p:tagLst xmlns:p="http://schemas.openxmlformats.org/presentationml/2006/main">
  <p:tag name="AS_UNIQUEID" val="128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AS_UNIQUEID" val="134"/>
</p:tagLst>
</file>

<file path=ppt/tags/tag74.xml><?xml version="1.0" encoding="utf-8"?>
<p:tagLst xmlns:p="http://schemas.openxmlformats.org/presentationml/2006/main">
  <p:tag name="AS_UNIQUEID" val="135"/>
  <p:tag name="KSO_WM_BEAUTIFY_FLAG" val=""/>
</p:tagLst>
</file>

<file path=ppt/tags/tag75.xml><?xml version="1.0" encoding="utf-8"?>
<p:tagLst xmlns:p="http://schemas.openxmlformats.org/presentationml/2006/main">
  <p:tag name="AS_UNIQUEID" val="136"/>
  <p:tag name="KSO_WM_BEAUTIFY_FLAG" val="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AS_UNIQUEID" val="138"/>
  <p:tag name="KSO_WM_BEAUTIFY_FLAG" val=""/>
</p:tagLst>
</file>

<file path=ppt/tags/tag78.xml><?xml version="1.0" encoding="utf-8"?>
<p:tagLst xmlns:p="http://schemas.openxmlformats.org/presentationml/2006/main">
  <p:tag name="AS_UNIQUEID" val="139"/>
  <p:tag name="KSO_WM_BEAUTIFY_FLAG" val=""/>
</p:tagLst>
</file>

<file path=ppt/tags/tag79.xml><?xml version="1.0" encoding="utf-8"?>
<p:tagLst xmlns:p="http://schemas.openxmlformats.org/presentationml/2006/main">
  <p:tag name="AS_UNIQUEID" val="140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AS_UNIQUEID" val="142"/>
  <p:tag name="KSO_WM_BEAUTIFY_FLAG" val=""/>
</p:tagLst>
</file>

<file path=ppt/tags/tag82.xml><?xml version="1.0" encoding="utf-8"?>
<p:tagLst xmlns:p="http://schemas.openxmlformats.org/presentationml/2006/main">
  <p:tag name="AS_UNIQUEID" val="143"/>
  <p:tag name="KSO_WM_BEAUTIFY_FLAG" val=""/>
</p:tagLst>
</file>

<file path=ppt/tags/tag83.xml><?xml version="1.0" encoding="utf-8"?>
<p:tagLst xmlns:p="http://schemas.openxmlformats.org/presentationml/2006/main">
  <p:tag name="AS_UNIQUEID" val="144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AS_UNIQUEID" val="146"/>
  <p:tag name="KSO_WM_BEAUTIFY_FLAG" val=""/>
</p:tagLst>
</file>

<file path=ppt/tags/tag86.xml><?xml version="1.0" encoding="utf-8"?>
<p:tagLst xmlns:p="http://schemas.openxmlformats.org/presentationml/2006/main">
  <p:tag name="AS_UNIQUEID" val="147"/>
</p:tagLst>
</file>

<file path=ppt/tags/tag87.xml><?xml version="1.0" encoding="utf-8"?>
<p:tagLst xmlns:p="http://schemas.openxmlformats.org/presentationml/2006/main">
  <p:tag name="AS_UNIQUEID" val="148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AS_UNIQUEID" val="153"/>
  <p:tag name="KSO_WM_BEAUTIFY_FLAG" val=""/>
</p:tagLst>
</file>

<file path=ppt/tags/tag90.xml><?xml version="1.0" encoding="utf-8"?>
<p:tagLst xmlns:p="http://schemas.openxmlformats.org/presentationml/2006/main">
  <p:tag name="AS_UNIQUEID" val="154"/>
  <p:tag name="KSO_WM_BEAUTIFY_FLAG" val="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AS_UNIQUEID" val="156"/>
  <p:tag name="KSO_WM_BEAUTIFY_FLAG" val=""/>
</p:tagLst>
</file>

<file path=ppt/tags/tag93.xml><?xml version="1.0" encoding="utf-8"?>
<p:tagLst xmlns:p="http://schemas.openxmlformats.org/presentationml/2006/main">
  <p:tag name="AS_UNIQUEID" val="157"/>
  <p:tag name="KSO_WM_BEAUTIFY_FLAG" val="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AS_UNIQUEID" val="159"/>
  <p:tag name="KSO_WM_BEAUTIFY_FLAG" val=""/>
</p:tagLst>
</file>

<file path=ppt/tags/tag96.xml><?xml version="1.0" encoding="utf-8"?>
<p:tagLst xmlns:p="http://schemas.openxmlformats.org/presentationml/2006/main">
  <p:tag name="AS_UNIQUEID" val="160"/>
</p:tagLst>
</file>

<file path=ppt/tags/tag97.xml><?xml version="1.0" encoding="utf-8"?>
<p:tagLst xmlns:p="http://schemas.openxmlformats.org/presentationml/2006/main">
  <p:tag name="AS_UNIQUEID" val="161"/>
  <p:tag name="KSO_WM_BEAUTIFY_FLAG" val="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AS_UNIQUEID" val="163"/>
  <p:tag name="KSO_WM_BEAUTIFY_FLAG" val=""/>
</p:tagLst>
</file>

<file path=ppt/tags/tag100.xml><?xml version="1.0" encoding="utf-8"?>
<p:tagLst xmlns:p="http://schemas.openxmlformats.org/presentationml/2006/main">
  <p:tag name="AS_UNIQUEID" val="164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AS_UNIQUEID" val="166"/>
  <p:tag name="KSO_WM_BEAUTIFY_FLAG" val=""/>
</p:tagLst>
</file>

<file path=ppt/tags/tag103.xml><?xml version="1.0" encoding="utf-8"?>
<p:tagLst xmlns:p="http://schemas.openxmlformats.org/presentationml/2006/main">
  <p:tag name="AS_UNIQUEID" val="167"/>
  <p:tag name="KSO_WM_BEAUTIFY_FLAG" val="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AS_OS" val="Unix 3.10 unknown"/>
  <p:tag name="AS_RELEASE_DATE" val="2023.03.31"/>
  <p:tag name="AS_TITLE" val="Aspose.Slides for Java"/>
  <p:tag name="AS_VERSION" val="23.3"/>
  <p:tag name="COMMONDATA" val="eyJoZGlkIjoiYmZkNTA3N2MzMGQ4YmMxYjhlMGNhNGYyMWY5NWFiZDU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2496</Words>
  <Application>WPS Office WWO_dingtalk_20240221035043-c523bba0e7</Application>
  <PresentationFormat>宽屏</PresentationFormat>
  <Paragraphs>187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5" baseType="lpstr">
      <vt:lpstr>Arial</vt:lpstr>
      <vt:lpstr>宋体</vt:lpstr>
      <vt:lpstr>Wingdings</vt:lpstr>
      <vt:lpstr>Wingdings</vt:lpstr>
      <vt:lpstr>Kingsoft Confetti</vt:lpstr>
      <vt:lpstr>Calibri</vt:lpstr>
      <vt:lpstr>Calibri Light</vt:lpstr>
      <vt:lpstr>汉仪书宋二KW</vt:lpstr>
      <vt:lpstr>Times New Roman</vt:lpstr>
      <vt:lpstr>楷体</vt:lpstr>
      <vt:lpstr>微软雅黑</vt:lpstr>
      <vt:lpstr>汉仪旗黑KW 55S</vt:lpstr>
      <vt:lpstr>汉仪楷体KW</vt:lpstr>
      <vt:lpstr>WPS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学科网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rbm.xkw.com</dc:creator>
  <cp:lastModifiedBy>lsh</cp:lastModifiedBy>
  <cp:lastPrinted>2026-03-10T11:02:41Z</cp:lastPrinted>
  <dcterms:created xsi:type="dcterms:W3CDTF">2026-03-10T11:02:41Z</dcterms:created>
  <dcterms:modified xsi:type="dcterms:W3CDTF">2026-03-10T11:02:41Z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lbum">
    <vt:lpwstr>rbm.xkw.com</vt:lpwstr>
  </property>
  <property fmtid="{D5CDD505-2E9C-101B-9397-08002B2CF9AE}" pid="3" name="author">
    <vt:lpwstr>rbm.xkw.com</vt:lpwstr>
  </property>
  <property fmtid="{D5CDD505-2E9C-101B-9397-08002B2CF9AE}" pid="4" name="company">
    <vt:lpwstr>学科网</vt:lpwstr>
  </property>
  <property fmtid="{D5CDD505-2E9C-101B-9397-08002B2CF9AE}" pid="5" name="copyright">
    <vt:lpwstr>学科网版权所有</vt:lpwstr>
  </property>
  <property fmtid="{D5CDD505-2E9C-101B-9397-08002B2CF9AE}" pid="6" name="ICV">
    <vt:lpwstr/>
  </property>
  <property fmtid="{D5CDD505-2E9C-101B-9397-08002B2CF9AE}" pid="7" name="KSOProductBuildVer">
    <vt:lpwstr>2052-0.0.0.0</vt:lpwstr>
  </property>
</Properties>
</file>