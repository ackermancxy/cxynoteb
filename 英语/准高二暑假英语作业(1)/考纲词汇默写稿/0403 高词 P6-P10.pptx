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4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84708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</a:t>
            </a:r>
            <a:r>
              <a:rPr lang="zh-CN" altLang="en-US" sz="2400"/>
              <a:t>准确的；精确的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accurate</a:t>
            </a:r>
            <a:endParaRPr lang="en-US" altLang="zh-CN" sz="2400"/>
          </a:p>
          <a:p>
            <a:r>
              <a:rPr lang="en-US" altLang="zh-CN" sz="2400"/>
              <a:t>   </a:t>
            </a:r>
            <a:r>
              <a:rPr lang="zh-CN" altLang="en-US" sz="2400"/>
              <a:t>准确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accuracy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2.</a:t>
            </a:r>
            <a:r>
              <a:rPr lang="zh-CN" altLang="en-US" sz="2400"/>
              <a:t>警方指控他谋杀</a:t>
            </a:r>
            <a:r>
              <a:rPr lang="en-US" altLang="zh-CN" sz="2400"/>
              <a:t>(accuse) </a:t>
            </a:r>
            <a:r>
              <a:rPr lang="en-US" altLang="zh-CN" sz="2400">
                <a:solidFill>
                  <a:schemeClr val="bg1"/>
                </a:solidFill>
              </a:rPr>
              <a:t>The police accused him of murder.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3.be/get accustomed to </a:t>
            </a:r>
            <a:r>
              <a:rPr lang="en-US" altLang="zh-CN" sz="2400">
                <a:solidFill>
                  <a:schemeClr val="bg1"/>
                </a:solidFill>
              </a:rPr>
              <a:t>习惯于...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4.</a:t>
            </a:r>
            <a:r>
              <a:rPr lang="zh-CN" altLang="en-US" sz="2400"/>
              <a:t>取得巨大的成就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make a great achievement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5.</a:t>
            </a:r>
            <a:r>
              <a:rPr lang="zh-CN" altLang="en-US" sz="2400"/>
              <a:t>向父母承认撒谎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acknowledge lying to parents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6.acquire v. </a:t>
            </a:r>
            <a:r>
              <a:rPr lang="en-US" altLang="zh-CN" sz="2400">
                <a:solidFill>
                  <a:schemeClr val="bg1"/>
                </a:solidFill>
              </a:rPr>
              <a:t>获得；取得</a:t>
            </a:r>
            <a:endParaRPr lang="zh-CN" altLang="en-US" sz="2400"/>
          </a:p>
          <a:p>
            <a:r>
              <a:rPr lang="en-US" altLang="zh-CN" sz="2400"/>
              <a:t>7.act as </a:t>
            </a:r>
            <a:r>
              <a:rPr lang="en-US" altLang="zh-CN" sz="2400">
                <a:solidFill>
                  <a:schemeClr val="bg1"/>
                </a:solidFill>
              </a:rPr>
              <a:t>担任；充当</a:t>
            </a:r>
            <a:endParaRPr lang="zh-CN" altLang="en-US" sz="2400"/>
          </a:p>
          <a:p>
            <a:r>
              <a:rPr lang="zh-CN" altLang="en-US" sz="2400"/>
              <a:t> </a:t>
            </a:r>
            <a:r>
              <a:rPr lang="en-US" altLang="zh-CN" sz="2400"/>
              <a:t>  act on </a:t>
            </a:r>
            <a:r>
              <a:rPr lang="en-US" altLang="zh-CN" sz="2400">
                <a:solidFill>
                  <a:schemeClr val="bg1"/>
                </a:solidFill>
              </a:rPr>
              <a:t>对...起作用；按照...行动</a:t>
            </a:r>
            <a:endParaRPr lang="zh-CN" altLang="en-US" sz="2400"/>
          </a:p>
          <a:p>
            <a:r>
              <a:rPr lang="en-US" altLang="zh-CN" sz="2400"/>
              <a:t>   put sth. into action </a:t>
            </a:r>
            <a:r>
              <a:rPr lang="en-US" altLang="zh-CN" sz="2400">
                <a:solidFill>
                  <a:schemeClr val="bg1"/>
                </a:solidFill>
              </a:rPr>
              <a:t>把某事付诸实践</a:t>
            </a:r>
            <a:endParaRPr lang="zh-CN" altLang="en-US" sz="2400"/>
          </a:p>
          <a:p>
            <a:r>
              <a:rPr lang="en-US" altLang="zh-CN" sz="2400"/>
              <a:t>8.</a:t>
            </a:r>
            <a:r>
              <a:rPr lang="zh-CN" altLang="en-US" sz="2400"/>
              <a:t>积极参与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take an active part in...</a:t>
            </a:r>
            <a:endParaRPr lang="en-US" altLang="zh-CN" sz="2400"/>
          </a:p>
          <a:p>
            <a:r>
              <a:rPr lang="en-US" altLang="zh-CN" sz="2400"/>
              <a:t>9.</a:t>
            </a:r>
            <a:r>
              <a:rPr lang="zh-CN" altLang="en-US" sz="2400"/>
              <a:t>广告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advertisement</a:t>
            </a:r>
            <a:endParaRPr lang="en-US" altLang="zh-CN" sz="2400"/>
          </a:p>
          <a:p>
            <a:r>
              <a:rPr lang="en-US" altLang="zh-CN" sz="2400"/>
              <a:t>10.</a:t>
            </a:r>
            <a:r>
              <a:rPr lang="zh-CN" altLang="en-US" sz="2400"/>
              <a:t>这首歌曲改编自一首古老的民歌。</a:t>
            </a:r>
            <a:r>
              <a:rPr lang="en-US" altLang="zh-CN" sz="2400">
                <a:solidFill>
                  <a:schemeClr val="bg1"/>
                </a:solidFill>
              </a:rPr>
              <a:t>The song is adapted from an old folk song.</a:t>
            </a:r>
            <a:endParaRPr lang="en-US" altLang="zh-CN" sz="2400"/>
          </a:p>
          <a:p>
            <a:r>
              <a:rPr lang="en-US" altLang="zh-CN" sz="2400"/>
              <a:t>     adapt oneself to </a:t>
            </a:r>
            <a:r>
              <a:rPr lang="en-US" altLang="zh-CN" sz="2400">
                <a:solidFill>
                  <a:schemeClr val="bg1"/>
                </a:solidFill>
              </a:rPr>
              <a:t>适应于... </a:t>
            </a:r>
            <a:endParaRPr lang="en-US" altLang="zh-CN" sz="2400"/>
          </a:p>
          <a:p>
            <a:endParaRPr lang="en-US" altLang="zh-CN" sz="2400"/>
          </a:p>
        </p:txBody>
      </p:sp>
      <p:sp>
        <p:nvSpPr>
          <p:cNvPr id="5" name="文本框 4"/>
          <p:cNvSpPr txBox="1"/>
          <p:nvPr/>
        </p:nvSpPr>
        <p:spPr>
          <a:xfrm>
            <a:off x="6151880" y="93980"/>
            <a:ext cx="584708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11.</a:t>
            </a:r>
            <a:r>
              <a:rPr lang="zh-CN" altLang="en-US" sz="2400"/>
              <a:t>额外的；附加的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additional 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12.</a:t>
            </a:r>
            <a:r>
              <a:rPr lang="zh-CN" altLang="en-US" sz="2400"/>
              <a:t>对</a:t>
            </a:r>
            <a:r>
              <a:rPr lang="en-US" altLang="zh-CN" sz="2400"/>
              <a:t>...</a:t>
            </a:r>
            <a:r>
              <a:rPr lang="zh-CN" altLang="en-US" sz="2400"/>
              <a:t>上瘾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be addicted to...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13.</a:t>
            </a:r>
            <a:r>
              <a:rPr lang="zh-CN" altLang="en-US" sz="2400"/>
              <a:t>此外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in addition</a:t>
            </a:r>
            <a:r>
              <a:rPr lang="en-US" altLang="zh-CN" sz="2400"/>
              <a:t> / </a:t>
            </a:r>
            <a:r>
              <a:rPr lang="en-US" altLang="zh-CN" sz="2400">
                <a:solidFill>
                  <a:schemeClr val="bg1"/>
                </a:solidFill>
              </a:rPr>
              <a:t>besides</a:t>
            </a:r>
            <a:r>
              <a:rPr lang="en-US" altLang="zh-CN" sz="2400"/>
              <a:t> / </a:t>
            </a:r>
            <a:r>
              <a:rPr lang="en-US" altLang="zh-CN" sz="2400">
                <a:solidFill>
                  <a:schemeClr val="bg1"/>
                </a:solidFill>
              </a:rPr>
              <a:t>moreover</a:t>
            </a:r>
            <a:r>
              <a:rPr lang="en-US" altLang="zh-CN" sz="2400"/>
              <a:t> / </a:t>
            </a:r>
            <a:r>
              <a:rPr lang="en-US" altLang="zh-CN" sz="2400">
                <a:solidFill>
                  <a:schemeClr val="bg1"/>
                </a:solidFill>
              </a:rPr>
              <a:t>furthermore</a:t>
            </a:r>
            <a:endParaRPr lang="en-US" altLang="zh-CN" sz="2400"/>
          </a:p>
          <a:p>
            <a:r>
              <a:rPr lang="en-US" altLang="zh-CN" sz="2400"/>
              <a:t>14.address n. </a:t>
            </a:r>
            <a:r>
              <a:rPr lang="en-US" altLang="zh-CN" sz="2400">
                <a:solidFill>
                  <a:schemeClr val="bg1"/>
                </a:solidFill>
              </a:rPr>
              <a:t>演说；地址</a:t>
            </a:r>
            <a:r>
              <a:rPr lang="en-US" altLang="zh-CN" sz="2400"/>
              <a:t> v. </a:t>
            </a:r>
            <a:r>
              <a:rPr lang="en-US" altLang="zh-CN" sz="2400">
                <a:solidFill>
                  <a:schemeClr val="bg1"/>
                </a:solidFill>
              </a:rPr>
              <a:t>发表演说；处理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     </a:t>
            </a:r>
            <a:r>
              <a:rPr lang="zh-CN" altLang="en-US" sz="2400"/>
              <a:t>发表主旨演讲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address a keynote speech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15.adequate adj. </a:t>
            </a:r>
            <a:r>
              <a:rPr lang="en-US" altLang="zh-CN" sz="2400">
                <a:solidFill>
                  <a:schemeClr val="bg1"/>
                </a:solidFill>
              </a:rPr>
              <a:t>足够的；恰当的</a:t>
            </a:r>
            <a:endParaRPr lang="zh-CN" altLang="en-US" sz="2400"/>
          </a:p>
          <a:p>
            <a:r>
              <a:rPr lang="en-US" altLang="zh-CN" sz="2400"/>
              <a:t>16.</a:t>
            </a:r>
            <a:r>
              <a:rPr lang="zh-CN" altLang="en-US" sz="2400"/>
              <a:t>调整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adjustment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     </a:t>
            </a:r>
            <a:r>
              <a:rPr lang="zh-CN" altLang="en-US" sz="2400"/>
              <a:t>适应气候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adjust to the climate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17.</a:t>
            </a:r>
            <a:r>
              <a:rPr lang="zh-CN" altLang="en-US" sz="2400"/>
              <a:t>赞美；钦佩</a:t>
            </a:r>
            <a:r>
              <a:rPr lang="en-US" altLang="zh-CN" sz="2400"/>
              <a:t> v. </a:t>
            </a:r>
            <a:r>
              <a:rPr lang="en-US" altLang="zh-CN" sz="2400">
                <a:solidFill>
                  <a:schemeClr val="bg1"/>
                </a:solidFill>
              </a:rPr>
              <a:t>admire</a:t>
            </a:r>
            <a:endParaRPr lang="en-US" altLang="zh-CN" sz="2400"/>
          </a:p>
          <a:p>
            <a:r>
              <a:rPr lang="en-US" altLang="zh-CN" sz="2400"/>
              <a:t>     </a:t>
            </a:r>
            <a:r>
              <a:rPr lang="zh-CN" altLang="en-US" sz="2400"/>
              <a:t>钦佩爱国者的无私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admire patriots for their selflessness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18.</a:t>
            </a:r>
            <a:r>
              <a:rPr lang="zh-CN" altLang="en-US" sz="2400"/>
              <a:t>被大学录取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be admitted by a university</a:t>
            </a:r>
            <a:endParaRPr lang="en-US" altLang="zh-CN" sz="2400"/>
          </a:p>
          <a:p>
            <a:r>
              <a:rPr lang="en-US" altLang="zh-CN" sz="2400"/>
              <a:t>19.</a:t>
            </a:r>
            <a:r>
              <a:rPr lang="zh-CN" altLang="en-US" sz="2400"/>
              <a:t>青春期的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adolescent</a:t>
            </a:r>
            <a:endParaRPr lang="en-US" altLang="zh-CN" sz="2400"/>
          </a:p>
          <a:p>
            <a:r>
              <a:rPr lang="en-US" altLang="zh-CN" sz="2400"/>
              <a:t>     </a:t>
            </a:r>
            <a:r>
              <a:rPr lang="zh-CN" altLang="en-US" sz="2400"/>
              <a:t>青春期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adolescence</a:t>
            </a:r>
            <a:r>
              <a:rPr lang="en-US" altLang="zh-CN" sz="2400"/>
              <a:t>/</a:t>
            </a:r>
            <a:r>
              <a:rPr lang="en-US" altLang="zh-CN" sz="2400">
                <a:solidFill>
                  <a:schemeClr val="bg1"/>
                </a:solidFill>
              </a:rPr>
              <a:t>puberty</a:t>
            </a:r>
            <a:endParaRPr lang="en-US" altLang="zh-CN" sz="2400"/>
          </a:p>
          <a:p>
            <a:r>
              <a:rPr lang="en-US" altLang="zh-CN" sz="2400"/>
              <a:t>20.adopt v. </a:t>
            </a:r>
            <a:r>
              <a:rPr lang="zh-CN" altLang="en-US" sz="2400">
                <a:solidFill>
                  <a:schemeClr val="bg1"/>
                </a:solidFill>
              </a:rPr>
              <a:t>采</a:t>
            </a:r>
            <a:r>
              <a:rPr lang="en-US" altLang="zh-CN" sz="2400">
                <a:solidFill>
                  <a:schemeClr val="bg1"/>
                </a:solidFill>
              </a:rPr>
              <a:t>纳；批准；收养</a:t>
            </a:r>
            <a:endParaRPr lang="en-US" altLang="zh-CN" sz="2400"/>
          </a:p>
          <a:p>
            <a:endParaRPr lang="en-US" altLang="zh-CN" sz="24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</Words>
  <Application>WPS 演示</Application>
  <PresentationFormat>宽屏</PresentationFormat>
  <Paragraphs>32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158</cp:revision>
  <dcterms:created xsi:type="dcterms:W3CDTF">2019-06-19T02:08:00Z</dcterms:created>
  <dcterms:modified xsi:type="dcterms:W3CDTF">2025-01-18T14:58:24Z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E47B2AD0CCF4454995742A4AE3D814C4_11</vt:lpwstr>
  </property>
</Properties>
</file>