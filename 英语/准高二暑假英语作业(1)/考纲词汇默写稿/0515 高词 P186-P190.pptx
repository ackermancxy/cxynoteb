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65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1.frame n. </a:t>
            </a:r>
            <a:r>
              <a:rPr lang="zh-CN" altLang="en-US" sz="2400">
                <a:solidFill>
                  <a:schemeClr val="bg1"/>
                </a:solidFill>
              </a:rPr>
              <a:t>框架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2.to be frank </a:t>
            </a:r>
            <a:r>
              <a:rPr lang="zh-CN" altLang="en-US" sz="2400">
                <a:solidFill>
                  <a:schemeClr val="bg1"/>
                </a:solidFill>
              </a:rPr>
              <a:t>坦白来说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be frank with the police </a:t>
            </a:r>
            <a:r>
              <a:rPr lang="zh-CN" altLang="en-US" sz="2400">
                <a:solidFill>
                  <a:schemeClr val="bg1"/>
                </a:solidFill>
              </a:rPr>
              <a:t>对警察坦白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从种族歧视中解放出来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free from the racial discrimination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结冰；凝结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freeze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</a:t>
            </a:r>
            <a:r>
              <a:rPr lang="zh-CN" altLang="en-US" sz="2400">
                <a:solidFill>
                  <a:schemeClr val="tx1"/>
                </a:solidFill>
              </a:rPr>
              <a:t>频率；频繁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frequency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淡水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fresh water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大一新生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freshman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摩擦；分歧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friction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</a:t>
            </a:r>
            <a:r>
              <a:rPr lang="zh-CN" altLang="en-US" sz="2400">
                <a:solidFill>
                  <a:schemeClr val="tx1"/>
                </a:solidFill>
              </a:rPr>
              <a:t>受惊的；害怕的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frightened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</a:t>
            </a:r>
            <a:r>
              <a:rPr lang="zh-CN" altLang="en-US" sz="2400">
                <a:solidFill>
                  <a:schemeClr val="tx1"/>
                </a:solidFill>
              </a:rPr>
              <a:t>从那时起 </a:t>
            </a:r>
            <a:r>
              <a:rPr lang="zh-CN" altLang="en-US" sz="2400">
                <a:solidFill>
                  <a:schemeClr val="bg1"/>
                </a:solidFill>
              </a:rPr>
              <a:t>from then on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11.frontier n. </a:t>
            </a:r>
            <a:r>
              <a:rPr lang="zh-CN" altLang="en-US" sz="2400">
                <a:solidFill>
                  <a:schemeClr val="bg1"/>
                </a:solidFill>
              </a:rPr>
              <a:t>边界；边境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12.frost n. </a:t>
            </a:r>
            <a:r>
              <a:rPr lang="zh-CN" altLang="en-US" sz="2400">
                <a:solidFill>
                  <a:schemeClr val="bg1"/>
                </a:solidFill>
              </a:rPr>
              <a:t>霜；严寒天气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</a:t>
            </a:r>
            <a:r>
              <a:rPr lang="zh-CN" altLang="en-US" sz="2400">
                <a:solidFill>
                  <a:schemeClr val="tx1"/>
                </a:solidFill>
              </a:rPr>
              <a:t>沮丧；挫败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frustration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</a:t>
            </a:r>
            <a:r>
              <a:rPr lang="zh-CN" altLang="en-US" sz="2400">
                <a:solidFill>
                  <a:schemeClr val="tx1"/>
                </a:solidFill>
              </a:rPr>
              <a:t>履行义务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fulfill the task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15.</a:t>
            </a:r>
            <a:r>
              <a:rPr lang="zh-CN" altLang="en-US" sz="2400">
                <a:solidFill>
                  <a:schemeClr val="tx1"/>
                </a:solidFill>
              </a:rPr>
              <a:t>充满信心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be full of confidence</a:t>
            </a: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230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</a:t>
            </a:r>
            <a:r>
              <a:rPr lang="en-US" sz="2400">
                <a:solidFill>
                  <a:schemeClr val="tx1"/>
                </a:solidFill>
              </a:rPr>
              <a:t>6.make fun of </a:t>
            </a:r>
            <a:r>
              <a:rPr lang="zh-CN" altLang="en-US" sz="2400">
                <a:solidFill>
                  <a:schemeClr val="bg1"/>
                </a:solidFill>
              </a:rPr>
              <a:t>取笑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17.function n. </a:t>
            </a:r>
            <a:r>
              <a:rPr lang="zh-CN" altLang="en-US" sz="2400">
                <a:solidFill>
                  <a:schemeClr val="bg1"/>
                </a:solidFill>
              </a:rPr>
              <a:t>功能；作用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18.</a:t>
            </a:r>
            <a:r>
              <a:rPr lang="zh-CN" altLang="en-US" sz="2400">
                <a:solidFill>
                  <a:schemeClr val="tx1"/>
                </a:solidFill>
              </a:rPr>
              <a:t>基础的；基本的</a:t>
            </a:r>
            <a:r>
              <a:rPr lang="en-US" altLang="zh-CN" sz="2400">
                <a:solidFill>
                  <a:schemeClr val="tx1"/>
                </a:solidFill>
              </a:rPr>
              <a:t> adj.</a:t>
            </a:r>
            <a:r>
              <a:rPr lang="zh-CN" altLang="en-US" sz="2400">
                <a:solidFill>
                  <a:schemeClr val="bg1"/>
                </a:solidFill>
              </a:rPr>
              <a:t> fundamental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</a:t>
            </a:r>
            <a:r>
              <a:rPr lang="zh-CN" altLang="en-US" sz="2400">
                <a:solidFill>
                  <a:schemeClr val="tx1"/>
                </a:solidFill>
              </a:rPr>
              <a:t>葬礼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funeral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</a:t>
            </a:r>
            <a:r>
              <a:rPr lang="zh-CN" altLang="en-US" sz="2400">
                <a:solidFill>
                  <a:schemeClr val="tx1"/>
                </a:solidFill>
              </a:rPr>
              <a:t>皮毛；软毛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fur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21.</a:t>
            </a:r>
            <a:r>
              <a:rPr lang="zh-CN" altLang="en-US" sz="2400">
                <a:solidFill>
                  <a:schemeClr val="tx1"/>
                </a:solidFill>
              </a:rPr>
              <a:t>家具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furniture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22.further the cause of cultural cooperation </a:t>
            </a:r>
            <a:r>
              <a:rPr lang="zh-CN" altLang="en-US" sz="2400">
                <a:solidFill>
                  <a:schemeClr val="bg1"/>
                </a:solidFill>
              </a:rPr>
              <a:t>促进文化合作事业</a:t>
            </a:r>
            <a:endParaRPr lang="zh-CN" altLang="en-US" sz="2400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1.draw in </a:t>
            </a:r>
            <a:r>
              <a:rPr lang="zh-CN" altLang="en-US" sz="2400">
                <a:solidFill>
                  <a:schemeClr val="bg1"/>
                </a:solidFill>
              </a:rPr>
              <a:t>吸引；到站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2.in collaboration with </a:t>
            </a:r>
            <a:r>
              <a:rPr lang="zh-CN" altLang="en-US" sz="2400">
                <a:solidFill>
                  <a:schemeClr val="bg1"/>
                </a:solidFill>
              </a:rPr>
              <a:t>与...合作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3.immersive adj. </a:t>
            </a:r>
            <a:r>
              <a:rPr lang="zh-CN" altLang="en-US" sz="2400">
                <a:solidFill>
                  <a:schemeClr val="bg1"/>
                </a:solidFill>
              </a:rPr>
              <a:t>身临其境的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4.browse v. </a:t>
            </a:r>
            <a:r>
              <a:rPr lang="zh-CN" altLang="en-US" sz="2400">
                <a:solidFill>
                  <a:schemeClr val="bg1"/>
                </a:solidFill>
              </a:rPr>
              <a:t>浏览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5.cart n. </a:t>
            </a:r>
            <a:r>
              <a:rPr lang="zh-CN" altLang="en-US" sz="2400">
                <a:solidFill>
                  <a:schemeClr val="bg1"/>
                </a:solidFill>
              </a:rPr>
              <a:t>购物车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6.purchase n. </a:t>
            </a:r>
            <a:r>
              <a:rPr lang="zh-CN" altLang="en-US" sz="2400">
                <a:solidFill>
                  <a:schemeClr val="bg1"/>
                </a:solidFill>
              </a:rPr>
              <a:t>购买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7.mimic v. </a:t>
            </a:r>
            <a:r>
              <a:rPr lang="zh-CN" altLang="en-US" sz="2400">
                <a:solidFill>
                  <a:schemeClr val="bg1"/>
                </a:solidFill>
              </a:rPr>
              <a:t>模仿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8.impaired adj. </a:t>
            </a:r>
            <a:r>
              <a:rPr lang="zh-CN" altLang="en-US" sz="2400">
                <a:solidFill>
                  <a:schemeClr val="bg1"/>
                </a:solidFill>
              </a:rPr>
              <a:t>有缺陷的；受损的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9.choir n. </a:t>
            </a:r>
            <a:r>
              <a:rPr lang="zh-CN" altLang="en-US" sz="2400">
                <a:solidFill>
                  <a:schemeClr val="bg1"/>
                </a:solidFill>
              </a:rPr>
              <a:t>合唱团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10.lyric n. </a:t>
            </a:r>
            <a:r>
              <a:rPr lang="zh-CN" altLang="en-US" sz="2400">
                <a:solidFill>
                  <a:schemeClr val="bg1"/>
                </a:solidFill>
              </a:rPr>
              <a:t>歌词nfidence</a:t>
            </a:r>
            <a:endParaRPr lang="zh-CN" altLang="en-US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713</Words>
  <Application>WPS 演示</Application>
  <PresentationFormat>宽屏</PresentationFormat>
  <Paragraphs>36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160</cp:revision>
  <dcterms:created xsi:type="dcterms:W3CDTF">2019-06-19T02:08:00Z</dcterms:created>
  <dcterms:modified xsi:type="dcterms:W3CDTF">2024-09-24T00:33:13Z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2052-12.1.0.18276</vt:lpwstr>
  </property>
  <property fmtid="{D5CDD505-2E9C-101B-9397-08002B2CF9AE}" pid="3" name="ICV">
    <vt:lpwstr>6A3B5F3D9DFC43A1B4A5A9DD607D266B_11</vt:lpwstr>
  </property>
</Properties>
</file>