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12192000" cy="6858000"/>
  <p:notesSz cx="6858000" cy="9144000"/>
  <p:custDataLst>
    <p:tags r:id="rId7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1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>
      <p:cViewPr varScale="1">
        <p:scale>
          <a:sx n="99" d="100"/>
          <a:sy n="99" d="100"/>
        </p:scale>
        <p:origin x="84" y="582"/>
      </p:cViewPr>
      <p:guideLst>
        <p:guide orient="horz" pos="2151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gs" Target="tags/tag64.xml"/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6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177800" y="93980"/>
            <a:ext cx="5993765" cy="66427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400">
                <a:solidFill>
                  <a:schemeClr val="tx1"/>
                </a:solidFill>
              </a:rPr>
              <a:t>1.</a:t>
            </a:r>
            <a:r>
              <a:rPr lang="zh-CN" altLang="en-US" sz="2400">
                <a:solidFill>
                  <a:schemeClr val="tx1"/>
                </a:solidFill>
              </a:rPr>
              <a:t>海豚</a:t>
            </a:r>
            <a:r>
              <a:rPr lang="en-US" altLang="zh-CN" sz="2400">
                <a:solidFill>
                  <a:schemeClr val="tx1"/>
                </a:solidFill>
              </a:rPr>
              <a:t> n. </a:t>
            </a:r>
            <a:r>
              <a:rPr lang="en-US" altLang="zh-CN" sz="2400">
                <a:solidFill>
                  <a:schemeClr val="bg1"/>
                </a:solidFill>
              </a:rPr>
              <a:t>dolphin</a:t>
            </a:r>
            <a:endParaRPr lang="en-US" altLang="zh-CN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2.domain n. </a:t>
            </a:r>
            <a:r>
              <a:rPr lang="en-US" altLang="zh-CN" sz="2400">
                <a:solidFill>
                  <a:schemeClr val="bg1"/>
                </a:solidFill>
              </a:rPr>
              <a:t>领域；领地</a:t>
            </a:r>
            <a:endParaRPr lang="en-US" altLang="zh-CN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3.domestic adj. </a:t>
            </a:r>
            <a:r>
              <a:rPr lang="en-US" altLang="zh-CN" sz="2400">
                <a:solidFill>
                  <a:schemeClr val="bg1"/>
                </a:solidFill>
              </a:rPr>
              <a:t>国内的；驯养的</a:t>
            </a:r>
            <a:endParaRPr lang="zh-CN" altLang="en-US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4.</a:t>
            </a:r>
            <a:r>
              <a:rPr lang="zh-CN" altLang="en-US" sz="2400">
                <a:solidFill>
                  <a:schemeClr val="tx1"/>
                </a:solidFill>
              </a:rPr>
              <a:t>占优势的；支配的</a:t>
            </a:r>
            <a:r>
              <a:rPr lang="en-US" altLang="zh-CN" sz="2400">
                <a:solidFill>
                  <a:schemeClr val="tx1"/>
                </a:solidFill>
              </a:rPr>
              <a:t> adj. </a:t>
            </a:r>
            <a:r>
              <a:rPr lang="en-US" altLang="zh-CN" sz="2400">
                <a:solidFill>
                  <a:schemeClr val="bg1"/>
                </a:solidFill>
              </a:rPr>
              <a:t>dominant</a:t>
            </a:r>
            <a:endParaRPr lang="en-US" altLang="zh-CN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   </a:t>
            </a:r>
            <a:r>
              <a:rPr lang="zh-CN" altLang="en-US" sz="2400">
                <a:solidFill>
                  <a:schemeClr val="tx1"/>
                </a:solidFill>
              </a:rPr>
              <a:t>支配；控制</a:t>
            </a:r>
            <a:r>
              <a:rPr lang="en-US" altLang="zh-CN" sz="2400">
                <a:solidFill>
                  <a:schemeClr val="tx1"/>
                </a:solidFill>
              </a:rPr>
              <a:t> v. </a:t>
            </a:r>
            <a:r>
              <a:rPr lang="en-US" altLang="zh-CN" sz="2400">
                <a:solidFill>
                  <a:schemeClr val="bg1"/>
                </a:solidFill>
              </a:rPr>
              <a:t>dominate</a:t>
            </a:r>
            <a:endParaRPr lang="en-US" altLang="zh-CN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5.</a:t>
            </a:r>
            <a:r>
              <a:rPr lang="zh-CN" altLang="en-US" sz="2400">
                <a:solidFill>
                  <a:schemeClr val="tx1"/>
                </a:solidFill>
              </a:rPr>
              <a:t>捐赠</a:t>
            </a:r>
            <a:r>
              <a:rPr lang="en-US" altLang="zh-CN" sz="2400">
                <a:solidFill>
                  <a:schemeClr val="tx1"/>
                </a:solidFill>
              </a:rPr>
              <a:t> n. </a:t>
            </a:r>
            <a:r>
              <a:rPr lang="en-US" altLang="zh-CN" sz="2400">
                <a:solidFill>
                  <a:schemeClr val="bg1"/>
                </a:solidFill>
              </a:rPr>
              <a:t>donation</a:t>
            </a:r>
            <a:endParaRPr lang="en-US" altLang="zh-CN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6.</a:t>
            </a:r>
            <a:r>
              <a:rPr lang="zh-CN" altLang="en-US" sz="2400">
                <a:solidFill>
                  <a:schemeClr val="tx1"/>
                </a:solidFill>
              </a:rPr>
              <a:t>驴</a:t>
            </a:r>
            <a:r>
              <a:rPr lang="en-US" altLang="zh-CN" sz="2400">
                <a:solidFill>
                  <a:schemeClr val="tx1"/>
                </a:solidFill>
              </a:rPr>
              <a:t> n. </a:t>
            </a:r>
            <a:r>
              <a:rPr lang="en-US" altLang="zh-CN" sz="2400">
                <a:solidFill>
                  <a:schemeClr val="bg1"/>
                </a:solidFill>
              </a:rPr>
              <a:t>donkey</a:t>
            </a:r>
            <a:endParaRPr lang="en-US" altLang="zh-CN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7.</a:t>
            </a:r>
            <a:r>
              <a:rPr lang="zh-CN" altLang="en-US" sz="2400">
                <a:solidFill>
                  <a:schemeClr val="tx1"/>
                </a:solidFill>
              </a:rPr>
              <a:t>宿舍；寝室</a:t>
            </a:r>
            <a:r>
              <a:rPr lang="en-US" altLang="zh-CN" sz="2400">
                <a:solidFill>
                  <a:schemeClr val="tx1"/>
                </a:solidFill>
              </a:rPr>
              <a:t> n. </a:t>
            </a:r>
            <a:r>
              <a:rPr lang="en-US" altLang="zh-CN" sz="2400">
                <a:solidFill>
                  <a:schemeClr val="bg1"/>
                </a:solidFill>
              </a:rPr>
              <a:t>dormitory</a:t>
            </a:r>
            <a:endParaRPr lang="en-US" altLang="zh-CN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8.a valley dotted with a few huts and trees </a:t>
            </a:r>
            <a:r>
              <a:rPr lang="en-US" altLang="zh-CN" sz="2400">
                <a:solidFill>
                  <a:schemeClr val="bg1"/>
                </a:solidFill>
              </a:rPr>
              <a:t>几间小屋和几棵树点缀的山谷</a:t>
            </a:r>
            <a:endParaRPr lang="en-US" altLang="zh-CN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9.</a:t>
            </a:r>
            <a:r>
              <a:rPr lang="zh-CN" altLang="en-US" sz="2400">
                <a:solidFill>
                  <a:schemeClr val="tx1"/>
                </a:solidFill>
              </a:rPr>
              <a:t>两倍的</a:t>
            </a:r>
            <a:r>
              <a:rPr lang="en-US" altLang="zh-CN" sz="2400">
                <a:solidFill>
                  <a:schemeClr val="tx1"/>
                </a:solidFill>
              </a:rPr>
              <a:t> adj. </a:t>
            </a:r>
            <a:r>
              <a:rPr lang="en-US" altLang="zh-CN" sz="2400">
                <a:solidFill>
                  <a:schemeClr val="bg1"/>
                </a:solidFill>
              </a:rPr>
              <a:t>double</a:t>
            </a:r>
            <a:endParaRPr lang="en-US" altLang="zh-CN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10.</a:t>
            </a:r>
            <a:r>
              <a:rPr lang="zh-CN" altLang="en-US" sz="2400">
                <a:solidFill>
                  <a:schemeClr val="tx1"/>
                </a:solidFill>
              </a:rPr>
              <a:t>毫无疑问</a:t>
            </a:r>
            <a:r>
              <a:rPr lang="en-US" altLang="zh-CN" sz="2400">
                <a:solidFill>
                  <a:schemeClr val="tx1"/>
                </a:solidFill>
              </a:rPr>
              <a:t>... </a:t>
            </a:r>
            <a:r>
              <a:rPr lang="en-US" altLang="zh-CN" sz="2400">
                <a:solidFill>
                  <a:schemeClr val="bg1"/>
                </a:solidFill>
              </a:rPr>
              <a:t>there is no doubt that</a:t>
            </a:r>
            <a:endParaRPr lang="en-US" altLang="zh-CN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     beyond doubt </a:t>
            </a:r>
            <a:r>
              <a:rPr lang="en-US" altLang="zh-CN" sz="2400">
                <a:solidFill>
                  <a:schemeClr val="bg1"/>
                </a:solidFill>
              </a:rPr>
              <a:t>毫无疑问</a:t>
            </a:r>
            <a:endParaRPr lang="en-US" altLang="zh-CN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11.be down with </a:t>
            </a:r>
            <a:r>
              <a:rPr lang="en-US" altLang="zh-CN" sz="2400">
                <a:solidFill>
                  <a:schemeClr val="bg1"/>
                </a:solidFill>
              </a:rPr>
              <a:t>由...病倒</a:t>
            </a:r>
            <a:endParaRPr lang="en-US" altLang="zh-CN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12.</a:t>
            </a:r>
            <a:r>
              <a:rPr lang="zh-CN" altLang="en-US" sz="2400">
                <a:solidFill>
                  <a:schemeClr val="tx1"/>
                </a:solidFill>
              </a:rPr>
              <a:t>下载</a:t>
            </a:r>
            <a:r>
              <a:rPr lang="en-US" altLang="zh-CN" sz="2400">
                <a:solidFill>
                  <a:schemeClr val="tx1"/>
                </a:solidFill>
              </a:rPr>
              <a:t> v. </a:t>
            </a:r>
            <a:r>
              <a:rPr lang="en-US" altLang="zh-CN" sz="2400">
                <a:solidFill>
                  <a:schemeClr val="bg1"/>
                </a:solidFill>
              </a:rPr>
              <a:t>download</a:t>
            </a:r>
            <a:endParaRPr lang="en-US" altLang="zh-CN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13.downtown n. </a:t>
            </a:r>
            <a:r>
              <a:rPr lang="en-US" altLang="zh-CN" sz="2400">
                <a:solidFill>
                  <a:schemeClr val="bg1"/>
                </a:solidFill>
              </a:rPr>
              <a:t>市中心</a:t>
            </a:r>
            <a:endParaRPr lang="en-US" altLang="zh-CN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14.dozen n. </a:t>
            </a:r>
            <a:r>
              <a:rPr lang="zh-CN" altLang="en-US" sz="2400">
                <a:solidFill>
                  <a:schemeClr val="bg1"/>
                </a:solidFill>
              </a:rPr>
              <a:t>一打；十二个</a:t>
            </a:r>
            <a:endParaRPr lang="zh-CN" altLang="en-US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     dozens of </a:t>
            </a:r>
            <a:r>
              <a:rPr lang="zh-CN" altLang="en-US" sz="2400">
                <a:solidFill>
                  <a:schemeClr val="bg1"/>
                </a:solidFill>
              </a:rPr>
              <a:t>许多</a:t>
            </a:r>
            <a:endParaRPr lang="zh-CN" altLang="en-US" sz="2400">
              <a:solidFill>
                <a:schemeClr val="tx1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6298565" y="93980"/>
            <a:ext cx="5993765" cy="66427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400">
                <a:solidFill>
                  <a:schemeClr val="tx1"/>
                </a:solidFill>
              </a:rPr>
              <a:t>15.draft n. </a:t>
            </a:r>
            <a:r>
              <a:rPr lang="zh-CN" altLang="en-US" sz="2400">
                <a:solidFill>
                  <a:schemeClr val="bg1"/>
                </a:solidFill>
              </a:rPr>
              <a:t>草稿；草案</a:t>
            </a:r>
            <a:endParaRPr lang="zh-CN" altLang="en-US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16.drag v. </a:t>
            </a:r>
            <a:r>
              <a:rPr lang="zh-CN" altLang="en-US" sz="2400">
                <a:solidFill>
                  <a:schemeClr val="bg1"/>
                </a:solidFill>
              </a:rPr>
              <a:t>拖；拉</a:t>
            </a:r>
            <a:endParaRPr lang="zh-CN" altLang="en-US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17.drain v. </a:t>
            </a:r>
            <a:r>
              <a:rPr lang="zh-CN" altLang="en-US" sz="2400">
                <a:solidFill>
                  <a:schemeClr val="bg1"/>
                </a:solidFill>
              </a:rPr>
              <a:t>消耗</a:t>
            </a:r>
            <a:r>
              <a:rPr lang="en-US" altLang="zh-CN" sz="2400">
                <a:solidFill>
                  <a:schemeClr val="tx1"/>
                </a:solidFill>
              </a:rPr>
              <a:t> n. </a:t>
            </a:r>
            <a:r>
              <a:rPr lang="zh-CN" altLang="en-US" sz="2400">
                <a:solidFill>
                  <a:schemeClr val="bg1"/>
                </a:solidFill>
              </a:rPr>
              <a:t>排水沟；消耗</a:t>
            </a:r>
            <a:endParaRPr lang="zh-CN" altLang="en-US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18.</a:t>
            </a:r>
            <a:r>
              <a:rPr lang="zh-CN" altLang="en-US" sz="2400">
                <a:solidFill>
                  <a:schemeClr val="tx1"/>
                </a:solidFill>
              </a:rPr>
              <a:t>戏剧性的</a:t>
            </a:r>
            <a:r>
              <a:rPr lang="en-US" altLang="zh-CN" sz="2400">
                <a:solidFill>
                  <a:schemeClr val="tx1"/>
                </a:solidFill>
              </a:rPr>
              <a:t> adj. </a:t>
            </a:r>
            <a:r>
              <a:rPr lang="zh-CN" altLang="en-US" sz="2400">
                <a:solidFill>
                  <a:schemeClr val="bg1"/>
                </a:solidFill>
              </a:rPr>
              <a:t>dramatic</a:t>
            </a:r>
            <a:endParaRPr lang="en-US" altLang="zh-CN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19.draw v. </a:t>
            </a:r>
            <a:r>
              <a:rPr lang="zh-CN" altLang="en-US" sz="2400">
                <a:solidFill>
                  <a:schemeClr val="bg1"/>
                </a:solidFill>
              </a:rPr>
              <a:t>拖；拉；吸引；绘画；提取</a:t>
            </a:r>
            <a:endParaRPr lang="zh-CN" altLang="en-US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20.</a:t>
            </a:r>
            <a:r>
              <a:rPr lang="zh-CN" altLang="en-US" sz="2400">
                <a:solidFill>
                  <a:schemeClr val="tx1"/>
                </a:solidFill>
              </a:rPr>
              <a:t>梦想做某事</a:t>
            </a:r>
            <a:r>
              <a:rPr lang="en-US" altLang="zh-CN" sz="2400">
                <a:solidFill>
                  <a:schemeClr val="tx1"/>
                </a:solidFill>
              </a:rPr>
              <a:t> </a:t>
            </a:r>
            <a:r>
              <a:rPr lang="zh-CN" altLang="en-US" sz="2400">
                <a:solidFill>
                  <a:schemeClr val="bg1"/>
                </a:solidFill>
              </a:rPr>
              <a:t>dream of doing sth.</a:t>
            </a:r>
            <a:endParaRPr lang="en-US" altLang="zh-CN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21.drift v. </a:t>
            </a:r>
            <a:r>
              <a:rPr lang="zh-CN" altLang="en-US" sz="2400">
                <a:solidFill>
                  <a:schemeClr val="bg1"/>
                </a:solidFill>
              </a:rPr>
              <a:t>漂流</a:t>
            </a:r>
            <a:endParaRPr lang="zh-CN" altLang="en-US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22.drill v. </a:t>
            </a:r>
            <a:r>
              <a:rPr lang="zh-CN" altLang="en-US" sz="2400">
                <a:solidFill>
                  <a:schemeClr val="bg1"/>
                </a:solidFill>
              </a:rPr>
              <a:t>钻孔；操练 n. 钻头；训练</a:t>
            </a:r>
            <a:endParaRPr lang="zh-CN" altLang="en-US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23.drip v. </a:t>
            </a:r>
            <a:r>
              <a:rPr lang="zh-CN" altLang="en-US" sz="2400">
                <a:solidFill>
                  <a:schemeClr val="bg1"/>
                </a:solidFill>
              </a:rPr>
              <a:t>滴下</a:t>
            </a:r>
            <a:endParaRPr lang="zh-CN" altLang="en-US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24.drive sb. to do sth. </a:t>
            </a:r>
            <a:r>
              <a:rPr lang="zh-CN" altLang="en-US" sz="2400">
                <a:solidFill>
                  <a:schemeClr val="bg1"/>
                </a:solidFill>
              </a:rPr>
              <a:t>逼迫某人做某事</a:t>
            </a:r>
            <a:endParaRPr lang="zh-CN" altLang="en-US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25.</a:t>
            </a:r>
            <a:r>
              <a:rPr lang="zh-CN" altLang="en-US" sz="2400">
                <a:solidFill>
                  <a:schemeClr val="tx1"/>
                </a:solidFill>
              </a:rPr>
              <a:t>无人机</a:t>
            </a:r>
            <a:r>
              <a:rPr lang="en-US" altLang="zh-CN" sz="2400">
                <a:solidFill>
                  <a:schemeClr val="tx1"/>
                </a:solidFill>
              </a:rPr>
              <a:t> n. </a:t>
            </a:r>
            <a:r>
              <a:rPr lang="zh-CN" altLang="en-US" sz="2400">
                <a:solidFill>
                  <a:schemeClr val="bg1"/>
                </a:solidFill>
              </a:rPr>
              <a:t>drone</a:t>
            </a:r>
            <a:endParaRPr lang="zh-CN" altLang="en-US" sz="2400">
              <a:solidFill>
                <a:schemeClr val="bg1"/>
              </a:solidFill>
            </a:endParaRPr>
          </a:p>
        </p:txBody>
      </p:sp>
    </p:spTree>
    <p:custDataLst>
      <p:tags r:id="rId1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4.xml><?xml version="1.0" encoding="utf-8"?>
<p:tagLst xmlns:p="http://schemas.openxmlformats.org/presentationml/2006/main">
  <p:tag name="commondata" val="eyJoZGlkIjoiOGY5NTQyMzkzNzFlMTQ3ZjlhODAwMTUzYmI4YzEyZTcifQ==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595</Words>
  <Application>WPS 演示</Application>
  <PresentationFormat>宽屏</PresentationFormat>
  <Paragraphs>30</Paragraphs>
  <Slides>1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9" baseType="lpstr">
      <vt:lpstr>Arial</vt:lpstr>
      <vt:lpstr>宋体</vt:lpstr>
      <vt:lpstr>Wingdings</vt:lpstr>
      <vt:lpstr>Wingdings</vt:lpstr>
      <vt:lpstr>微软雅黑</vt:lpstr>
      <vt:lpstr>Arial Unicode MS</vt:lpstr>
      <vt:lpstr>Calibri</vt:lpstr>
      <vt:lpstr>WPS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程多涛</cp:lastModifiedBy>
  <cp:revision>156</cp:revision>
  <dcterms:created xsi:type="dcterms:W3CDTF">2019-06-19T02:08:00Z</dcterms:created>
  <dcterms:modified xsi:type="dcterms:W3CDTF">2024-05-04T08:23:34Z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2052-12.1.0.16417</vt:lpwstr>
  </property>
  <property fmtid="{D5CDD505-2E9C-101B-9397-08002B2CF9AE}" pid="3" name="ICV">
    <vt:lpwstr>08C8B15EC031439BA1AE7C02A7E33A1C_11</vt:lpwstr>
  </property>
</Properties>
</file>