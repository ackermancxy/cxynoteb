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12192000" cy="6858000"/>
  <p:notesSz cx="6858000" cy="9144000"/>
  <p:custDataLst>
    <p:tags r:id="rId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51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65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77800" y="93980"/>
            <a:ext cx="5993765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1.flour n. </a:t>
            </a:r>
            <a:r>
              <a:rPr lang="zh-CN" altLang="en-US" sz="2400">
                <a:solidFill>
                  <a:schemeClr val="bg1"/>
                </a:solidFill>
              </a:rPr>
              <a:t>面粉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2.</a:t>
            </a:r>
            <a:r>
              <a:rPr lang="zh-CN" altLang="en-US" sz="2400">
                <a:solidFill>
                  <a:schemeClr val="tx1"/>
                </a:solidFill>
              </a:rPr>
              <a:t>流入大海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zh-CN" altLang="en-US" sz="2400">
                <a:solidFill>
                  <a:schemeClr val="bg1"/>
                </a:solidFill>
              </a:rPr>
              <a:t>flow into the ocean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3.</a:t>
            </a:r>
            <a:r>
              <a:rPr lang="zh-CN" altLang="en-US" sz="2400">
                <a:solidFill>
                  <a:schemeClr val="tx1"/>
                </a:solidFill>
              </a:rPr>
              <a:t>流利；流畅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fluency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4.</a:t>
            </a:r>
            <a:r>
              <a:rPr lang="zh-CN" altLang="en-US" sz="2400">
                <a:solidFill>
                  <a:schemeClr val="tx1"/>
                </a:solidFill>
              </a:rPr>
              <a:t>有雾的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zh-CN" altLang="en-US" sz="2400">
                <a:solidFill>
                  <a:schemeClr val="bg1"/>
                </a:solidFill>
              </a:rPr>
              <a:t>foggy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5.</a:t>
            </a:r>
            <a:r>
              <a:rPr lang="zh-CN" altLang="en-US" sz="2400">
                <a:solidFill>
                  <a:schemeClr val="tx1"/>
                </a:solidFill>
              </a:rPr>
              <a:t>折叠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zh-CN" altLang="en-US" sz="2400">
                <a:solidFill>
                  <a:schemeClr val="bg1"/>
                </a:solidFill>
              </a:rPr>
              <a:t>fold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6.</a:t>
            </a:r>
            <a:r>
              <a:rPr lang="zh-CN" altLang="en-US" sz="2400">
                <a:solidFill>
                  <a:schemeClr val="tx1"/>
                </a:solidFill>
              </a:rPr>
              <a:t>民间艺术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zh-CN" altLang="en-US" sz="2400">
                <a:solidFill>
                  <a:schemeClr val="bg1"/>
                </a:solidFill>
              </a:rPr>
              <a:t>folk atrs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7.</a:t>
            </a:r>
            <a:r>
              <a:rPr lang="zh-CN" altLang="en-US" sz="2400">
                <a:solidFill>
                  <a:schemeClr val="tx1"/>
                </a:solidFill>
              </a:rPr>
              <a:t>遵循内科医生的指导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zh-CN" altLang="en-US" sz="2400">
                <a:solidFill>
                  <a:schemeClr val="bg1"/>
                </a:solidFill>
              </a:rPr>
              <a:t>follow the directions of the physician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8.</a:t>
            </a:r>
            <a:r>
              <a:rPr lang="zh-CN" altLang="en-US" sz="2400">
                <a:solidFill>
                  <a:schemeClr val="tx1"/>
                </a:solidFill>
              </a:rPr>
              <a:t>愚蠢的；荒谬的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zh-CN" altLang="en-US" sz="2400">
                <a:solidFill>
                  <a:schemeClr val="bg1"/>
                </a:solidFill>
              </a:rPr>
              <a:t>foolish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9.foot n. </a:t>
            </a:r>
            <a:r>
              <a:rPr lang="zh-CN" altLang="en-US" sz="2400">
                <a:solidFill>
                  <a:schemeClr val="bg1"/>
                </a:solidFill>
              </a:rPr>
              <a:t>脚；英尺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10.forbid v. </a:t>
            </a:r>
            <a:r>
              <a:rPr lang="zh-CN" altLang="en-US" sz="2400">
                <a:solidFill>
                  <a:schemeClr val="bg1"/>
                </a:solidFill>
              </a:rPr>
              <a:t>禁止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11.in force </a:t>
            </a:r>
            <a:r>
              <a:rPr lang="zh-CN" altLang="en-US" sz="2400">
                <a:solidFill>
                  <a:schemeClr val="bg1"/>
                </a:solidFill>
              </a:rPr>
              <a:t>生效；在实施中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  </a:t>
            </a:r>
            <a:r>
              <a:rPr lang="zh-CN" altLang="en-US" sz="2400">
                <a:solidFill>
                  <a:schemeClr val="tx1"/>
                </a:solidFill>
              </a:rPr>
              <a:t>迫使罪犯逃狱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zh-CN" altLang="en-US" sz="2400">
                <a:solidFill>
                  <a:schemeClr val="bg1"/>
                </a:solidFill>
              </a:rPr>
              <a:t>force the criminal to escape from the jail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12.forecast v. </a:t>
            </a:r>
            <a:r>
              <a:rPr lang="zh-CN" altLang="en-US" sz="2400">
                <a:solidFill>
                  <a:schemeClr val="bg1"/>
                </a:solidFill>
              </a:rPr>
              <a:t>预测；预报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13.foresee v. </a:t>
            </a:r>
            <a:r>
              <a:rPr lang="zh-CN" altLang="en-US" sz="2400">
                <a:solidFill>
                  <a:schemeClr val="bg1"/>
                </a:solidFill>
              </a:rPr>
              <a:t>预知；预见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14.</a:t>
            </a:r>
            <a:r>
              <a:rPr lang="zh-CN" altLang="en-US" sz="2400">
                <a:solidFill>
                  <a:schemeClr val="tx1"/>
                </a:solidFill>
              </a:rPr>
              <a:t>令人难忘的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zh-CN" altLang="en-US" sz="2400">
                <a:solidFill>
                  <a:schemeClr val="bg1"/>
                </a:solidFill>
              </a:rPr>
              <a:t>unforgettable</a:t>
            </a:r>
            <a:endParaRPr lang="en-US" altLang="zh-CN" sz="2400">
              <a:solidFill>
                <a:schemeClr val="tx1"/>
              </a:solidFill>
            </a:endParaRPr>
          </a:p>
          <a:p>
            <a:endParaRPr lang="en-US" altLang="zh-CN" sz="240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298565" y="93980"/>
            <a:ext cx="5993765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1</a:t>
            </a:r>
            <a:r>
              <a:rPr lang="en-US" sz="2400">
                <a:solidFill>
                  <a:schemeClr val="tx1"/>
                </a:solidFill>
              </a:rPr>
              <a:t>5.forgetful adj. </a:t>
            </a:r>
            <a:r>
              <a:rPr lang="zh-CN" altLang="en-US" sz="2400">
                <a:solidFill>
                  <a:schemeClr val="bg1"/>
                </a:solidFill>
              </a:rPr>
              <a:t>健忘的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16.</a:t>
            </a:r>
            <a:r>
              <a:rPr lang="zh-CN" altLang="en-US" sz="2400">
                <a:solidFill>
                  <a:schemeClr val="tx1"/>
                </a:solidFill>
              </a:rPr>
              <a:t>原谅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zh-CN" altLang="en-US" sz="2400">
                <a:solidFill>
                  <a:schemeClr val="bg1"/>
                </a:solidFill>
              </a:rPr>
              <a:t>forgive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17.</a:t>
            </a:r>
            <a:r>
              <a:rPr lang="zh-CN" altLang="en-US" sz="2400">
                <a:solidFill>
                  <a:schemeClr val="tx1"/>
                </a:solidFill>
              </a:rPr>
              <a:t>叉子；分岔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fork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18.</a:t>
            </a:r>
            <a:r>
              <a:rPr lang="zh-CN" altLang="en-US" sz="2400">
                <a:solidFill>
                  <a:schemeClr val="tx1"/>
                </a:solidFill>
              </a:rPr>
              <a:t>以学术报告的形式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zh-CN" altLang="en-US" sz="2400">
                <a:solidFill>
                  <a:schemeClr val="bg1"/>
                </a:solidFill>
              </a:rPr>
              <a:t>in the form of the academic report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19.</a:t>
            </a:r>
            <a:r>
              <a:rPr lang="zh-CN" altLang="en-US" sz="2400">
                <a:solidFill>
                  <a:schemeClr val="tx1"/>
                </a:solidFill>
              </a:rPr>
              <a:t>正式的场合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zh-CN" altLang="en-US" sz="2400">
                <a:solidFill>
                  <a:schemeClr val="bg1"/>
                </a:solidFill>
              </a:rPr>
              <a:t>formal occasion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20.format n. </a:t>
            </a:r>
            <a:r>
              <a:rPr lang="zh-CN" altLang="en-US" sz="2400">
                <a:solidFill>
                  <a:schemeClr val="bg1"/>
                </a:solidFill>
              </a:rPr>
              <a:t>计划；总体安排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21.from that day forth </a:t>
            </a:r>
            <a:r>
              <a:rPr lang="zh-CN" altLang="en-US" sz="2400">
                <a:solidFill>
                  <a:schemeClr val="bg1"/>
                </a:solidFill>
              </a:rPr>
              <a:t>自那日起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22.</a:t>
            </a:r>
            <a:r>
              <a:rPr lang="zh-CN" altLang="en-US" sz="2400">
                <a:solidFill>
                  <a:schemeClr val="tx1"/>
                </a:solidFill>
              </a:rPr>
              <a:t>幸运的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zh-CN" altLang="en-US" sz="2400">
                <a:solidFill>
                  <a:schemeClr val="bg1"/>
                </a:solidFill>
              </a:rPr>
              <a:t>fortunate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23.</a:t>
            </a:r>
            <a:r>
              <a:rPr lang="zh-CN" altLang="en-US" sz="2400">
                <a:solidFill>
                  <a:schemeClr val="tx1"/>
                </a:solidFill>
              </a:rPr>
              <a:t>迈出一步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zh-CN" altLang="en-US" sz="2400">
                <a:solidFill>
                  <a:schemeClr val="bg1"/>
                </a:solidFill>
              </a:rPr>
              <a:t>step forward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24.</a:t>
            </a:r>
            <a:r>
              <a:rPr lang="zh-CN" altLang="en-US" sz="2400">
                <a:solidFill>
                  <a:schemeClr val="tx1"/>
                </a:solidFill>
              </a:rPr>
              <a:t>坚实的基础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zh-CN" altLang="en-US" sz="2400">
                <a:solidFill>
                  <a:schemeClr val="bg1"/>
                </a:solidFill>
              </a:rPr>
              <a:t>solid foundation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25.</a:t>
            </a:r>
            <a:r>
              <a:rPr lang="zh-CN" altLang="en-US" sz="2400">
                <a:solidFill>
                  <a:schemeClr val="tx1"/>
                </a:solidFill>
              </a:rPr>
              <a:t>喷泉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fountain</a:t>
            </a:r>
            <a:endParaRPr lang="zh-CN" altLang="en-US" sz="2400">
              <a:solidFill>
                <a:schemeClr val="bg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77800" y="93980"/>
            <a:ext cx="5993765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1.</a:t>
            </a:r>
            <a:r>
              <a:rPr lang="en-US" sz="2400">
                <a:solidFill>
                  <a:schemeClr val="tx1"/>
                </a:solidFill>
              </a:rPr>
              <a:t>inflation n. </a:t>
            </a:r>
            <a:r>
              <a:rPr lang="zh-CN" altLang="en-US" sz="2400">
                <a:solidFill>
                  <a:schemeClr val="bg1"/>
                </a:solidFill>
              </a:rPr>
              <a:t>通货膨胀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2.rosy adj. </a:t>
            </a:r>
            <a:r>
              <a:rPr lang="zh-CN" altLang="en-US" sz="2400">
                <a:solidFill>
                  <a:schemeClr val="bg1"/>
                </a:solidFill>
              </a:rPr>
              <a:t>乐观的；愉快的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3.account for </a:t>
            </a:r>
            <a:r>
              <a:rPr lang="zh-CN" altLang="en-US" sz="2400">
                <a:solidFill>
                  <a:schemeClr val="bg1"/>
                </a:solidFill>
              </a:rPr>
              <a:t>解释说明；占比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4.generosity n. </a:t>
            </a:r>
            <a:r>
              <a:rPr lang="zh-CN" altLang="en-US" sz="2400">
                <a:solidFill>
                  <a:schemeClr val="bg1"/>
                </a:solidFill>
              </a:rPr>
              <a:t>慷慨；大方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5.elusive adj. </a:t>
            </a:r>
            <a:r>
              <a:rPr lang="zh-CN" altLang="en-US" sz="2400">
                <a:solidFill>
                  <a:schemeClr val="bg1"/>
                </a:solidFill>
              </a:rPr>
              <a:t>难以捉摸的；不易记住的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6.magnetic field </a:t>
            </a:r>
            <a:r>
              <a:rPr lang="zh-CN" altLang="en-US" sz="2400">
                <a:solidFill>
                  <a:schemeClr val="bg1"/>
                </a:solidFill>
              </a:rPr>
              <a:t>磁场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7.accuracy n. </a:t>
            </a:r>
            <a:r>
              <a:rPr lang="zh-CN" altLang="en-US" sz="2400">
                <a:solidFill>
                  <a:schemeClr val="bg1"/>
                </a:solidFill>
              </a:rPr>
              <a:t>精确性；准确性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8.infrastructure n. </a:t>
            </a:r>
            <a:r>
              <a:rPr lang="zh-CN" altLang="en-US" sz="2400">
                <a:solidFill>
                  <a:schemeClr val="bg1"/>
                </a:solidFill>
              </a:rPr>
              <a:t>基础设施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9.charged particle </a:t>
            </a:r>
            <a:r>
              <a:rPr lang="zh-CN" altLang="en-US" sz="2400">
                <a:solidFill>
                  <a:schemeClr val="bg1"/>
                </a:solidFill>
              </a:rPr>
              <a:t>带电粒子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10.power outage </a:t>
            </a:r>
            <a:r>
              <a:rPr lang="zh-CN" altLang="en-US" sz="2400">
                <a:solidFill>
                  <a:schemeClr val="bg1"/>
                </a:solidFill>
              </a:rPr>
              <a:t>停电；断电</a:t>
            </a:r>
            <a:endParaRPr lang="zh-CN" altLang="en-US" sz="2400">
              <a:solidFill>
                <a:schemeClr val="tx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commondata" val="eyJoZGlkIjoiOGY5NTQyMzkzNzFlMTQ3ZjlhODAwMTUzYmI4YzEyZTc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809</Words>
  <Application>WPS 演示</Application>
  <PresentationFormat>宽屏</PresentationFormat>
  <Paragraphs>40</Paragraphs>
  <Slides>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程多涛</cp:lastModifiedBy>
  <cp:revision>159</cp:revision>
  <dcterms:created xsi:type="dcterms:W3CDTF">2019-06-19T02:08:00Z</dcterms:created>
  <dcterms:modified xsi:type="dcterms:W3CDTF">2024-09-24T00:34:10Z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2052-12.1.0.18276</vt:lpwstr>
  </property>
  <property fmtid="{D5CDD505-2E9C-101B-9397-08002B2CF9AE}" pid="3" name="ICV">
    <vt:lpwstr>A2739F122D9046E19061BB7DE55BBDFD_11</vt:lpwstr>
  </property>
</Properties>
</file>