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sz="2400">
                <a:solidFill>
                  <a:schemeClr val="tx1"/>
                </a:solidFill>
              </a:rPr>
              <a:t>系紧安全带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fasten seat belt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用过的；二手的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secondhand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秘密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secret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秘书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secretary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5.section n. </a:t>
            </a:r>
            <a:r>
              <a:rPr lang="en-US" altLang="zh-CN" sz="2400">
                <a:solidFill>
                  <a:schemeClr val="bg1"/>
                </a:solidFill>
              </a:rPr>
              <a:t>部分；节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6.secure v. </a:t>
            </a:r>
            <a:r>
              <a:rPr lang="en-US" altLang="zh-CN" sz="2400">
                <a:solidFill>
                  <a:schemeClr val="bg1"/>
                </a:solidFill>
              </a:rPr>
              <a:t>保卫；使安全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7.see...off </a:t>
            </a:r>
            <a:r>
              <a:rPr lang="en-US" altLang="zh-CN" sz="2400">
                <a:solidFill>
                  <a:schemeClr val="bg1"/>
                </a:solidFill>
              </a:rPr>
              <a:t>为...送行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see through </a:t>
            </a:r>
            <a:r>
              <a:rPr lang="en-US" altLang="zh-CN" sz="2400">
                <a:solidFill>
                  <a:schemeClr val="bg1"/>
                </a:solidFill>
              </a:rPr>
              <a:t>看穿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see to </a:t>
            </a:r>
            <a:r>
              <a:rPr lang="en-US" altLang="zh-CN" sz="2400">
                <a:solidFill>
                  <a:schemeClr val="bg1"/>
                </a:solidFill>
              </a:rPr>
              <a:t>注意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种子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seed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9.seemingly adv. </a:t>
            </a:r>
            <a:r>
              <a:rPr lang="en-US" altLang="zh-CN" sz="2400">
                <a:solidFill>
                  <a:schemeClr val="bg1"/>
                </a:solidFill>
              </a:rPr>
              <a:t>看似；据说；表面上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10.seize the time and live it to the full </a:t>
            </a:r>
            <a:r>
              <a:rPr lang="en-US" altLang="zh-CN" sz="2400">
                <a:solidFill>
                  <a:schemeClr val="bg1"/>
                </a:solidFill>
              </a:rPr>
              <a:t>只争朝夕，不负韶华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自私的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selflish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较年长的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senior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13.in a sense </a:t>
            </a:r>
            <a:r>
              <a:rPr lang="en-US" altLang="zh-CN" sz="2400">
                <a:solidFill>
                  <a:schemeClr val="bg1"/>
                </a:solidFill>
              </a:rPr>
              <a:t>从某种意义上说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sense of honor </a:t>
            </a:r>
            <a:r>
              <a:rPr lang="en-US" altLang="zh-CN" sz="2400">
                <a:solidFill>
                  <a:schemeClr val="bg1"/>
                </a:solidFill>
              </a:rPr>
              <a:t>荣誉感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en-US" sz="2400">
                <a:solidFill>
                  <a:schemeClr val="tx1"/>
                </a:solidFill>
              </a:rPr>
              <a:t>seneible adj. </a:t>
            </a:r>
            <a:r>
              <a:rPr lang="en-US" altLang="zh-CN" sz="2400">
                <a:solidFill>
                  <a:schemeClr val="bg1"/>
                </a:solidFill>
              </a:rPr>
              <a:t>明智的；合情理的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sensitive adj. </a:t>
            </a:r>
            <a:r>
              <a:rPr lang="en-US" altLang="zh-CN" sz="2400">
                <a:solidFill>
                  <a:schemeClr val="bg1"/>
                </a:solidFill>
              </a:rPr>
              <a:t>敏感的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被判处死刑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be sentenced to death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使隔开；划分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separate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系列；连续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series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严肃的；认真的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serious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仆人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servant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20.session n. </a:t>
            </a:r>
            <a:r>
              <a:rPr lang="en-US" altLang="zh-CN" sz="2400">
                <a:solidFill>
                  <a:schemeClr val="bg1"/>
                </a:solidFill>
              </a:rPr>
              <a:t>一场；会议；学年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21.set about </a:t>
            </a:r>
            <a:r>
              <a:rPr lang="en-US" altLang="zh-CN" sz="2400">
                <a:solidFill>
                  <a:schemeClr val="bg1"/>
                </a:solidFill>
              </a:rPr>
              <a:t>开始；着手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set off </a:t>
            </a:r>
            <a:r>
              <a:rPr lang="en-US" altLang="zh-CN" sz="2400">
                <a:solidFill>
                  <a:schemeClr val="bg1"/>
                </a:solidFill>
              </a:rPr>
              <a:t>出发；启程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set up </a:t>
            </a:r>
            <a:r>
              <a:rPr lang="en-US" altLang="zh-CN" sz="2400">
                <a:solidFill>
                  <a:schemeClr val="bg1"/>
                </a:solidFill>
              </a:rPr>
              <a:t>建立；设立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22.setting n. </a:t>
            </a:r>
            <a:r>
              <a:rPr lang="en-US" altLang="zh-CN" sz="2400">
                <a:solidFill>
                  <a:schemeClr val="bg1"/>
                </a:solidFill>
              </a:rPr>
              <a:t>布景；背景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23.</a:t>
            </a:r>
            <a:r>
              <a:rPr lang="zh-CN" altLang="en-US" sz="2400">
                <a:solidFill>
                  <a:schemeClr val="tx1"/>
                </a:solidFill>
              </a:rPr>
              <a:t>定居；安顿；解决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settle</a:t>
            </a:r>
            <a:endParaRPr lang="en-US" altLang="zh-CN" sz="240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605</Words>
  <Application>WPS 演示</Application>
  <PresentationFormat>宽屏</PresentationFormat>
  <Paragraphs>31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2024-07-07T10:17:11Z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5DCE5B70C0D84F1788273A41D6EE5B62_11</vt:lpwstr>
  </property>
</Properties>
</file>