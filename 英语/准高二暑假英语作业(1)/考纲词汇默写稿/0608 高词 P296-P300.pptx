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洋葱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onion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2.operate on sb. </a:t>
            </a:r>
            <a:r>
              <a:rPr lang="en-US" altLang="zh-CN" sz="2400">
                <a:solidFill>
                  <a:schemeClr val="bg1"/>
                </a:solidFill>
              </a:rPr>
              <a:t>为某人动手术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3.have a good opinion of... </a:t>
            </a:r>
            <a:r>
              <a:rPr lang="en-US" altLang="zh-CN" sz="2400">
                <a:solidFill>
                  <a:schemeClr val="bg1"/>
                </a:solidFill>
              </a:rPr>
              <a:t>认为...好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4.public opinion </a:t>
            </a:r>
            <a:r>
              <a:rPr lang="en-US" altLang="zh-CN" sz="2400">
                <a:solidFill>
                  <a:schemeClr val="bg1"/>
                </a:solidFill>
              </a:rPr>
              <a:t>公众舆论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5.opponent n. </a:t>
            </a:r>
            <a:r>
              <a:rPr lang="en-US" altLang="zh-CN" sz="2400">
                <a:solidFill>
                  <a:schemeClr val="bg1"/>
                </a:solidFill>
              </a:rPr>
              <a:t>对手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抓住机会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grasp/seize the opportunity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7.be opposite to </a:t>
            </a:r>
            <a:r>
              <a:rPr lang="en-US" altLang="zh-CN" sz="2400">
                <a:solidFill>
                  <a:schemeClr val="bg1"/>
                </a:solidFill>
              </a:rPr>
              <a:t>在...对面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乐观的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optimistic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9.option n. </a:t>
            </a:r>
            <a:r>
              <a:rPr lang="en-US" altLang="zh-CN" sz="2400">
                <a:solidFill>
                  <a:schemeClr val="bg1"/>
                </a:solidFill>
              </a:rPr>
              <a:t>选择；选择权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10.oral test </a:t>
            </a:r>
            <a:r>
              <a:rPr lang="en-US" altLang="zh-CN" sz="2400">
                <a:solidFill>
                  <a:schemeClr val="bg1"/>
                </a:solidFill>
              </a:rPr>
              <a:t>口试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11.orbit n. </a:t>
            </a:r>
            <a:r>
              <a:rPr lang="en-US" altLang="zh-CN" sz="2400">
                <a:solidFill>
                  <a:schemeClr val="bg1"/>
                </a:solidFill>
              </a:rPr>
              <a:t>轨道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12.orchestra n. </a:t>
            </a:r>
            <a:r>
              <a:rPr lang="en-US" altLang="zh-CN" sz="2400">
                <a:solidFill>
                  <a:schemeClr val="bg1"/>
                </a:solidFill>
              </a:rPr>
              <a:t>管弦乐队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13.in order </a:t>
            </a:r>
            <a:r>
              <a:rPr lang="en-US" altLang="zh-CN" sz="2400">
                <a:solidFill>
                  <a:schemeClr val="bg1"/>
                </a:solidFill>
              </a:rPr>
              <a:t>按顺序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out of order </a:t>
            </a:r>
            <a:r>
              <a:rPr lang="en-US" altLang="zh-CN" sz="2400">
                <a:solidFill>
                  <a:schemeClr val="bg1"/>
                </a:solidFill>
              </a:rPr>
              <a:t>不合规定；坏了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in alphabetical order </a:t>
            </a:r>
            <a:r>
              <a:rPr lang="en-US" altLang="zh-CN" sz="2400">
                <a:solidFill>
                  <a:schemeClr val="bg1"/>
                </a:solidFill>
              </a:rPr>
              <a:t>按字母表顺序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in order that </a:t>
            </a:r>
            <a:r>
              <a:rPr lang="en-US" altLang="zh-CN" sz="2400">
                <a:solidFill>
                  <a:schemeClr val="bg1"/>
                </a:solidFill>
              </a:rPr>
              <a:t>为了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maintain order </a:t>
            </a:r>
            <a:r>
              <a:rPr lang="en-US" altLang="zh-CN" sz="2400">
                <a:solidFill>
                  <a:schemeClr val="bg1"/>
                </a:solidFill>
              </a:rPr>
              <a:t>维持秩序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普通的；平常的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ordinary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器官；机构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organ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</a:t>
            </a:r>
            <a:r>
              <a:rPr lang="zh-CN" altLang="en-US" sz="2400">
                <a:solidFill>
                  <a:schemeClr val="tx1"/>
                </a:solidFill>
              </a:rPr>
              <a:t>有机的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organic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16.orient n. </a:t>
            </a:r>
            <a:r>
              <a:rPr lang="en-US" altLang="zh-CN" sz="2400">
                <a:solidFill>
                  <a:schemeClr val="bg1"/>
                </a:solidFill>
              </a:rPr>
              <a:t>东方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启源；由来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origin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</a:t>
            </a:r>
            <a:r>
              <a:rPr lang="zh-CN" altLang="en-US" sz="2400">
                <a:solidFill>
                  <a:schemeClr val="tx1"/>
                </a:solidFill>
              </a:rPr>
              <a:t>源于</a:t>
            </a:r>
            <a:r>
              <a:rPr lang="en-US" altLang="zh-CN" sz="2400">
                <a:solidFill>
                  <a:schemeClr val="tx1"/>
                </a:solidFill>
              </a:rPr>
              <a:t>... </a:t>
            </a:r>
            <a:r>
              <a:rPr lang="en-US" altLang="zh-CN" sz="2400">
                <a:solidFill>
                  <a:schemeClr val="bg1"/>
                </a:solidFill>
              </a:rPr>
              <a:t>originate from...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孤儿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orphan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</a:t>
            </a:r>
            <a:r>
              <a:rPr lang="zh-CN" altLang="en-US" sz="2400">
                <a:solidFill>
                  <a:schemeClr val="tx1"/>
                </a:solidFill>
              </a:rPr>
              <a:t>孤儿院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orphanage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19.ought to </a:t>
            </a:r>
            <a:r>
              <a:rPr lang="en-US" altLang="zh-CN" sz="2400">
                <a:solidFill>
                  <a:schemeClr val="bg1"/>
                </a:solidFill>
              </a:rPr>
              <a:t>应当；应该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546</Words>
  <Application>WPS 演示</Application>
  <PresentationFormat>宽屏</PresentationFormat>
  <Paragraphs>28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2024-06-07T14:14:20Z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18E4DD5E20584A50AC370DDB2BB4EA48_11</vt:lpwstr>
  </property>
</Properties>
</file>