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51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64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77800" y="93980"/>
            <a:ext cx="5993765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1.</a:t>
            </a:r>
            <a:r>
              <a:rPr lang="zh-CN" sz="2400">
                <a:solidFill>
                  <a:schemeClr val="tx1"/>
                </a:solidFill>
              </a:rPr>
              <a:t>平等的；相等的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en-US" altLang="zh-CN" sz="2400">
                <a:solidFill>
                  <a:schemeClr val="bg1"/>
                </a:solidFill>
              </a:rPr>
              <a:t>equal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2.</a:t>
            </a:r>
            <a:r>
              <a:rPr lang="zh-CN" altLang="en-US" sz="2400">
                <a:solidFill>
                  <a:schemeClr val="tx1"/>
                </a:solidFill>
              </a:rPr>
              <a:t>赤道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equator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3.</a:t>
            </a:r>
            <a:r>
              <a:rPr lang="zh-CN" altLang="en-US" sz="2400">
                <a:solidFill>
                  <a:schemeClr val="tx1"/>
                </a:solidFill>
              </a:rPr>
              <a:t>装备了武器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be equipped with weapons</a:t>
            </a:r>
            <a:endParaRPr lang="en-US" altLang="zh-CN" sz="2400">
              <a:solidFill>
                <a:schemeClr val="tx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4.</a:t>
            </a:r>
            <a:r>
              <a:rPr lang="zh-CN" altLang="en-US" sz="2400">
                <a:solidFill>
                  <a:schemeClr val="tx1"/>
                </a:solidFill>
              </a:rPr>
              <a:t>相等物；对应物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equivalent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5.</a:t>
            </a:r>
            <a:r>
              <a:rPr lang="zh-CN" altLang="en-US" sz="2400">
                <a:solidFill>
                  <a:schemeClr val="tx1"/>
                </a:solidFill>
              </a:rPr>
              <a:t>时代；纪元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era</a:t>
            </a:r>
            <a:endParaRPr lang="en-US" altLang="zh-CN" sz="2400">
              <a:solidFill>
                <a:schemeClr val="tx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6.</a:t>
            </a:r>
            <a:r>
              <a:rPr lang="zh-CN" altLang="en-US" sz="2400">
                <a:solidFill>
                  <a:schemeClr val="tx1"/>
                </a:solidFill>
              </a:rPr>
              <a:t>抹去他的记忆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erase his memroy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7.</a:t>
            </a:r>
            <a:r>
              <a:rPr lang="zh-CN" altLang="en-US" sz="2400">
                <a:solidFill>
                  <a:schemeClr val="tx1"/>
                </a:solidFill>
              </a:rPr>
              <a:t>喷发；爆发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en-US" altLang="zh-CN" sz="2400">
                <a:solidFill>
                  <a:schemeClr val="bg1"/>
                </a:solidFill>
              </a:rPr>
              <a:t>erupt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8.escalator n. </a:t>
            </a:r>
            <a:r>
              <a:rPr lang="zh-CN" altLang="en-US" sz="2400">
                <a:solidFill>
                  <a:schemeClr val="bg1"/>
                </a:solidFill>
              </a:rPr>
              <a:t>自动扶梯</a:t>
            </a:r>
            <a:endParaRPr lang="zh-CN" altLang="en-US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9.</a:t>
            </a:r>
            <a:r>
              <a:rPr lang="zh-CN" altLang="en-US" sz="2400">
                <a:solidFill>
                  <a:schemeClr val="tx1"/>
                </a:solidFill>
              </a:rPr>
              <a:t>逃出监狱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zh-CN" altLang="en-US" sz="2400">
                <a:solidFill>
                  <a:schemeClr val="bg1"/>
                </a:solidFill>
              </a:rPr>
              <a:t>escape from the jail</a:t>
            </a:r>
            <a:endParaRPr lang="zh-CN" altLang="en-US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10.essential adj. </a:t>
            </a:r>
            <a:r>
              <a:rPr lang="zh-CN" altLang="en-US" sz="2400">
                <a:solidFill>
                  <a:schemeClr val="bg1"/>
                </a:solidFill>
              </a:rPr>
              <a:t>本质的；必要的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11.</a:t>
            </a:r>
            <a:r>
              <a:rPr lang="zh-CN" altLang="en-US" sz="2400">
                <a:solidFill>
                  <a:schemeClr val="tx1"/>
                </a:solidFill>
              </a:rPr>
              <a:t>建立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zh-CN" altLang="en-US" sz="2400">
                <a:solidFill>
                  <a:schemeClr val="bg1"/>
                </a:solidFill>
              </a:rPr>
              <a:t>establish</a:t>
            </a:r>
            <a:endParaRPr lang="en-US" altLang="zh-CN" sz="2400">
              <a:solidFill>
                <a:schemeClr val="tx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12.</a:t>
            </a:r>
            <a:r>
              <a:rPr lang="zh-CN" altLang="en-US" sz="2400">
                <a:solidFill>
                  <a:schemeClr val="tx1"/>
                </a:solidFill>
              </a:rPr>
              <a:t>据估计</a:t>
            </a:r>
            <a:r>
              <a:rPr lang="en-US" altLang="zh-CN" sz="2400">
                <a:solidFill>
                  <a:schemeClr val="tx1"/>
                </a:solidFill>
              </a:rPr>
              <a:t>... </a:t>
            </a:r>
            <a:r>
              <a:rPr lang="zh-CN" altLang="en-US" sz="2400">
                <a:solidFill>
                  <a:schemeClr val="bg1"/>
                </a:solidFill>
              </a:rPr>
              <a:t>it’s estimated that...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13.</a:t>
            </a:r>
            <a:r>
              <a:rPr lang="zh-CN" altLang="en-US" sz="2400">
                <a:solidFill>
                  <a:schemeClr val="tx1"/>
                </a:solidFill>
              </a:rPr>
              <a:t>评估；鉴定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zh-CN" altLang="en-US" sz="2400">
                <a:solidFill>
                  <a:schemeClr val="bg1"/>
                </a:solidFill>
              </a:rPr>
              <a:t>evaluate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14.</a:t>
            </a:r>
            <a:r>
              <a:rPr lang="zh-CN" altLang="en-US" sz="2400">
                <a:solidFill>
                  <a:schemeClr val="tx1"/>
                </a:solidFill>
              </a:rPr>
              <a:t>事件；比赛项目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event</a:t>
            </a:r>
            <a:endParaRPr lang="en-US" altLang="zh-CN" sz="2400">
              <a:solidFill>
                <a:schemeClr val="tx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15.</a:t>
            </a:r>
            <a:r>
              <a:rPr lang="zh-CN" altLang="en-US" sz="2400">
                <a:solidFill>
                  <a:schemeClr val="tx1"/>
                </a:solidFill>
              </a:rPr>
              <a:t>最终的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zh-CN" altLang="en-US" sz="2400">
                <a:solidFill>
                  <a:schemeClr val="bg1"/>
                </a:solidFill>
              </a:rPr>
              <a:t>eventual</a:t>
            </a:r>
            <a:endParaRPr lang="zh-CN" altLang="en-US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16.everlasting adj. </a:t>
            </a:r>
            <a:r>
              <a:rPr lang="zh-CN" altLang="en-US" sz="2400">
                <a:solidFill>
                  <a:schemeClr val="bg1"/>
                </a:solidFill>
              </a:rPr>
              <a:t>永久的；持久的</a:t>
            </a:r>
            <a:endParaRPr lang="zh-CN" altLang="en-US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17.</a:t>
            </a:r>
            <a:r>
              <a:rPr lang="zh-CN" altLang="en-US" sz="2400">
                <a:solidFill>
                  <a:schemeClr val="tx1"/>
                </a:solidFill>
              </a:rPr>
              <a:t>证据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evidence</a:t>
            </a:r>
            <a:endParaRPr lang="zh-CN" altLang="en-US" sz="2400">
              <a:solidFill>
                <a:schemeClr val="bg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298565" y="93980"/>
            <a:ext cx="5993765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</a:t>
            </a:r>
            <a:r>
              <a:rPr lang="en-US" sz="2400">
                <a:solidFill>
                  <a:schemeClr val="tx1"/>
                </a:solidFill>
              </a:rPr>
              <a:t>8.</a:t>
            </a:r>
            <a:r>
              <a:rPr lang="zh-CN" altLang="en-US" sz="2400">
                <a:solidFill>
                  <a:schemeClr val="tx1"/>
                </a:solidFill>
              </a:rPr>
              <a:t>很明显该是戒掉游戏的时候了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zh-CN" altLang="en-US" sz="2400">
                <a:solidFill>
                  <a:schemeClr val="bg1"/>
                </a:solidFill>
              </a:rPr>
              <a:t>It’s evident that it’s high time for us to quit the game.</a:t>
            </a:r>
            <a:endParaRPr lang="zh-CN" altLang="en-US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19.evil adj. </a:t>
            </a:r>
            <a:r>
              <a:rPr lang="zh-CN" altLang="en-US" sz="2400">
                <a:solidFill>
                  <a:schemeClr val="bg1"/>
                </a:solidFill>
              </a:rPr>
              <a:t>罪恶的</a:t>
            </a:r>
            <a:endParaRPr lang="zh-CN" altLang="en-US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20.</a:t>
            </a:r>
            <a:r>
              <a:rPr lang="zh-CN" altLang="en-US" sz="2400">
                <a:solidFill>
                  <a:schemeClr val="tx1"/>
                </a:solidFill>
              </a:rPr>
              <a:t>进化；演变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evolution</a:t>
            </a:r>
            <a:endParaRPr lang="en-US" altLang="zh-CN" sz="2400">
              <a:solidFill>
                <a:schemeClr val="tx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21.</a:t>
            </a:r>
            <a:r>
              <a:rPr lang="zh-CN" altLang="en-US" sz="2400">
                <a:solidFill>
                  <a:schemeClr val="tx1"/>
                </a:solidFill>
              </a:rPr>
              <a:t>检查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zh-CN" altLang="en-US" sz="2400">
                <a:solidFill>
                  <a:schemeClr val="bg1"/>
                </a:solidFill>
              </a:rPr>
              <a:t>examine</a:t>
            </a:r>
            <a:endParaRPr lang="zh-CN" altLang="en-US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22.</a:t>
            </a:r>
            <a:r>
              <a:rPr lang="zh-CN" altLang="en-US" sz="2400">
                <a:solidFill>
                  <a:schemeClr val="tx1"/>
                </a:solidFill>
              </a:rPr>
              <a:t>优秀的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zh-CN" altLang="en-US" sz="2400">
                <a:solidFill>
                  <a:schemeClr val="bg1"/>
                </a:solidFill>
              </a:rPr>
              <a:t>excellent</a:t>
            </a:r>
            <a:endParaRPr lang="zh-CN" altLang="en-US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23.</a:t>
            </a:r>
            <a:r>
              <a:rPr lang="zh-CN" altLang="en-US" sz="2400">
                <a:solidFill>
                  <a:schemeClr val="tx1"/>
                </a:solidFill>
              </a:rPr>
              <a:t>例外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zh-CN" altLang="en-US" sz="2400">
                <a:solidFill>
                  <a:schemeClr val="bg1"/>
                </a:solidFill>
              </a:rPr>
              <a:t>exception</a:t>
            </a:r>
            <a:endParaRPr lang="zh-CN" altLang="en-US" sz="2400">
              <a:solidFill>
                <a:schemeClr val="bg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commondata" val="eyJoZGlkIjoiOGY5NTQyMzkzNzFlMTQ3ZjlhODAwMTUzYmI4YzEyZTc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535</Words>
  <Application>WPS 演示</Application>
  <PresentationFormat>宽屏</PresentationFormat>
  <Paragraphs>25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程多涛</cp:lastModifiedBy>
  <cp:revision>156</cp:revision>
  <dcterms:created xsi:type="dcterms:W3CDTF">2019-06-19T02:08:00Z</dcterms:created>
  <dcterms:modified xsi:type="dcterms:W3CDTF">2024-05-08T08:39:22Z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2052-12.1.0.16417</vt:lpwstr>
  </property>
  <property fmtid="{D5CDD505-2E9C-101B-9397-08002B2CF9AE}" pid="3" name="ICV">
    <vt:lpwstr>2C2E1E3B2816422E9AB48055D0B8939C_11</vt:lpwstr>
  </property>
</Properties>
</file>