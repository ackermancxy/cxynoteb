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Lst>
  <p:sldSz cx="12192000" cy="6858000"/>
  <p:notesSz cx="6858000" cy="9144000"/>
  <p:custDataLst>
    <p:tags r:id="rId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7" Type="http://schemas.openxmlformats.org/officeDocument/2006/relationships/tags" Target="tags/tag64.xml"/><Relationship Id="rId6" Type="http://schemas.openxmlformats.org/officeDocument/2006/relationships/tableStyles" Target="tableStyles.xml"/><Relationship Id="rId5" Type="http://schemas.openxmlformats.org/officeDocument/2006/relationships/viewProps" Target="viewProps.xml"/><Relationship Id="rId4" Type="http://schemas.openxmlformats.org/officeDocument/2006/relationships/presProps" Target="presProps.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77800" y="93980"/>
            <a:ext cx="5918200" cy="6642735"/>
          </a:xfrm>
          <a:prstGeom prst="rect">
            <a:avLst/>
          </a:prstGeom>
          <a:noFill/>
        </p:spPr>
        <p:txBody>
          <a:bodyPr wrap="square" rtlCol="0">
            <a:noAutofit/>
          </a:bodyPr>
          <a:p>
            <a:r>
              <a:rPr lang="en-US" altLang="zh-CN" sz="2400">
                <a:solidFill>
                  <a:schemeClr val="tx1"/>
                </a:solidFill>
              </a:rPr>
              <a:t>1.</a:t>
            </a:r>
            <a:r>
              <a:rPr lang="zh-CN" altLang="en-US" sz="2400">
                <a:solidFill>
                  <a:schemeClr val="tx1"/>
                </a:solidFill>
              </a:rPr>
              <a:t>全球变暖</a:t>
            </a:r>
            <a:r>
              <a:rPr lang="en-US" altLang="zh-CN" sz="2400">
                <a:solidFill>
                  <a:schemeClr val="bg1"/>
                </a:solidFill>
              </a:rPr>
              <a:t> global warming</a:t>
            </a:r>
            <a:endParaRPr lang="en-US" altLang="zh-CN" sz="2400">
              <a:solidFill>
                <a:schemeClr val="tx1"/>
              </a:solidFill>
            </a:endParaRPr>
          </a:p>
          <a:p>
            <a:r>
              <a:rPr lang="en-US" altLang="zh-CN" sz="2400">
                <a:solidFill>
                  <a:schemeClr val="tx1"/>
                </a:solidFill>
              </a:rPr>
              <a:t>2.</a:t>
            </a:r>
            <a:r>
              <a:rPr lang="zh-CN" altLang="en-US" sz="2400">
                <a:solidFill>
                  <a:schemeClr val="tx1"/>
                </a:solidFill>
              </a:rPr>
              <a:t>光荣的；辉煌的</a:t>
            </a:r>
            <a:r>
              <a:rPr lang="en-US" altLang="zh-CN" sz="2400">
                <a:solidFill>
                  <a:schemeClr val="tx1"/>
                </a:solidFill>
              </a:rPr>
              <a:t> adj. </a:t>
            </a:r>
            <a:r>
              <a:rPr lang="en-US" altLang="zh-CN" sz="2400">
                <a:solidFill>
                  <a:schemeClr val="bg1"/>
                </a:solidFill>
              </a:rPr>
              <a:t>glorious</a:t>
            </a:r>
            <a:endParaRPr lang="en-US" altLang="zh-CN" sz="2400">
              <a:solidFill>
                <a:schemeClr val="tx1"/>
              </a:solidFill>
            </a:endParaRPr>
          </a:p>
          <a:p>
            <a:r>
              <a:rPr lang="en-US" altLang="zh-CN" sz="2400">
                <a:solidFill>
                  <a:schemeClr val="tx1"/>
                </a:solidFill>
              </a:rPr>
              <a:t>3.</a:t>
            </a:r>
            <a:r>
              <a:rPr lang="zh-CN" altLang="en-US" sz="2400">
                <a:solidFill>
                  <a:schemeClr val="tx1"/>
                </a:solidFill>
              </a:rPr>
              <a:t>重塑辉煌</a:t>
            </a:r>
            <a:r>
              <a:rPr lang="en-US" altLang="zh-CN" sz="2400">
                <a:solidFill>
                  <a:schemeClr val="tx1"/>
                </a:solidFill>
              </a:rPr>
              <a:t> </a:t>
            </a:r>
            <a:r>
              <a:rPr lang="en-US" altLang="zh-CN" sz="2400">
                <a:solidFill>
                  <a:schemeClr val="bg1"/>
                </a:solidFill>
              </a:rPr>
              <a:t>recreate glory</a:t>
            </a:r>
            <a:endParaRPr lang="en-US" altLang="zh-CN" sz="2400">
              <a:solidFill>
                <a:schemeClr val="tx1"/>
              </a:solidFill>
            </a:endParaRPr>
          </a:p>
          <a:p>
            <a:r>
              <a:rPr lang="en-US" altLang="zh-CN" sz="2400">
                <a:solidFill>
                  <a:schemeClr val="tx1"/>
                </a:solidFill>
              </a:rPr>
              <a:t>4.</a:t>
            </a:r>
            <a:r>
              <a:rPr lang="zh-CN" altLang="en-US" sz="2400">
                <a:solidFill>
                  <a:schemeClr val="tx1"/>
                </a:solidFill>
              </a:rPr>
              <a:t>一副手套</a:t>
            </a:r>
            <a:r>
              <a:rPr lang="en-US" altLang="zh-CN" sz="2400">
                <a:solidFill>
                  <a:schemeClr val="tx1"/>
                </a:solidFill>
              </a:rPr>
              <a:t>  </a:t>
            </a:r>
            <a:r>
              <a:rPr lang="en-US" altLang="zh-CN" sz="2400">
                <a:solidFill>
                  <a:schemeClr val="bg1"/>
                </a:solidFill>
              </a:rPr>
              <a:t>a pair of gloves</a:t>
            </a:r>
            <a:endParaRPr lang="en-US" altLang="zh-CN" sz="2400">
              <a:solidFill>
                <a:schemeClr val="tx1"/>
              </a:solidFill>
            </a:endParaRPr>
          </a:p>
          <a:p>
            <a:r>
              <a:rPr lang="en-US" altLang="zh-CN" sz="2400">
                <a:solidFill>
                  <a:schemeClr val="tx1"/>
                </a:solidFill>
              </a:rPr>
              <a:t>5.</a:t>
            </a:r>
            <a:r>
              <a:rPr lang="zh-CN" altLang="en-US" sz="2400">
                <a:solidFill>
                  <a:schemeClr val="tx1"/>
                </a:solidFill>
              </a:rPr>
              <a:t>胶水</a:t>
            </a:r>
            <a:r>
              <a:rPr lang="en-US" altLang="zh-CN" sz="2400">
                <a:solidFill>
                  <a:schemeClr val="tx1"/>
                </a:solidFill>
              </a:rPr>
              <a:t> n. </a:t>
            </a:r>
            <a:r>
              <a:rPr lang="en-US" altLang="zh-CN" sz="2400">
                <a:solidFill>
                  <a:schemeClr val="bg1"/>
                </a:solidFill>
              </a:rPr>
              <a:t>glue</a:t>
            </a:r>
            <a:endParaRPr lang="en-US" altLang="zh-CN" sz="2400">
              <a:solidFill>
                <a:schemeClr val="tx1"/>
              </a:solidFill>
            </a:endParaRPr>
          </a:p>
          <a:p>
            <a:r>
              <a:rPr lang="en-US" altLang="zh-CN" sz="2400">
                <a:solidFill>
                  <a:schemeClr val="tx1"/>
                </a:solidFill>
              </a:rPr>
              <a:t>6.</a:t>
            </a:r>
            <a:r>
              <a:rPr lang="zh-CN" altLang="en-US" sz="2400">
                <a:solidFill>
                  <a:schemeClr val="tx1"/>
                </a:solidFill>
              </a:rPr>
              <a:t>金黄的杨柳</a:t>
            </a:r>
            <a:r>
              <a:rPr lang="en-US" altLang="zh-CN" sz="2400">
                <a:solidFill>
                  <a:schemeClr val="tx1"/>
                </a:solidFill>
              </a:rPr>
              <a:t> </a:t>
            </a:r>
            <a:r>
              <a:rPr lang="en-US" altLang="zh-CN" sz="2400">
                <a:solidFill>
                  <a:schemeClr val="bg1"/>
                </a:solidFill>
              </a:rPr>
              <a:t>the golden willow</a:t>
            </a:r>
            <a:endParaRPr lang="en-US" altLang="zh-CN" sz="2400">
              <a:solidFill>
                <a:schemeClr val="tx1"/>
              </a:solidFill>
            </a:endParaRPr>
          </a:p>
          <a:p>
            <a:r>
              <a:rPr lang="en-US" altLang="zh-CN" sz="2400">
                <a:solidFill>
                  <a:schemeClr val="tx1"/>
                </a:solidFill>
              </a:rPr>
              <a:t>7.good job </a:t>
            </a:r>
            <a:r>
              <a:rPr lang="en-US" altLang="zh-CN" sz="2400">
                <a:solidFill>
                  <a:schemeClr val="bg1"/>
                </a:solidFill>
              </a:rPr>
              <a:t>做得好</a:t>
            </a:r>
            <a:endParaRPr lang="zh-CN" altLang="en-US" sz="2400">
              <a:solidFill>
                <a:schemeClr val="tx1"/>
              </a:solidFill>
            </a:endParaRPr>
          </a:p>
          <a:p>
            <a:r>
              <a:rPr lang="en-US" altLang="zh-CN" sz="2400">
                <a:solidFill>
                  <a:schemeClr val="tx1"/>
                </a:solidFill>
              </a:rPr>
              <a:t>   have a good time </a:t>
            </a:r>
            <a:r>
              <a:rPr lang="en-US" altLang="zh-CN" sz="2400">
                <a:solidFill>
                  <a:schemeClr val="bg1"/>
                </a:solidFill>
              </a:rPr>
              <a:t>玩得开心</a:t>
            </a:r>
            <a:endParaRPr lang="zh-CN" altLang="en-US" sz="2400">
              <a:solidFill>
                <a:schemeClr val="tx1"/>
              </a:solidFill>
            </a:endParaRPr>
          </a:p>
          <a:p>
            <a:r>
              <a:rPr lang="en-US" altLang="zh-CN" sz="2400">
                <a:solidFill>
                  <a:schemeClr val="tx1"/>
                </a:solidFill>
              </a:rPr>
              <a:t>   for sb.’s good </a:t>
            </a:r>
            <a:r>
              <a:rPr lang="en-US" altLang="zh-CN" sz="2400">
                <a:solidFill>
                  <a:schemeClr val="bg1"/>
                </a:solidFill>
              </a:rPr>
              <a:t>为了...的利益</a:t>
            </a:r>
            <a:endParaRPr lang="en-US" altLang="zh-CN" sz="2400">
              <a:solidFill>
                <a:schemeClr val="bg1"/>
              </a:solidFill>
            </a:endParaRPr>
          </a:p>
          <a:p>
            <a:r>
              <a:rPr lang="en-US" altLang="zh-CN" sz="2400">
                <a:solidFill>
                  <a:schemeClr val="tx1"/>
                </a:solidFill>
              </a:rPr>
              <a:t>8.</a:t>
            </a:r>
            <a:r>
              <a:rPr lang="zh-CN" altLang="en-US" sz="2400">
                <a:solidFill>
                  <a:schemeClr val="tx1"/>
                </a:solidFill>
              </a:rPr>
              <a:t>琳琅满目的商品</a:t>
            </a:r>
            <a:r>
              <a:rPr lang="en-US" altLang="zh-CN" sz="2400">
                <a:solidFill>
                  <a:schemeClr val="tx1"/>
                </a:solidFill>
              </a:rPr>
              <a:t> </a:t>
            </a:r>
            <a:r>
              <a:rPr lang="en-US" altLang="zh-CN" sz="2400">
                <a:solidFill>
                  <a:schemeClr val="bg1"/>
                </a:solidFill>
              </a:rPr>
              <a:t>all kinds of goods</a:t>
            </a:r>
            <a:endParaRPr lang="en-US" altLang="zh-CN" sz="2400">
              <a:solidFill>
                <a:schemeClr val="tx1"/>
              </a:solidFill>
            </a:endParaRPr>
          </a:p>
          <a:p>
            <a:r>
              <a:rPr lang="en-US" altLang="zh-CN" sz="2400">
                <a:solidFill>
                  <a:schemeClr val="tx1"/>
                </a:solidFill>
              </a:rPr>
              <a:t>9.</a:t>
            </a:r>
            <a:r>
              <a:rPr lang="zh-CN" altLang="en-US" sz="2400">
                <a:solidFill>
                  <a:schemeClr val="tx1"/>
                </a:solidFill>
              </a:rPr>
              <a:t>鹅</a:t>
            </a:r>
            <a:r>
              <a:rPr lang="en-US" altLang="zh-CN" sz="2400">
                <a:solidFill>
                  <a:schemeClr val="tx1"/>
                </a:solidFill>
              </a:rPr>
              <a:t> n. </a:t>
            </a:r>
            <a:r>
              <a:rPr lang="en-US" altLang="zh-CN" sz="2400">
                <a:solidFill>
                  <a:schemeClr val="bg1"/>
                </a:solidFill>
              </a:rPr>
              <a:t>goose</a:t>
            </a:r>
            <a:endParaRPr lang="en-US" altLang="zh-CN" sz="2400">
              <a:solidFill>
                <a:schemeClr val="tx1"/>
              </a:solidFill>
            </a:endParaRPr>
          </a:p>
          <a:p>
            <a:r>
              <a:rPr lang="en-US" altLang="zh-CN" sz="2400">
                <a:solidFill>
                  <a:schemeClr val="tx1"/>
                </a:solidFill>
              </a:rPr>
              <a:t>10.</a:t>
            </a:r>
            <a:r>
              <a:rPr lang="zh-CN" altLang="en-US" sz="2400">
                <a:solidFill>
                  <a:schemeClr val="tx1"/>
                </a:solidFill>
              </a:rPr>
              <a:t>闲谈；说长道短</a:t>
            </a:r>
            <a:r>
              <a:rPr lang="en-US" altLang="zh-CN" sz="2400">
                <a:solidFill>
                  <a:schemeClr val="tx1"/>
                </a:solidFill>
              </a:rPr>
              <a:t> v. </a:t>
            </a:r>
            <a:r>
              <a:rPr lang="en-US" altLang="zh-CN" sz="2400">
                <a:solidFill>
                  <a:schemeClr val="bg1"/>
                </a:solidFill>
              </a:rPr>
              <a:t>gossip</a:t>
            </a:r>
            <a:endParaRPr lang="en-US" altLang="zh-CN" sz="2400">
              <a:solidFill>
                <a:schemeClr val="tx1"/>
              </a:solidFill>
            </a:endParaRPr>
          </a:p>
          <a:p>
            <a:r>
              <a:rPr lang="en-US" altLang="zh-CN" sz="2400">
                <a:solidFill>
                  <a:schemeClr val="tx1"/>
                </a:solidFill>
              </a:rPr>
              <a:t>11.</a:t>
            </a:r>
            <a:r>
              <a:rPr lang="zh-CN" altLang="en-US" sz="2400">
                <a:solidFill>
                  <a:schemeClr val="tx1"/>
                </a:solidFill>
              </a:rPr>
              <a:t>抓住某人的手臂</a:t>
            </a:r>
            <a:r>
              <a:rPr lang="en-US" altLang="zh-CN" sz="2400">
                <a:solidFill>
                  <a:schemeClr val="tx1"/>
                </a:solidFill>
              </a:rPr>
              <a:t> </a:t>
            </a:r>
            <a:r>
              <a:rPr lang="en-US" altLang="zh-CN" sz="2400">
                <a:solidFill>
                  <a:schemeClr val="bg1"/>
                </a:solidFill>
              </a:rPr>
              <a:t>grab sb. by the arm</a:t>
            </a:r>
            <a:endParaRPr lang="en-US" altLang="zh-CN" sz="2400">
              <a:solidFill>
                <a:schemeClr val="tx1"/>
              </a:solidFill>
            </a:endParaRPr>
          </a:p>
          <a:p>
            <a:r>
              <a:rPr lang="en-US" altLang="zh-CN" sz="2400">
                <a:solidFill>
                  <a:schemeClr val="tx1"/>
                </a:solidFill>
              </a:rPr>
              <a:t>12.graceful adj. </a:t>
            </a:r>
            <a:r>
              <a:rPr lang="en-US" altLang="zh-CN" sz="2400">
                <a:solidFill>
                  <a:schemeClr val="bg1"/>
                </a:solidFill>
              </a:rPr>
              <a:t>优雅的</a:t>
            </a:r>
            <a:endParaRPr lang="zh-CN" altLang="en-US" sz="2400">
              <a:solidFill>
                <a:schemeClr val="tx1"/>
              </a:solidFill>
            </a:endParaRPr>
          </a:p>
          <a:p>
            <a:r>
              <a:rPr lang="en-US" altLang="zh-CN" sz="2400">
                <a:solidFill>
                  <a:schemeClr val="tx1"/>
                </a:solidFill>
              </a:rPr>
              <a:t>13.gracious adj. </a:t>
            </a:r>
            <a:r>
              <a:rPr lang="en-US" altLang="zh-CN" sz="2400">
                <a:solidFill>
                  <a:schemeClr val="bg1"/>
                </a:solidFill>
              </a:rPr>
              <a:t>亲切的；慈祥的</a:t>
            </a:r>
            <a:endParaRPr lang="zh-CN" altLang="en-US" sz="2400">
              <a:solidFill>
                <a:schemeClr val="tx1"/>
              </a:solidFill>
            </a:endParaRPr>
          </a:p>
          <a:p>
            <a:r>
              <a:rPr lang="en-US" altLang="zh-CN" sz="2400">
                <a:solidFill>
                  <a:schemeClr val="tx1"/>
                </a:solidFill>
              </a:rPr>
              <a:t>14.</a:t>
            </a:r>
            <a:r>
              <a:rPr lang="zh-CN" altLang="en-US" sz="2400">
                <a:solidFill>
                  <a:schemeClr val="tx1"/>
                </a:solidFill>
              </a:rPr>
              <a:t>毕业典礼</a:t>
            </a:r>
            <a:r>
              <a:rPr lang="en-US" altLang="zh-CN" sz="2400">
                <a:solidFill>
                  <a:schemeClr val="tx1"/>
                </a:solidFill>
              </a:rPr>
              <a:t> </a:t>
            </a:r>
            <a:r>
              <a:rPr lang="en-US" altLang="zh-CN" sz="2400">
                <a:solidFill>
                  <a:schemeClr val="bg1"/>
                </a:solidFill>
              </a:rPr>
              <a:t>graduation ceremony</a:t>
            </a:r>
            <a:endParaRPr lang="en-US" altLang="zh-CN" sz="2400">
              <a:solidFill>
                <a:schemeClr val="tx1"/>
              </a:solidFill>
            </a:endParaRPr>
          </a:p>
          <a:p>
            <a:r>
              <a:rPr lang="en-US" altLang="zh-CN" sz="2400">
                <a:solidFill>
                  <a:schemeClr val="tx1"/>
                </a:solidFill>
              </a:rPr>
              <a:t>15.</a:t>
            </a:r>
            <a:r>
              <a:rPr lang="zh-CN" altLang="en-US" sz="2400">
                <a:solidFill>
                  <a:schemeClr val="tx1"/>
                </a:solidFill>
              </a:rPr>
              <a:t>谷物</a:t>
            </a:r>
            <a:r>
              <a:rPr lang="en-US" altLang="zh-CN" sz="2400">
                <a:solidFill>
                  <a:schemeClr val="tx1"/>
                </a:solidFill>
              </a:rPr>
              <a:t> n. </a:t>
            </a:r>
            <a:r>
              <a:rPr lang="en-US" altLang="zh-CN" sz="2400">
                <a:solidFill>
                  <a:schemeClr val="bg1"/>
                </a:solidFill>
              </a:rPr>
              <a:t>grain</a:t>
            </a:r>
            <a:endParaRPr lang="en-US" altLang="zh-CN" sz="2400">
              <a:solidFill>
                <a:schemeClr val="tx1"/>
              </a:solidFill>
            </a:endParaRPr>
          </a:p>
        </p:txBody>
      </p:sp>
      <p:sp>
        <p:nvSpPr>
          <p:cNvPr id="4" name="文本框 3"/>
          <p:cNvSpPr txBox="1"/>
          <p:nvPr/>
        </p:nvSpPr>
        <p:spPr>
          <a:xfrm>
            <a:off x="6223000" y="93980"/>
            <a:ext cx="5918200" cy="6642735"/>
          </a:xfrm>
          <a:prstGeom prst="rect">
            <a:avLst/>
          </a:prstGeom>
          <a:noFill/>
        </p:spPr>
        <p:txBody>
          <a:bodyPr wrap="square" rtlCol="0">
            <a:noAutofit/>
          </a:bodyPr>
          <a:p>
            <a:r>
              <a:rPr lang="en-US" altLang="zh-CN" sz="2400">
                <a:solidFill>
                  <a:schemeClr val="tx1"/>
                </a:solidFill>
              </a:rPr>
              <a:t>1</a:t>
            </a:r>
            <a:r>
              <a:rPr lang="en-US" sz="2400">
                <a:solidFill>
                  <a:schemeClr val="tx1"/>
                </a:solidFill>
              </a:rPr>
              <a:t>6.a grand view of sunrise </a:t>
            </a:r>
            <a:r>
              <a:rPr lang="en-US" altLang="zh-CN" sz="2400">
                <a:solidFill>
                  <a:schemeClr val="bg1"/>
                </a:solidFill>
              </a:rPr>
              <a:t>日出的壮丽景色</a:t>
            </a:r>
            <a:endParaRPr lang="en-US" altLang="zh-CN" sz="2400">
              <a:solidFill>
                <a:schemeClr val="bg1"/>
              </a:solidFill>
            </a:endParaRPr>
          </a:p>
          <a:p>
            <a:r>
              <a:rPr lang="en-US" altLang="zh-CN" sz="2400">
                <a:solidFill>
                  <a:schemeClr val="tx1"/>
                </a:solidFill>
              </a:rPr>
              <a:t>17.</a:t>
            </a:r>
            <a:r>
              <a:rPr lang="zh-CN" altLang="en-US" sz="2400">
                <a:solidFill>
                  <a:schemeClr val="tx1"/>
                </a:solidFill>
              </a:rPr>
              <a:t>许多大学毕业生认为拥有一份大学文凭找到一份称心的工作是理所当然的</a:t>
            </a:r>
            <a:r>
              <a:rPr lang="en-US" altLang="zh-CN" sz="2400">
                <a:solidFill>
                  <a:schemeClr val="tx1"/>
                </a:solidFill>
              </a:rPr>
              <a:t> </a:t>
            </a:r>
            <a:r>
              <a:rPr lang="en-US" altLang="zh-CN" sz="2400">
                <a:solidFill>
                  <a:schemeClr val="bg1"/>
                </a:solidFill>
              </a:rPr>
              <a:t>Many graduates take it for granted that they can land a good job with a college diploma after graduation.</a:t>
            </a:r>
            <a:endParaRPr lang="en-US" altLang="zh-CN" sz="2400">
              <a:solidFill>
                <a:schemeClr val="bg1"/>
              </a:solidFill>
            </a:endParaRPr>
          </a:p>
          <a:p>
            <a:r>
              <a:rPr lang="en-US" altLang="zh-CN" sz="2400">
                <a:solidFill>
                  <a:schemeClr val="tx1"/>
                </a:solidFill>
              </a:rPr>
              <a:t>18.grasp the meaning of the sentence </a:t>
            </a:r>
            <a:r>
              <a:rPr lang="en-US" altLang="zh-CN" sz="2400">
                <a:solidFill>
                  <a:schemeClr val="bg1"/>
                </a:solidFill>
              </a:rPr>
              <a:t>抓住句子意思</a:t>
            </a:r>
            <a:endParaRPr lang="en-US" altLang="zh-CN" sz="2400">
              <a:solidFill>
                <a:schemeClr val="bg1"/>
              </a:solidFill>
            </a:endParaRPr>
          </a:p>
          <a:p>
            <a:r>
              <a:rPr lang="en-US" altLang="zh-CN" sz="2400">
                <a:solidFill>
                  <a:schemeClr val="tx1"/>
                </a:solidFill>
              </a:rPr>
              <a:t>19.</a:t>
            </a:r>
            <a:r>
              <a:rPr lang="zh-CN" altLang="en-US" sz="2400">
                <a:solidFill>
                  <a:schemeClr val="tx1"/>
                </a:solidFill>
              </a:rPr>
              <a:t>因为消防员的舍己为人非常感激</a:t>
            </a:r>
            <a:r>
              <a:rPr lang="en-US" altLang="zh-CN" sz="2400">
                <a:solidFill>
                  <a:schemeClr val="tx1"/>
                </a:solidFill>
              </a:rPr>
              <a:t> </a:t>
            </a:r>
            <a:r>
              <a:rPr lang="en-US" altLang="zh-CN" sz="2400">
                <a:solidFill>
                  <a:schemeClr val="bg1"/>
                </a:solidFill>
              </a:rPr>
              <a:t>be grateful to the firefighters for their selflessness.</a:t>
            </a:r>
            <a:endParaRPr lang="en-US" altLang="zh-CN" sz="2400">
              <a:solidFill>
                <a:schemeClr val="bg1"/>
              </a:solidFill>
            </a:endParaRPr>
          </a:p>
        </p:txBody>
      </p:sp>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4.xml><?xml version="1.0" encoding="utf-8"?>
<p:tagLst xmlns:p="http://schemas.openxmlformats.org/presentationml/2006/main">
  <p:tag name="commondata" val="eyJoZGlkIjoiOGY5NTQyMzkzNzFlMTQ3ZjlhODAwMTUzYmI4YzEyZTc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656</Words>
  <Application>WPS 演示</Application>
  <PresentationFormat>宽屏</PresentationFormat>
  <Paragraphs>23</Paragraphs>
  <Slides>1</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vt:i4>
      </vt:variant>
    </vt:vector>
  </HeadingPairs>
  <TitlesOfParts>
    <vt:vector size="9" baseType="lpstr">
      <vt:lpstr>Arial</vt:lpstr>
      <vt:lpstr>宋体</vt:lpstr>
      <vt:lpstr>Wingdings</vt:lpstr>
      <vt:lpstr>Wingdings</vt:lpstr>
      <vt:lpstr>微软雅黑</vt:lpstr>
      <vt:lpstr>Arial Unicode MS</vt:lpstr>
      <vt:lpstr>Calibri</vt:lpstr>
      <vt:lpstr>WPS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程多涛</cp:lastModifiedBy>
  <cp:revision>156</cp:revision>
  <dcterms:created xsi:type="dcterms:W3CDTF">2019-06-19T02:08:00Z</dcterms:created>
  <dcterms:modified xsi:type="dcterms:W3CDTF">2024-05-16T10:48:18Z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2052-12.1.0.16929</vt:lpwstr>
  </property>
  <property fmtid="{D5CDD505-2E9C-101B-9397-08002B2CF9AE}" pid="3" name="ICV">
    <vt:lpwstr>F033B7FFA99E45249BDF168E98620426_11</vt:lpwstr>
  </property>
</Properties>
</file>