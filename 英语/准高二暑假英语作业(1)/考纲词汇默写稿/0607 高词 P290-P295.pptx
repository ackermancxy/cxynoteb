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坚果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nut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营养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nutrition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服从；听从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obey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4.objective n. </a:t>
            </a:r>
            <a:r>
              <a:rPr lang="en-US" altLang="zh-CN" sz="2400">
                <a:solidFill>
                  <a:schemeClr val="bg1"/>
                </a:solidFill>
              </a:rPr>
              <a:t>目标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反对做某事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object to (doing) sth.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6.be oblige to do sth. </a:t>
            </a:r>
            <a:r>
              <a:rPr lang="en-US" altLang="zh-CN" sz="2400">
                <a:solidFill>
                  <a:schemeClr val="bg1"/>
                </a:solidFill>
              </a:rPr>
              <a:t>不得不做；有义务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I would be oblged if ... </a:t>
            </a:r>
            <a:r>
              <a:rPr lang="en-US" altLang="zh-CN" sz="2400">
                <a:solidFill>
                  <a:schemeClr val="bg1"/>
                </a:solidFill>
              </a:rPr>
              <a:t>如果...我将感激不尽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观察；注意到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observe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8.obstacle n. </a:t>
            </a:r>
            <a:r>
              <a:rPr lang="en-US" altLang="zh-CN" sz="2400">
                <a:solidFill>
                  <a:schemeClr val="bg1"/>
                </a:solidFill>
              </a:rPr>
              <a:t>障碍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9.obtain v. </a:t>
            </a:r>
            <a:r>
              <a:rPr lang="en-US" altLang="zh-CN" sz="2400">
                <a:solidFill>
                  <a:schemeClr val="bg1"/>
                </a:solidFill>
              </a:rPr>
              <a:t>获得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显然的；明显的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obvious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11.on the occasion of </a:t>
            </a:r>
            <a:r>
              <a:rPr lang="en-US" altLang="zh-CN" sz="2400">
                <a:solidFill>
                  <a:schemeClr val="bg1"/>
                </a:solidFill>
              </a:rPr>
              <a:t>值...之际；在...场合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12.occupation n. </a:t>
            </a:r>
            <a:r>
              <a:rPr lang="en-US" altLang="zh-CN" sz="2400">
                <a:solidFill>
                  <a:schemeClr val="bg1"/>
                </a:solidFill>
              </a:rPr>
              <a:t>职业；占据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13.occupy sb. in doing sth </a:t>
            </a:r>
            <a:r>
              <a:rPr lang="en-US" altLang="zh-CN" sz="2400">
                <a:solidFill>
                  <a:schemeClr val="bg1"/>
                </a:solidFill>
              </a:rPr>
              <a:t>忙于...；专心于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某人从来没想到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it never occured to sb. that... 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15.odd adj. </a:t>
            </a:r>
            <a:r>
              <a:rPr lang="en-US" altLang="zh-CN" sz="2400">
                <a:solidFill>
                  <a:schemeClr val="bg1"/>
                </a:solidFill>
              </a:rPr>
              <a:t>奇怪的；奇数的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16.offence n. </a:t>
            </a:r>
            <a:r>
              <a:rPr lang="en-US" altLang="zh-CN" sz="2400">
                <a:solidFill>
                  <a:schemeClr val="bg1"/>
                </a:solidFill>
              </a:rPr>
              <a:t>犯法行为；冒失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官方的；正式的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official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18.omit v. </a:t>
            </a:r>
            <a:r>
              <a:rPr lang="en-US" altLang="zh-CN" sz="2400">
                <a:solidFill>
                  <a:schemeClr val="bg1"/>
                </a:solidFill>
              </a:rPr>
              <a:t>省略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19.at once </a:t>
            </a:r>
            <a:r>
              <a:rPr lang="en-US" altLang="zh-CN" sz="2400">
                <a:solidFill>
                  <a:schemeClr val="bg1"/>
                </a:solidFill>
              </a:rPr>
              <a:t>立即；马上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once again </a:t>
            </a:r>
            <a:r>
              <a:rPr lang="en-US" altLang="zh-CN" sz="2400">
                <a:solidFill>
                  <a:schemeClr val="bg1"/>
                </a:solidFill>
              </a:rPr>
              <a:t>再一次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once in a while </a:t>
            </a:r>
            <a:r>
              <a:rPr lang="zh-CN" altLang="en-US" sz="2400">
                <a:solidFill>
                  <a:schemeClr val="bg1"/>
                </a:solidFill>
              </a:rPr>
              <a:t>偶尔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once more </a:t>
            </a:r>
            <a:r>
              <a:rPr lang="zh-CN" altLang="en-US" sz="2400">
                <a:solidFill>
                  <a:schemeClr val="bg1"/>
                </a:solidFill>
              </a:rPr>
              <a:t>再次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20.a one-sided argument </a:t>
            </a:r>
            <a:r>
              <a:rPr lang="zh-CN" altLang="en-US" sz="2400">
                <a:solidFill>
                  <a:schemeClr val="bg1"/>
                </a:solidFill>
              </a:rPr>
              <a:t>片面的论点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WPS 演示</Application>
  <PresentationFormat>宽屏</PresentationFormat>
  <Paragraphs>26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2024-06-05T07:13:19Z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5A57BCD2FBBF4797B790D655805B8C95_11</vt:lpwstr>
  </property>
</Properties>
</file>