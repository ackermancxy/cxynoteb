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custDataLst>
    <p:tags r:id="rId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1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582"/>
      </p:cViewPr>
      <p:guideLst>
        <p:guide orient="horz" pos="2151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gs" Target="tags/tag64.xml"/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77800" y="93980"/>
            <a:ext cx="5918200" cy="66427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>
                <a:solidFill>
                  <a:schemeClr val="tx1"/>
                </a:solidFill>
              </a:rPr>
              <a:t>1.</a:t>
            </a:r>
            <a:r>
              <a:rPr lang="zh-CN" altLang="en-US" sz="2400">
                <a:solidFill>
                  <a:schemeClr val="tx1"/>
                </a:solidFill>
              </a:rPr>
              <a:t>实践的；实际的</a:t>
            </a:r>
            <a:r>
              <a:rPr lang="en-US" altLang="zh-CN" sz="2400">
                <a:solidFill>
                  <a:schemeClr val="tx1"/>
                </a:solidFill>
              </a:rPr>
              <a:t> adj. </a:t>
            </a:r>
            <a:r>
              <a:rPr lang="en-US" altLang="zh-CN" sz="2400">
                <a:solidFill>
                  <a:schemeClr val="bg1"/>
                </a:solidFill>
              </a:rPr>
              <a:t>practical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2.</a:t>
            </a:r>
            <a:r>
              <a:rPr lang="zh-CN" altLang="en-US" sz="2400">
                <a:solidFill>
                  <a:schemeClr val="tx1"/>
                </a:solidFill>
              </a:rPr>
              <a:t>赞扬；表扬</a:t>
            </a:r>
            <a:r>
              <a:rPr lang="en-US" altLang="zh-CN" sz="2400">
                <a:solidFill>
                  <a:schemeClr val="tx1"/>
                </a:solidFill>
              </a:rPr>
              <a:t> v. </a:t>
            </a:r>
            <a:r>
              <a:rPr lang="en-US" altLang="zh-CN" sz="2400">
                <a:solidFill>
                  <a:schemeClr val="bg1"/>
                </a:solidFill>
              </a:rPr>
              <a:t>praise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3.</a:t>
            </a:r>
            <a:r>
              <a:rPr lang="zh-CN" altLang="en-US" sz="2400">
                <a:solidFill>
                  <a:schemeClr val="tx1"/>
                </a:solidFill>
              </a:rPr>
              <a:t>祈祷；祈求</a:t>
            </a:r>
            <a:r>
              <a:rPr lang="en-US" altLang="zh-CN" sz="2400">
                <a:solidFill>
                  <a:schemeClr val="tx1"/>
                </a:solidFill>
              </a:rPr>
              <a:t> v. </a:t>
            </a:r>
            <a:r>
              <a:rPr lang="en-US" altLang="zh-CN" sz="2400">
                <a:solidFill>
                  <a:schemeClr val="bg1"/>
                </a:solidFill>
              </a:rPr>
              <a:t>pray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4.</a:t>
            </a:r>
            <a:r>
              <a:rPr lang="zh-CN" altLang="en-US" sz="2400">
                <a:solidFill>
                  <a:schemeClr val="tx1"/>
                </a:solidFill>
              </a:rPr>
              <a:t>珍贵的；贵重的</a:t>
            </a:r>
            <a:r>
              <a:rPr lang="en-US" altLang="zh-CN" sz="2400">
                <a:solidFill>
                  <a:schemeClr val="tx1"/>
                </a:solidFill>
              </a:rPr>
              <a:t> adj. </a:t>
            </a:r>
            <a:r>
              <a:rPr lang="en-US" altLang="zh-CN" sz="2400">
                <a:solidFill>
                  <a:schemeClr val="bg1"/>
                </a:solidFill>
              </a:rPr>
              <a:t>precious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5.</a:t>
            </a:r>
            <a:r>
              <a:rPr lang="zh-CN" altLang="en-US" sz="2400">
                <a:solidFill>
                  <a:schemeClr val="tx1"/>
                </a:solidFill>
              </a:rPr>
              <a:t>准确的；精准的</a:t>
            </a:r>
            <a:r>
              <a:rPr lang="en-US" altLang="zh-CN" sz="2400">
                <a:solidFill>
                  <a:schemeClr val="tx1"/>
                </a:solidFill>
              </a:rPr>
              <a:t> adj. </a:t>
            </a:r>
            <a:r>
              <a:rPr lang="en-US" altLang="zh-CN" sz="2400">
                <a:solidFill>
                  <a:schemeClr val="bg1"/>
                </a:solidFill>
              </a:rPr>
              <a:t>precise</a:t>
            </a:r>
            <a:endParaRPr lang="en-US" altLang="zh-CN" sz="2400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6.</a:t>
            </a:r>
            <a:r>
              <a:rPr lang="zh-CN" altLang="en-US" sz="2400">
                <a:solidFill>
                  <a:schemeClr val="tx1"/>
                </a:solidFill>
              </a:rPr>
              <a:t>预测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prediction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7.</a:t>
            </a:r>
            <a:r>
              <a:rPr lang="zh-CN" altLang="en-US" sz="2400">
                <a:solidFill>
                  <a:schemeClr val="tx1"/>
                </a:solidFill>
              </a:rPr>
              <a:t>宁愿</a:t>
            </a:r>
            <a:r>
              <a:rPr lang="en-US" altLang="zh-CN" sz="2400">
                <a:solidFill>
                  <a:schemeClr val="tx1"/>
                </a:solidFill>
              </a:rPr>
              <a:t>...</a:t>
            </a:r>
            <a:r>
              <a:rPr lang="zh-CN" altLang="en-US" sz="2400">
                <a:solidFill>
                  <a:schemeClr val="tx1"/>
                </a:solidFill>
              </a:rPr>
              <a:t>不愿</a:t>
            </a:r>
            <a:r>
              <a:rPr lang="en-US" altLang="zh-CN" sz="2400">
                <a:solidFill>
                  <a:schemeClr val="tx1"/>
                </a:solidFill>
              </a:rPr>
              <a:t>... </a:t>
            </a:r>
            <a:r>
              <a:rPr lang="en-US" altLang="zh-CN" sz="2400">
                <a:solidFill>
                  <a:schemeClr val="bg1"/>
                </a:solidFill>
              </a:rPr>
              <a:t>prefer... rather than...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8.</a:t>
            </a:r>
            <a:r>
              <a:rPr lang="zh-CN" altLang="en-US" sz="2400">
                <a:solidFill>
                  <a:schemeClr val="tx1"/>
                </a:solidFill>
              </a:rPr>
              <a:t>偏爱；偏好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preference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9.</a:t>
            </a:r>
            <a:r>
              <a:rPr lang="zh-CN" altLang="en-US" sz="2400">
                <a:solidFill>
                  <a:schemeClr val="tx1"/>
                </a:solidFill>
              </a:rPr>
              <a:t>怀孕的</a:t>
            </a:r>
            <a:r>
              <a:rPr lang="en-US" altLang="zh-CN" sz="2400">
                <a:solidFill>
                  <a:schemeClr val="tx1"/>
                </a:solidFill>
              </a:rPr>
              <a:t> adj. </a:t>
            </a:r>
            <a:r>
              <a:rPr lang="en-US" altLang="zh-CN" sz="2400">
                <a:solidFill>
                  <a:schemeClr val="bg1"/>
                </a:solidFill>
              </a:rPr>
              <a:t>pregnant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10.</a:t>
            </a:r>
            <a:r>
              <a:rPr lang="zh-CN" altLang="en-US" sz="2400">
                <a:solidFill>
                  <a:schemeClr val="tx1"/>
                </a:solidFill>
              </a:rPr>
              <a:t>偏见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prejudice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11.</a:t>
            </a:r>
            <a:r>
              <a:rPr lang="zh-CN" altLang="en-US" sz="2400">
                <a:solidFill>
                  <a:schemeClr val="tx1"/>
                </a:solidFill>
              </a:rPr>
              <a:t>总理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premier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12.</a:t>
            </a:r>
            <a:r>
              <a:rPr lang="zh-CN" altLang="en-US" sz="2400">
                <a:solidFill>
                  <a:schemeClr val="tx1"/>
                </a:solidFill>
              </a:rPr>
              <a:t>为</a:t>
            </a:r>
            <a:r>
              <a:rPr lang="en-US" altLang="zh-CN" sz="2400">
                <a:solidFill>
                  <a:schemeClr val="tx1"/>
                </a:solidFill>
              </a:rPr>
              <a:t>...</a:t>
            </a:r>
            <a:r>
              <a:rPr lang="zh-CN" altLang="en-US" sz="2400">
                <a:solidFill>
                  <a:schemeClr val="tx1"/>
                </a:solidFill>
              </a:rPr>
              <a:t>做准备</a:t>
            </a:r>
            <a:r>
              <a:rPr lang="en-US" altLang="zh-CN" sz="2400">
                <a:solidFill>
                  <a:schemeClr val="tx1"/>
                </a:solidFill>
              </a:rPr>
              <a:t> </a:t>
            </a:r>
            <a:r>
              <a:rPr lang="en-US" altLang="zh-CN" sz="2400">
                <a:solidFill>
                  <a:schemeClr val="bg1"/>
                </a:solidFill>
              </a:rPr>
              <a:t>prepare for...</a:t>
            </a:r>
            <a:endParaRPr lang="en-US" altLang="zh-CN" sz="2400">
              <a:solidFill>
                <a:schemeClr val="tx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13.preserve v. </a:t>
            </a:r>
            <a:r>
              <a:rPr lang="en-US" altLang="zh-CN" sz="2400">
                <a:solidFill>
                  <a:schemeClr val="bg1"/>
                </a:solidFill>
              </a:rPr>
              <a:t>保护；保存</a:t>
            </a:r>
            <a:endParaRPr lang="en-US" altLang="zh-CN" sz="2400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14.</a:t>
            </a:r>
            <a:r>
              <a:rPr lang="zh-CN" altLang="en-US" sz="2400">
                <a:solidFill>
                  <a:schemeClr val="tx1"/>
                </a:solidFill>
              </a:rPr>
              <a:t>总统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president</a:t>
            </a:r>
            <a:endParaRPr lang="en-US" altLang="zh-CN" sz="2400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15.press n. </a:t>
            </a:r>
            <a:r>
              <a:rPr lang="en-US" altLang="zh-CN" sz="2400">
                <a:solidFill>
                  <a:schemeClr val="bg1"/>
                </a:solidFill>
              </a:rPr>
              <a:t>报刊；新闻舆论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16.</a:t>
            </a:r>
            <a:r>
              <a:rPr lang="zh-CN" altLang="en-US" sz="2400">
                <a:solidFill>
                  <a:schemeClr val="tx1"/>
                </a:solidFill>
              </a:rPr>
              <a:t>假装去做</a:t>
            </a:r>
            <a:r>
              <a:rPr lang="en-US" altLang="zh-CN" sz="2400">
                <a:solidFill>
                  <a:schemeClr val="tx1"/>
                </a:solidFill>
              </a:rPr>
              <a:t> </a:t>
            </a:r>
            <a:r>
              <a:rPr lang="en-US" altLang="zh-CN" sz="2400">
                <a:solidFill>
                  <a:schemeClr val="bg1"/>
                </a:solidFill>
              </a:rPr>
              <a:t>pretend to do sth.</a:t>
            </a:r>
            <a:endParaRPr lang="en-US" altLang="zh-CN" sz="2400">
              <a:solidFill>
                <a:schemeClr val="tx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17.</a:t>
            </a:r>
            <a:r>
              <a:rPr lang="zh-CN" altLang="en-US" sz="2400">
                <a:solidFill>
                  <a:schemeClr val="tx1"/>
                </a:solidFill>
              </a:rPr>
              <a:t>阻止某人做某事</a:t>
            </a:r>
            <a:r>
              <a:rPr lang="en-US" altLang="zh-CN" sz="2400">
                <a:solidFill>
                  <a:schemeClr val="tx1"/>
                </a:solidFill>
              </a:rPr>
              <a:t> </a:t>
            </a:r>
            <a:r>
              <a:rPr lang="en-US" altLang="zh-CN" sz="2400">
                <a:solidFill>
                  <a:schemeClr val="bg1"/>
                </a:solidFill>
              </a:rPr>
              <a:t>prevent sb. from doing sth.</a:t>
            </a:r>
            <a:endParaRPr lang="en-US" altLang="zh-CN" sz="2400">
              <a:solidFill>
                <a:schemeClr val="bg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223000" y="93980"/>
            <a:ext cx="5918200" cy="66427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1</a:t>
            </a:r>
            <a:r>
              <a:rPr lang="en-US" sz="2400">
                <a:solidFill>
                  <a:schemeClr val="tx1"/>
                </a:solidFill>
              </a:rPr>
              <a:t>8.</a:t>
            </a:r>
            <a:r>
              <a:rPr lang="zh-CN" altLang="en-US" sz="2400">
                <a:solidFill>
                  <a:schemeClr val="tx1"/>
                </a:solidFill>
              </a:rPr>
              <a:t>预习；预演</a:t>
            </a:r>
            <a:r>
              <a:rPr lang="en-US" altLang="zh-CN" sz="2400">
                <a:solidFill>
                  <a:schemeClr val="tx1"/>
                </a:solidFill>
              </a:rPr>
              <a:t> v. </a:t>
            </a:r>
            <a:r>
              <a:rPr lang="en-US" altLang="zh-CN" sz="2400">
                <a:solidFill>
                  <a:schemeClr val="bg1"/>
                </a:solidFill>
              </a:rPr>
              <a:t>preview</a:t>
            </a:r>
            <a:endParaRPr lang="en-US" altLang="zh-CN" sz="2400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19.</a:t>
            </a:r>
            <a:r>
              <a:rPr lang="zh-CN" altLang="en-US" sz="2400">
                <a:solidFill>
                  <a:schemeClr val="tx1"/>
                </a:solidFill>
              </a:rPr>
              <a:t>先前的</a:t>
            </a:r>
            <a:r>
              <a:rPr lang="en-US" altLang="zh-CN" sz="2400">
                <a:solidFill>
                  <a:schemeClr val="tx1"/>
                </a:solidFill>
              </a:rPr>
              <a:t> adj. </a:t>
            </a:r>
            <a:r>
              <a:rPr lang="en-US" altLang="zh-CN" sz="2400">
                <a:solidFill>
                  <a:schemeClr val="bg1"/>
                </a:solidFill>
              </a:rPr>
              <a:t>previous</a:t>
            </a:r>
            <a:endParaRPr lang="en-US" altLang="zh-CN" sz="2400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20.</a:t>
            </a:r>
            <a:r>
              <a:rPr lang="zh-CN" altLang="en-US" sz="2400">
                <a:solidFill>
                  <a:schemeClr val="tx1"/>
                </a:solidFill>
              </a:rPr>
              <a:t>猎物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prey</a:t>
            </a:r>
            <a:endParaRPr lang="en-US" altLang="zh-CN" sz="2400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21.</a:t>
            </a:r>
            <a:r>
              <a:rPr lang="zh-CN" altLang="en-US" sz="2400">
                <a:solidFill>
                  <a:schemeClr val="tx1"/>
                </a:solidFill>
              </a:rPr>
              <a:t>以</a:t>
            </a:r>
            <a:r>
              <a:rPr lang="en-US" altLang="zh-CN" sz="2400">
                <a:solidFill>
                  <a:schemeClr val="tx1"/>
                </a:solidFill>
              </a:rPr>
              <a:t>...</a:t>
            </a:r>
            <a:r>
              <a:rPr lang="zh-CN" altLang="en-US" sz="2400">
                <a:solidFill>
                  <a:schemeClr val="tx1"/>
                </a:solidFill>
              </a:rPr>
              <a:t>的代价</a:t>
            </a:r>
            <a:r>
              <a:rPr lang="en-US" altLang="zh-CN" sz="2400">
                <a:solidFill>
                  <a:schemeClr val="tx1"/>
                </a:solidFill>
              </a:rPr>
              <a:t> </a:t>
            </a:r>
            <a:r>
              <a:rPr lang="en-US" altLang="zh-CN" sz="2400">
                <a:solidFill>
                  <a:schemeClr val="bg1"/>
                </a:solidFill>
              </a:rPr>
              <a:t>at the price of...</a:t>
            </a:r>
            <a:endParaRPr lang="en-US" altLang="zh-CN" sz="2400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     </a:t>
            </a:r>
            <a:r>
              <a:rPr lang="zh-CN" altLang="en-US" sz="2400">
                <a:solidFill>
                  <a:schemeClr val="tx1"/>
                </a:solidFill>
              </a:rPr>
              <a:t>定价</a:t>
            </a:r>
            <a:r>
              <a:rPr lang="en-US" altLang="zh-CN" sz="2400">
                <a:solidFill>
                  <a:schemeClr val="tx1"/>
                </a:solidFill>
              </a:rPr>
              <a:t> </a:t>
            </a:r>
            <a:r>
              <a:rPr lang="en-US" altLang="zh-CN" sz="2400">
                <a:solidFill>
                  <a:schemeClr val="bg1"/>
                </a:solidFill>
              </a:rPr>
              <a:t>fixed price</a:t>
            </a:r>
            <a:endParaRPr lang="en-US" altLang="zh-CN" sz="2400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22.</a:t>
            </a:r>
            <a:r>
              <a:rPr lang="zh-CN" altLang="en-US" sz="2400">
                <a:solidFill>
                  <a:schemeClr val="tx1"/>
                </a:solidFill>
              </a:rPr>
              <a:t>原始的；远古的</a:t>
            </a:r>
            <a:r>
              <a:rPr lang="en-US" altLang="zh-CN" sz="2400">
                <a:solidFill>
                  <a:schemeClr val="tx1"/>
                </a:solidFill>
              </a:rPr>
              <a:t> adj. </a:t>
            </a:r>
            <a:r>
              <a:rPr lang="en-US" altLang="zh-CN" sz="2400">
                <a:solidFill>
                  <a:schemeClr val="bg1"/>
                </a:solidFill>
              </a:rPr>
              <a:t>primitive</a:t>
            </a:r>
            <a:endParaRPr lang="en-US" altLang="zh-CN" sz="2400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23.principal adj. </a:t>
            </a:r>
            <a:r>
              <a:rPr lang="en-US" altLang="zh-CN" sz="2400">
                <a:solidFill>
                  <a:schemeClr val="bg1"/>
                </a:solidFill>
              </a:rPr>
              <a:t>最重要的；主要的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     n. </a:t>
            </a:r>
            <a:r>
              <a:rPr lang="en-US" altLang="zh-CN" sz="2400">
                <a:solidFill>
                  <a:schemeClr val="bg1"/>
                </a:solidFill>
              </a:rPr>
              <a:t>校长</a:t>
            </a:r>
            <a:endParaRPr lang="zh-CN" altLang="en-US" sz="2400">
              <a:solidFill>
                <a:schemeClr val="tx1"/>
              </a:solidFill>
            </a:endParaRP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commondata" val="eyJoZGlkIjoiOGY5NTQyMzkzNzFlMTQ3ZjlhODAwMTUzYmI4YzEyZTc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537</Words>
  <Application>WPS 演示</Application>
  <PresentationFormat>宽屏</PresentationFormat>
  <Paragraphs>27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程多涛</cp:lastModifiedBy>
  <cp:revision>156</cp:revision>
  <dcterms:created xsi:type="dcterms:W3CDTF">2019-06-19T02:08:00Z</dcterms:created>
  <dcterms:modified xsi:type="dcterms:W3CDTF">2024-06-14T00:33:47Z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2052-12.1.0.16929</vt:lpwstr>
  </property>
  <property fmtid="{D5CDD505-2E9C-101B-9397-08002B2CF9AE}" pid="3" name="ICV">
    <vt:lpwstr>628053972F0F4D21BE682311D122AD6E_11</vt:lpwstr>
  </property>
</Properties>
</file>