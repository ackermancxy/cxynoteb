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</a:t>
            </a:r>
            <a:r>
              <a:rPr lang="zh-CN" altLang="en-US" sz="2400"/>
              <a:t>放弃；遗弃</a:t>
            </a:r>
            <a:r>
              <a:rPr lang="en-US" altLang="zh-CN" sz="2400"/>
              <a:t> v. </a:t>
            </a:r>
            <a:r>
              <a:rPr lang="en-US" altLang="zh-CN" sz="2400">
                <a:solidFill>
                  <a:schemeClr val="bg1"/>
                </a:solidFill>
              </a:rPr>
              <a:t>abandon</a:t>
            </a:r>
            <a:endParaRPr lang="en-US" altLang="zh-CN" sz="2400"/>
          </a:p>
          <a:p>
            <a:r>
              <a:rPr lang="en-US" altLang="zh-CN" sz="2400"/>
              <a:t>2.</a:t>
            </a:r>
            <a:r>
              <a:rPr lang="zh-CN" altLang="en-US" sz="2400"/>
              <a:t>能力；本领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ability</a:t>
            </a:r>
            <a:endParaRPr lang="en-US" altLang="zh-CN" sz="2400"/>
          </a:p>
          <a:p>
            <a:r>
              <a:rPr lang="en-US" altLang="zh-CN" sz="2400"/>
              <a:t>3.</a:t>
            </a:r>
            <a:r>
              <a:rPr lang="zh-CN" altLang="en-US" sz="2400"/>
              <a:t>有能力做某事；能够做某事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have the ability to do sth.</a:t>
            </a:r>
            <a:r>
              <a:rPr lang="en-US" altLang="zh-CN" sz="2400">
                <a:solidFill>
                  <a:schemeClr val="tx1"/>
                </a:solidFill>
              </a:rPr>
              <a:t>=</a:t>
            </a:r>
            <a:r>
              <a:rPr lang="en-US" altLang="zh-CN" sz="2400">
                <a:solidFill>
                  <a:schemeClr val="bg1"/>
                </a:solidFill>
              </a:rPr>
              <a:t>be able to do sth.</a:t>
            </a:r>
            <a:r>
              <a:rPr lang="en-US" altLang="zh-CN" sz="2400">
                <a:solidFill>
                  <a:schemeClr val="tx1"/>
                </a:solidFill>
              </a:rPr>
              <a:t>=</a:t>
            </a:r>
            <a:r>
              <a:rPr lang="en-US" altLang="zh-CN" sz="2400">
                <a:solidFill>
                  <a:schemeClr val="bg1"/>
                </a:solidFill>
              </a:rPr>
              <a:t>be capable of doing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/>
              <a:t>4.</a:t>
            </a:r>
            <a:r>
              <a:rPr lang="zh-CN" altLang="en-US" sz="2400"/>
              <a:t>反常的；异常的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abnormal</a:t>
            </a:r>
            <a:endParaRPr lang="en-US" altLang="zh-CN" sz="2400"/>
          </a:p>
          <a:p>
            <a:r>
              <a:rPr lang="en-US" altLang="zh-CN" sz="2400"/>
              <a:t>5.</a:t>
            </a:r>
            <a:r>
              <a:rPr lang="zh-CN" altLang="en-US" sz="2400"/>
              <a:t>上船；登机</a:t>
            </a:r>
            <a:r>
              <a:rPr lang="en-US" altLang="zh-CN" sz="2400"/>
              <a:t> adv. </a:t>
            </a:r>
            <a:r>
              <a:rPr lang="en-US" altLang="zh-CN" sz="2400">
                <a:solidFill>
                  <a:schemeClr val="bg1"/>
                </a:solidFill>
              </a:rPr>
              <a:t>aboard</a:t>
            </a:r>
            <a:endParaRPr lang="en-US" altLang="zh-CN" sz="2400"/>
          </a:p>
          <a:p>
            <a:r>
              <a:rPr lang="en-US" altLang="zh-CN" sz="2400"/>
              <a:t>6.</a:t>
            </a:r>
            <a:r>
              <a:rPr lang="zh-CN" altLang="en-US" sz="2400"/>
              <a:t>将要做某事</a:t>
            </a:r>
            <a:r>
              <a:rPr lang="en-US" altLang="zh-CN" sz="2400"/>
              <a:t>...</a:t>
            </a:r>
            <a:r>
              <a:rPr lang="zh-CN" altLang="en-US" sz="2400"/>
              <a:t>突然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be about to do when...</a:t>
            </a:r>
            <a:endParaRPr lang="en-US" altLang="zh-CN" sz="2400"/>
          </a:p>
          <a:p>
            <a:r>
              <a:rPr lang="en-US" altLang="zh-CN" sz="2400"/>
              <a:t>   </a:t>
            </a:r>
            <a:r>
              <a:rPr lang="zh-CN" altLang="en-US" sz="2400"/>
              <a:t>正在做某事</a:t>
            </a:r>
            <a:r>
              <a:rPr lang="en-US" altLang="zh-CN" sz="2400"/>
              <a:t>...</a:t>
            </a:r>
            <a:r>
              <a:rPr lang="zh-CN" altLang="en-US" sz="2400"/>
              <a:t>突然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be doing when...</a:t>
            </a:r>
            <a:endParaRPr lang="en-US" altLang="zh-CN" sz="2400"/>
          </a:p>
          <a:p>
            <a:r>
              <a:rPr lang="en-US" altLang="zh-CN" sz="2400"/>
              <a:t>7.above all </a:t>
            </a:r>
            <a:r>
              <a:rPr lang="en-US" altLang="zh-CN" sz="2400">
                <a:solidFill>
                  <a:schemeClr val="bg1"/>
                </a:solidFill>
              </a:rPr>
              <a:t>尤其是；更重要的是</a:t>
            </a:r>
            <a:endParaRPr lang="zh-CN" altLang="en-US" sz="2400"/>
          </a:p>
          <a:p>
            <a:r>
              <a:rPr lang="en-US" altLang="zh-CN" sz="2400"/>
              <a:t>8.</a:t>
            </a:r>
            <a:r>
              <a:rPr lang="zh-CN" altLang="en-US" sz="2400"/>
              <a:t>在国内外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at home and abroad</a:t>
            </a:r>
            <a:endParaRPr lang="en-US" altLang="zh-CN" sz="2400"/>
          </a:p>
          <a:p>
            <a:r>
              <a:rPr lang="en-US" altLang="zh-CN" sz="2400"/>
              <a:t>9.</a:t>
            </a:r>
            <a:r>
              <a:rPr lang="zh-CN" altLang="en-US" sz="2400"/>
              <a:t>在缺少水资源的情况下</a:t>
            </a:r>
            <a:r>
              <a:rPr lang="en-US" altLang="zh-CN" sz="2400"/>
              <a:t>(absence) </a:t>
            </a:r>
            <a:r>
              <a:rPr lang="en-US" altLang="zh-CN" sz="2400">
                <a:solidFill>
                  <a:schemeClr val="bg1"/>
                </a:solidFill>
              </a:rPr>
              <a:t>in the absence of water resource</a:t>
            </a:r>
            <a:endParaRPr lang="en-US" altLang="zh-CN" sz="2400"/>
          </a:p>
          <a:p>
            <a:r>
              <a:rPr lang="en-US" altLang="zh-CN" sz="2400"/>
              <a:t>10.</a:t>
            </a:r>
            <a:r>
              <a:rPr lang="zh-CN" altLang="en-US" sz="2400"/>
              <a:t>不在；缺席</a:t>
            </a:r>
            <a:r>
              <a:rPr lang="en-US" altLang="zh-CN" sz="2400"/>
              <a:t>(absent) </a:t>
            </a:r>
            <a:r>
              <a:rPr lang="en-US" altLang="zh-CN" sz="2400">
                <a:solidFill>
                  <a:schemeClr val="bg1"/>
                </a:solidFill>
              </a:rPr>
              <a:t>be absent from...</a:t>
            </a:r>
            <a:endParaRPr lang="en-US" altLang="zh-CN" sz="2400"/>
          </a:p>
          <a:p>
            <a:r>
              <a:rPr lang="en-US" altLang="zh-CN" sz="2400"/>
              <a:t>11.</a:t>
            </a:r>
            <a:r>
              <a:rPr lang="zh-CN" altLang="en-US" sz="2400"/>
              <a:t>吸收；使全神贯注</a:t>
            </a:r>
            <a:r>
              <a:rPr lang="en-US" altLang="zh-CN" sz="2400"/>
              <a:t> v. </a:t>
            </a:r>
            <a:r>
              <a:rPr lang="en-US" altLang="zh-CN" sz="2400">
                <a:solidFill>
                  <a:schemeClr val="bg1"/>
                </a:solidFill>
              </a:rPr>
              <a:t>absorb</a:t>
            </a:r>
            <a:endParaRPr lang="en-US" altLang="zh-CN" sz="2400"/>
          </a:p>
          <a:p>
            <a:r>
              <a:rPr lang="en-US" altLang="zh-CN" sz="2400"/>
              <a:t>12.</a:t>
            </a:r>
            <a:r>
              <a:rPr lang="zh-CN" altLang="en-US" sz="2400"/>
              <a:t>专心致志于；致力于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be absorbed in</a:t>
            </a:r>
            <a:r>
              <a:rPr lang="en-US" altLang="zh-CN" sz="2400"/>
              <a:t>=</a:t>
            </a:r>
            <a:r>
              <a:rPr lang="en-US" altLang="zh-CN" sz="2400">
                <a:solidFill>
                  <a:schemeClr val="bg1"/>
                </a:solidFill>
              </a:rPr>
              <a:t>be immersed in</a:t>
            </a:r>
            <a:r>
              <a:rPr lang="en-US" altLang="zh-CN" sz="2400"/>
              <a:t>=</a:t>
            </a:r>
            <a:r>
              <a:rPr lang="en-US" altLang="zh-CN" sz="2400">
                <a:solidFill>
                  <a:schemeClr val="bg1"/>
                </a:solidFill>
              </a:rPr>
              <a:t>be engrossed in</a:t>
            </a:r>
            <a:r>
              <a:rPr lang="en-US" altLang="zh-CN" sz="2400"/>
              <a:t>=</a:t>
            </a:r>
            <a:r>
              <a:rPr lang="en-US" altLang="zh-CN" sz="2400">
                <a:solidFill>
                  <a:schemeClr val="bg1"/>
                </a:solidFill>
              </a:rPr>
              <a:t>be dedicated to</a:t>
            </a:r>
            <a:r>
              <a:rPr lang="en-US" altLang="zh-CN" sz="2400"/>
              <a:t>=</a:t>
            </a:r>
            <a:r>
              <a:rPr lang="en-US" altLang="zh-CN" sz="2400">
                <a:solidFill>
                  <a:schemeClr val="bg1"/>
                </a:solidFill>
              </a:rPr>
              <a:t>be devoted to</a:t>
            </a:r>
            <a:endParaRPr lang="en-US" altLang="zh-CN" sz="2400"/>
          </a:p>
        </p:txBody>
      </p:sp>
      <p:sp>
        <p:nvSpPr>
          <p:cNvPr id="5" name="文本框 4"/>
          <p:cNvSpPr txBox="1"/>
          <p:nvPr/>
        </p:nvSpPr>
        <p:spPr>
          <a:xfrm>
            <a:off x="615188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</a:t>
            </a:r>
            <a:r>
              <a:rPr lang="en-US" sz="2400"/>
              <a:t>3.abstract n. </a:t>
            </a:r>
            <a:r>
              <a:rPr lang="en-US" altLang="zh-CN" sz="2400">
                <a:solidFill>
                  <a:schemeClr val="bg1"/>
                </a:solidFill>
              </a:rPr>
              <a:t>摘要；梗概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抽象的</a:t>
            </a:r>
            <a:endParaRPr lang="zh-CN" altLang="en-US" sz="2400"/>
          </a:p>
          <a:p>
            <a:r>
              <a:rPr lang="en-US" altLang="zh-CN" sz="2400"/>
              <a:t>14.</a:t>
            </a:r>
            <a:r>
              <a:rPr lang="zh-CN" altLang="en-US" sz="2400"/>
              <a:t>药物滥用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drug abuse</a:t>
            </a:r>
            <a:endParaRPr lang="en-US" altLang="zh-CN" sz="2400"/>
          </a:p>
          <a:p>
            <a:r>
              <a:rPr lang="en-US" altLang="zh-CN" sz="2400"/>
              <a:t>15.</a:t>
            </a:r>
            <a:r>
              <a:rPr lang="zh-CN" altLang="en-US" sz="2400"/>
              <a:t>学术的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academic</a:t>
            </a:r>
            <a:endParaRPr lang="en-US" altLang="zh-CN" sz="2400"/>
          </a:p>
          <a:p>
            <a:r>
              <a:rPr lang="en-US" altLang="zh-CN" sz="2400"/>
              <a:t>16.</a:t>
            </a:r>
            <a:r>
              <a:rPr lang="zh-CN" altLang="en-US" sz="2400"/>
              <a:t>口音；腔调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accent</a:t>
            </a:r>
            <a:endParaRPr lang="en-US" altLang="zh-CN" sz="2400"/>
          </a:p>
          <a:p>
            <a:r>
              <a:rPr lang="en-US" altLang="zh-CN" sz="2400"/>
              <a:t>17.</a:t>
            </a:r>
            <a:r>
              <a:rPr lang="zh-CN" altLang="en-US" sz="2400"/>
              <a:t>可接受的；合意的</a:t>
            </a:r>
            <a:r>
              <a:rPr lang="en-US" altLang="zh-CN" sz="2400"/>
              <a:t> adj. </a:t>
            </a:r>
            <a:r>
              <a:rPr lang="en-US" altLang="zh-CN" sz="2400">
                <a:solidFill>
                  <a:schemeClr val="bg1"/>
                </a:solidFill>
              </a:rPr>
              <a:t>acceptable</a:t>
            </a:r>
            <a:endParaRPr lang="en-US" altLang="zh-CN" sz="2400"/>
          </a:p>
          <a:p>
            <a:r>
              <a:rPr lang="en-US" altLang="zh-CN" sz="2400"/>
              <a:t>18.access n. </a:t>
            </a:r>
            <a:r>
              <a:rPr lang="en-US" altLang="zh-CN" sz="2400">
                <a:solidFill>
                  <a:schemeClr val="bg1"/>
                </a:solidFill>
              </a:rPr>
              <a:t>接近的机会；通道</a:t>
            </a:r>
            <a:r>
              <a:rPr lang="en-US" altLang="zh-CN" sz="2400"/>
              <a:t> v. </a:t>
            </a:r>
            <a:r>
              <a:rPr lang="en-US" altLang="zh-CN" sz="2400">
                <a:solidFill>
                  <a:schemeClr val="bg1"/>
                </a:solidFill>
              </a:rPr>
              <a:t>接近</a:t>
            </a:r>
            <a:endParaRPr lang="zh-CN" altLang="en-US" sz="2400"/>
          </a:p>
          <a:p>
            <a:r>
              <a:rPr lang="en-US" altLang="zh-CN" sz="2400"/>
              <a:t>     </a:t>
            </a:r>
            <a:r>
              <a:rPr lang="zh-CN" altLang="en-US" sz="2400"/>
              <a:t>可接近；可利用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have access to</a:t>
            </a:r>
            <a:endParaRPr lang="en-US" altLang="zh-CN" sz="2400"/>
          </a:p>
          <a:p>
            <a:r>
              <a:rPr lang="en-US" altLang="zh-CN" sz="2400"/>
              <a:t>19.</a:t>
            </a:r>
            <a:r>
              <a:rPr lang="zh-CN" altLang="en-US" sz="2400"/>
              <a:t>住处；膳宿</a:t>
            </a:r>
            <a:r>
              <a:rPr lang="en-US" altLang="zh-CN" sz="2400"/>
              <a:t> n.</a:t>
            </a:r>
            <a:r>
              <a:rPr lang="en-US" altLang="zh-CN" sz="2400">
                <a:solidFill>
                  <a:schemeClr val="bg1"/>
                </a:solidFill>
              </a:rPr>
              <a:t> accommodation</a:t>
            </a:r>
            <a:endParaRPr lang="en-US" altLang="zh-CN" sz="2400"/>
          </a:p>
          <a:p>
            <a:r>
              <a:rPr lang="en-US" altLang="zh-CN" sz="2400"/>
              <a:t>20.accompany v. </a:t>
            </a:r>
            <a:r>
              <a:rPr lang="en-US" altLang="zh-CN" sz="2400">
                <a:solidFill>
                  <a:schemeClr val="bg1"/>
                </a:solidFill>
              </a:rPr>
              <a:t>陪伴；伴奏</a:t>
            </a:r>
            <a:endParaRPr lang="zh-CN" altLang="en-US" sz="2400"/>
          </a:p>
          <a:p>
            <a:r>
              <a:rPr lang="en-US" altLang="zh-CN" sz="2400"/>
              <a:t>     </a:t>
            </a:r>
            <a:r>
              <a:rPr lang="zh-CN" altLang="en-US" sz="2400"/>
              <a:t>用钢琴给他伴奏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accompany him on piano</a:t>
            </a:r>
            <a:endParaRPr lang="en-US" altLang="zh-CN" sz="2400"/>
          </a:p>
          <a:p>
            <a:r>
              <a:rPr lang="en-US" altLang="zh-CN" sz="2400"/>
              <a:t>21.accomplish v. </a:t>
            </a:r>
            <a:r>
              <a:rPr lang="en-US" altLang="zh-CN" sz="2400">
                <a:solidFill>
                  <a:schemeClr val="bg1"/>
                </a:solidFill>
              </a:rPr>
              <a:t>达到；实现</a:t>
            </a:r>
            <a:endParaRPr lang="zh-CN" altLang="en-US" sz="2400"/>
          </a:p>
          <a:p>
            <a:r>
              <a:rPr lang="en-US" altLang="zh-CN" sz="2400"/>
              <a:t>22.account for </a:t>
            </a:r>
            <a:r>
              <a:rPr lang="en-US" altLang="zh-CN" sz="2400">
                <a:solidFill>
                  <a:schemeClr val="bg1"/>
                </a:solidFill>
              </a:rPr>
              <a:t>解释说明；占比</a:t>
            </a:r>
            <a:endParaRPr lang="zh-CN" altLang="en-US" sz="2400"/>
          </a:p>
          <a:p>
            <a:r>
              <a:rPr lang="en-US" altLang="zh-CN" sz="2400"/>
              <a:t>     on account of </a:t>
            </a:r>
            <a:r>
              <a:rPr lang="en-US" altLang="zh-CN" sz="2400">
                <a:solidFill>
                  <a:schemeClr val="bg1"/>
                </a:solidFill>
              </a:rPr>
              <a:t>因为</a:t>
            </a:r>
            <a:endParaRPr lang="zh-CN" altLang="en-US" sz="2400"/>
          </a:p>
          <a:p>
            <a:r>
              <a:rPr lang="en-US" altLang="zh-CN" sz="2400"/>
              <a:t>     on any account </a:t>
            </a:r>
            <a:r>
              <a:rPr lang="en-US" altLang="zh-CN" sz="2400">
                <a:solidFill>
                  <a:schemeClr val="bg1"/>
                </a:solidFill>
              </a:rPr>
              <a:t>无论如何</a:t>
            </a:r>
            <a:endParaRPr lang="zh-CN" altLang="en-US" sz="2400"/>
          </a:p>
          <a:p>
            <a:r>
              <a:rPr lang="en-US" altLang="zh-CN" sz="2400"/>
              <a:t>     on no account </a:t>
            </a:r>
            <a:r>
              <a:rPr lang="en-US" altLang="zh-CN" sz="2400">
                <a:solidFill>
                  <a:schemeClr val="bg1"/>
                </a:solidFill>
              </a:rPr>
              <a:t>决不</a:t>
            </a:r>
            <a:endParaRPr lang="zh-CN" altLang="en-US" sz="2400"/>
          </a:p>
          <a:p>
            <a:r>
              <a:rPr lang="en-US" altLang="zh-CN" sz="2400"/>
              <a:t>     </a:t>
            </a:r>
            <a:r>
              <a:rPr lang="zh-CN" altLang="en-US" sz="2400"/>
              <a:t>考虑到某事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1"/>
                </a:solidFill>
              </a:rPr>
              <a:t>take sth. into account</a:t>
            </a:r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WPS 演示</Application>
  <PresentationFormat>宽屏</PresentationFormat>
  <Paragraphs>31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2024-09-02T00:37:37Z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ED040DB542304C10A5E24EAC3C0A0D5D_11</vt:lpwstr>
  </property>
</Properties>
</file>