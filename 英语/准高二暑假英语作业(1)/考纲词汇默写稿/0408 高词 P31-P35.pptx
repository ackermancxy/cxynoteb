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7800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zh-CN" altLang="en-US" sz="2400">
                <a:solidFill>
                  <a:schemeClr val="tx1"/>
                </a:solidFill>
              </a:rPr>
              <a:t>拘捕；逮捕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arrest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箭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arrow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3.master’s degree of liberal arts </a:t>
            </a:r>
            <a:r>
              <a:rPr lang="en-US" altLang="zh-CN" sz="2400">
                <a:solidFill>
                  <a:schemeClr val="bg1"/>
                </a:solidFill>
              </a:rPr>
              <a:t>文科硕士学位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人工的；人造地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artificial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5.as far as... </a:t>
            </a:r>
            <a:r>
              <a:rPr lang="en-US" altLang="zh-CN" sz="2400">
                <a:solidFill>
                  <a:schemeClr val="bg1"/>
                </a:solidFill>
              </a:rPr>
              <a:t>就...；尽...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as for </a:t>
            </a:r>
            <a:r>
              <a:rPr lang="en-US" altLang="zh-CN" sz="2400">
                <a:solidFill>
                  <a:schemeClr val="bg1"/>
                </a:solidFill>
              </a:rPr>
              <a:t>至于；关于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as long as </a:t>
            </a:r>
            <a:r>
              <a:rPr lang="en-US" altLang="zh-CN" sz="2400">
                <a:solidFill>
                  <a:schemeClr val="bg1"/>
                </a:solidFill>
              </a:rPr>
              <a:t>只要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as soon as </a:t>
            </a:r>
            <a:r>
              <a:rPr lang="en-US" altLang="zh-CN" sz="2400">
                <a:solidFill>
                  <a:schemeClr val="bg1"/>
                </a:solidFill>
              </a:rPr>
              <a:t>一...就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as well as </a:t>
            </a:r>
            <a:r>
              <a:rPr lang="en-US" altLang="zh-CN" sz="2400">
                <a:solidFill>
                  <a:schemeClr val="bg1"/>
                </a:solidFill>
              </a:rPr>
              <a:t>和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6.be ashamed to do sth. </a:t>
            </a:r>
            <a:r>
              <a:rPr lang="en-US" altLang="zh-CN" sz="2400">
                <a:solidFill>
                  <a:schemeClr val="bg1"/>
                </a:solidFill>
              </a:rPr>
              <a:t>以干...为耻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入睡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fall asleep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8.assemble v. </a:t>
            </a:r>
            <a:r>
              <a:rPr lang="en-US" altLang="zh-CN" sz="2400">
                <a:solidFill>
                  <a:schemeClr val="bg1"/>
                </a:solidFill>
              </a:rPr>
              <a:t>召集；集合；装配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</a:t>
            </a:r>
            <a:r>
              <a:rPr lang="zh-CN" altLang="en-US" sz="2400">
                <a:solidFill>
                  <a:schemeClr val="tx1"/>
                </a:solidFill>
              </a:rPr>
              <a:t>评估；对</a:t>
            </a:r>
            <a:r>
              <a:rPr lang="en-US" altLang="zh-CN" sz="2400">
                <a:solidFill>
                  <a:schemeClr val="tx1"/>
                </a:solidFill>
              </a:rPr>
              <a:t>...</a:t>
            </a:r>
            <a:r>
              <a:rPr lang="zh-CN" altLang="en-US" sz="2400">
                <a:solidFill>
                  <a:schemeClr val="tx1"/>
                </a:solidFill>
              </a:rPr>
              <a:t>进行估价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assess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10.assign v. </a:t>
            </a:r>
            <a:r>
              <a:rPr lang="en-US" altLang="zh-CN" sz="2400">
                <a:solidFill>
                  <a:schemeClr val="bg1"/>
                </a:solidFill>
              </a:rPr>
              <a:t>分配；安排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assign sb. to do sth. </a:t>
            </a:r>
            <a:r>
              <a:rPr lang="en-US" altLang="zh-CN" sz="2400">
                <a:solidFill>
                  <a:schemeClr val="bg1"/>
                </a:solidFill>
              </a:rPr>
              <a:t>派某人做某事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助手；助理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assistant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98565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2.associate A with B </a:t>
            </a:r>
            <a:r>
              <a:rPr lang="en-US" altLang="zh-CN" sz="2400">
                <a:solidFill>
                  <a:schemeClr val="bg1"/>
                </a:solidFill>
              </a:rPr>
              <a:t>把A和B联系起来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13.assume v. </a:t>
            </a:r>
            <a:r>
              <a:rPr lang="en-US" altLang="zh-CN" sz="2400">
                <a:solidFill>
                  <a:schemeClr val="bg1"/>
                </a:solidFill>
              </a:rPr>
              <a:t>假定；承担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n. </a:t>
            </a:r>
            <a:r>
              <a:rPr lang="en-US" altLang="zh-CN" sz="2400">
                <a:solidFill>
                  <a:schemeClr val="bg1"/>
                </a:solidFill>
              </a:rPr>
              <a:t>assumption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14.assure v. </a:t>
            </a:r>
            <a:r>
              <a:rPr lang="en-US" altLang="zh-CN" sz="2400">
                <a:solidFill>
                  <a:schemeClr val="bg1"/>
                </a:solidFill>
              </a:rPr>
              <a:t>确保；向...确信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15.astonishment n. </a:t>
            </a:r>
            <a:r>
              <a:rPr lang="en-US" altLang="zh-CN" sz="2400">
                <a:solidFill>
                  <a:schemeClr val="bg1"/>
                </a:solidFill>
              </a:rPr>
              <a:t>惊讶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</a:t>
            </a:r>
            <a:r>
              <a:rPr lang="zh-CN" altLang="en-US" sz="2400">
                <a:solidFill>
                  <a:schemeClr val="tx1"/>
                </a:solidFill>
              </a:rPr>
              <a:t>宇航员；航天员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astronaut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</a:t>
            </a:r>
            <a:r>
              <a:rPr lang="zh-CN" altLang="en-US" sz="2400">
                <a:solidFill>
                  <a:schemeClr val="tx1"/>
                </a:solidFill>
              </a:rPr>
              <a:t>天文学家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astronomer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</a:t>
            </a:r>
            <a:r>
              <a:rPr lang="zh-CN" altLang="en-US" sz="2400">
                <a:solidFill>
                  <a:schemeClr val="tx1"/>
                </a:solidFill>
              </a:rPr>
              <a:t>大气；气氛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atmosphere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17.attach v. </a:t>
            </a:r>
            <a:r>
              <a:rPr lang="en-US" altLang="zh-CN" sz="2400">
                <a:solidFill>
                  <a:schemeClr val="bg1"/>
                </a:solidFill>
              </a:rPr>
              <a:t>连接；使依附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</a:t>
            </a:r>
            <a:r>
              <a:rPr lang="zh-CN" altLang="en-US" sz="2400">
                <a:solidFill>
                  <a:schemeClr val="tx1"/>
                </a:solidFill>
              </a:rPr>
              <a:t>四川部分地区遭遇了强烈的地震，许多人丧失了生命</a:t>
            </a:r>
            <a:r>
              <a:rPr lang="en-US" altLang="zh-CN" sz="2400">
                <a:solidFill>
                  <a:schemeClr val="tx1"/>
                </a:solidFill>
              </a:rPr>
              <a:t>(attack) </a:t>
            </a:r>
            <a:r>
              <a:rPr lang="en-US" altLang="zh-CN" sz="2400">
                <a:solidFill>
                  <a:schemeClr val="bg1"/>
                </a:solidFill>
              </a:rPr>
              <a:t>Some areas of Sichuan Province were attacked by violent earthquakes, which took many people’s lives.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19.attain v. </a:t>
            </a:r>
            <a:r>
              <a:rPr lang="en-US" altLang="zh-CN" sz="2400">
                <a:solidFill>
                  <a:schemeClr val="bg1"/>
                </a:solidFill>
              </a:rPr>
              <a:t>获得；达到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</a:t>
            </a:r>
            <a:r>
              <a:rPr lang="zh-CN" altLang="en-US" sz="2400">
                <a:solidFill>
                  <a:schemeClr val="tx1"/>
                </a:solidFill>
              </a:rPr>
              <a:t>企图做某事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attempt to do sth.</a:t>
            </a:r>
            <a:r>
              <a:rPr lang="en-US" altLang="zh-CN" sz="2400">
                <a:solidFill>
                  <a:schemeClr val="tx1"/>
                </a:solidFill>
              </a:rPr>
              <a:t>= </a:t>
            </a:r>
            <a:r>
              <a:rPr lang="en-US" altLang="zh-CN" sz="2400">
                <a:solidFill>
                  <a:schemeClr val="bg1"/>
                </a:solidFill>
              </a:rPr>
              <a:t>make an attempt to do sth.</a:t>
            </a:r>
            <a:endParaRPr lang="en-US" altLang="zh-CN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751</Words>
  <Application>WPS 演示</Application>
  <PresentationFormat>宽屏</PresentationFormat>
  <Paragraphs>30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158</cp:revision>
  <dcterms:created xsi:type="dcterms:W3CDTF">2019-06-19T02:08:00Z</dcterms:created>
  <dcterms:modified xsi:type="dcterms:W3CDTF">2024-09-05T04:03:28Z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2052-12.1.0.17857</vt:lpwstr>
  </property>
  <property fmtid="{D5CDD505-2E9C-101B-9397-08002B2CF9AE}" pid="3" name="ICV">
    <vt:lpwstr>94357DD43F2D41468AF8EC7A2211E57A_11</vt:lpwstr>
  </property>
</Properties>
</file>