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64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77800" y="93980"/>
            <a:ext cx="5918200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1.</a:t>
            </a:r>
            <a:r>
              <a:rPr lang="zh-CN" altLang="en-US" sz="2400">
                <a:solidFill>
                  <a:schemeClr val="tx1"/>
                </a:solidFill>
              </a:rPr>
              <a:t>耸肩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en-US" altLang="zh-CN" sz="2400">
                <a:solidFill>
                  <a:schemeClr val="bg1"/>
                </a:solidFill>
              </a:rPr>
              <a:t>shrug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2.shuttle n. </a:t>
            </a:r>
            <a:r>
              <a:rPr lang="en-US" altLang="zh-CN" sz="2400">
                <a:solidFill>
                  <a:schemeClr val="bg1"/>
                </a:solidFill>
              </a:rPr>
              <a:t>短程穿梭运行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3.from all sides </a:t>
            </a:r>
            <a:r>
              <a:rPr lang="en-US" altLang="zh-CN" sz="2400">
                <a:solidFill>
                  <a:schemeClr val="bg1"/>
                </a:solidFill>
              </a:rPr>
              <a:t>从四面八方；全面地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on the side </a:t>
            </a:r>
            <a:r>
              <a:rPr lang="en-US" altLang="zh-CN" sz="2400">
                <a:solidFill>
                  <a:schemeClr val="bg1"/>
                </a:solidFill>
              </a:rPr>
              <a:t>额外地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side with </a:t>
            </a:r>
            <a:r>
              <a:rPr lang="en-US" altLang="zh-CN" sz="2400">
                <a:solidFill>
                  <a:schemeClr val="bg1"/>
                </a:solidFill>
              </a:rPr>
              <a:t>在...边支持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4.</a:t>
            </a:r>
            <a:r>
              <a:rPr lang="zh-CN" altLang="en-US" sz="2400">
                <a:solidFill>
                  <a:schemeClr val="tx1"/>
                </a:solidFill>
              </a:rPr>
              <a:t>叹气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en-US" altLang="zh-CN" sz="2400">
                <a:solidFill>
                  <a:schemeClr val="bg1"/>
                </a:solidFill>
              </a:rPr>
              <a:t>sigh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5.at first sight </a:t>
            </a:r>
            <a:r>
              <a:rPr lang="en-US" altLang="zh-CN" sz="2400">
                <a:solidFill>
                  <a:schemeClr val="bg1"/>
                </a:solidFill>
              </a:rPr>
              <a:t>乍一看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catch sight of </a:t>
            </a:r>
            <a:r>
              <a:rPr lang="en-US" altLang="zh-CN" sz="2400">
                <a:solidFill>
                  <a:schemeClr val="bg1"/>
                </a:solidFill>
              </a:rPr>
              <a:t>看见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in the sight of </a:t>
            </a:r>
            <a:r>
              <a:rPr lang="en-US" altLang="zh-CN" sz="2400">
                <a:solidFill>
                  <a:schemeClr val="bg1"/>
                </a:solidFill>
              </a:rPr>
              <a:t>从...观点看来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6.</a:t>
            </a:r>
            <a:r>
              <a:rPr lang="zh-CN" altLang="en-US" sz="2400">
                <a:solidFill>
                  <a:schemeClr val="tx1"/>
                </a:solidFill>
              </a:rPr>
              <a:t>观光；游览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sightseeing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7.</a:t>
            </a:r>
            <a:r>
              <a:rPr lang="zh-CN" altLang="en-US" sz="2400">
                <a:solidFill>
                  <a:schemeClr val="tx1"/>
                </a:solidFill>
              </a:rPr>
              <a:t>信号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signal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8.</a:t>
            </a:r>
            <a:r>
              <a:rPr lang="zh-CN" altLang="en-US" sz="2400">
                <a:solidFill>
                  <a:schemeClr val="tx1"/>
                </a:solidFill>
              </a:rPr>
              <a:t>签名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signature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9.</a:t>
            </a:r>
            <a:r>
              <a:rPr lang="zh-CN" altLang="en-US" sz="2400">
                <a:solidFill>
                  <a:schemeClr val="tx1"/>
                </a:solidFill>
              </a:rPr>
              <a:t>重要的；显著的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significant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10.</a:t>
            </a:r>
            <a:r>
              <a:rPr lang="zh-CN" altLang="en-US" sz="2400">
                <a:solidFill>
                  <a:schemeClr val="tx1"/>
                </a:solidFill>
              </a:rPr>
              <a:t>安静的；无声的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slient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11.</a:t>
            </a:r>
            <a:r>
              <a:rPr lang="zh-CN" altLang="en-US" sz="2400">
                <a:solidFill>
                  <a:schemeClr val="tx1"/>
                </a:solidFill>
              </a:rPr>
              <a:t>丝绸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silk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12.</a:t>
            </a:r>
            <a:r>
              <a:rPr lang="zh-CN" altLang="en-US" sz="2400">
                <a:solidFill>
                  <a:schemeClr val="tx1"/>
                </a:solidFill>
              </a:rPr>
              <a:t>银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sliver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13.</a:t>
            </a:r>
            <a:r>
              <a:rPr lang="zh-CN" altLang="en-US" sz="2400">
                <a:solidFill>
                  <a:schemeClr val="tx1"/>
                </a:solidFill>
              </a:rPr>
              <a:t>与</a:t>
            </a:r>
            <a:r>
              <a:rPr lang="en-US" altLang="zh-CN" sz="2400">
                <a:solidFill>
                  <a:schemeClr val="tx1"/>
                </a:solidFill>
              </a:rPr>
              <a:t>...</a:t>
            </a:r>
            <a:r>
              <a:rPr lang="zh-CN" altLang="en-US" sz="2400">
                <a:solidFill>
                  <a:schemeClr val="tx1"/>
                </a:solidFill>
              </a:rPr>
              <a:t>相似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be similar to...</a:t>
            </a:r>
            <a:endParaRPr lang="en-US" altLang="zh-CN" sz="2400">
              <a:solidFill>
                <a:schemeClr val="bg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223000" y="93980"/>
            <a:ext cx="5918200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</a:t>
            </a:r>
            <a:r>
              <a:rPr lang="en-US" sz="2400">
                <a:solidFill>
                  <a:schemeClr val="tx1"/>
                </a:solidFill>
              </a:rPr>
              <a:t>4.</a:t>
            </a:r>
            <a:r>
              <a:rPr lang="zh-CN" altLang="en-US" sz="2400">
                <a:solidFill>
                  <a:schemeClr val="tx1"/>
                </a:solidFill>
              </a:rPr>
              <a:t>简化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en-US" altLang="zh-CN" sz="2400">
                <a:solidFill>
                  <a:schemeClr val="bg1"/>
                </a:solidFill>
              </a:rPr>
              <a:t>simplify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15.</a:t>
            </a:r>
            <a:r>
              <a:rPr lang="zh-CN" altLang="en-US" sz="2400">
                <a:solidFill>
                  <a:schemeClr val="tx1"/>
                </a:solidFill>
              </a:rPr>
              <a:t>真诚的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sincere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16.</a:t>
            </a:r>
            <a:r>
              <a:rPr lang="zh-CN" altLang="en-US" sz="2400">
                <a:solidFill>
                  <a:schemeClr val="tx1"/>
                </a:solidFill>
              </a:rPr>
              <a:t>洗涤槽；污水井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sink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17.on site </a:t>
            </a:r>
            <a:r>
              <a:rPr lang="en-US" altLang="zh-CN" sz="2400">
                <a:solidFill>
                  <a:schemeClr val="bg1"/>
                </a:solidFill>
              </a:rPr>
              <a:t>在现场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18.</a:t>
            </a:r>
            <a:r>
              <a:rPr lang="zh-CN" altLang="en-US" sz="2400">
                <a:solidFill>
                  <a:schemeClr val="tx1"/>
                </a:solidFill>
              </a:rPr>
              <a:t>情况；处境；场面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situation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19.</a:t>
            </a:r>
            <a:r>
              <a:rPr lang="zh-CN" altLang="en-US" sz="2400">
                <a:solidFill>
                  <a:schemeClr val="tx1"/>
                </a:solidFill>
              </a:rPr>
              <a:t>尺寸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size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20.skilful adj. </a:t>
            </a:r>
            <a:r>
              <a:rPr lang="en-US" altLang="zh-CN" sz="2400">
                <a:solidFill>
                  <a:schemeClr val="bg1"/>
                </a:solidFill>
              </a:rPr>
              <a:t>有技术的；熟练的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21.</a:t>
            </a:r>
            <a:r>
              <a:rPr lang="zh-CN" altLang="en-US" sz="2400">
                <a:solidFill>
                  <a:schemeClr val="tx1"/>
                </a:solidFill>
              </a:rPr>
              <a:t>浏览；阅读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en-US" altLang="zh-CN" sz="2400">
                <a:solidFill>
                  <a:schemeClr val="bg1"/>
                </a:solidFill>
              </a:rPr>
              <a:t>skim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22.</a:t>
            </a:r>
            <a:r>
              <a:rPr lang="zh-CN" altLang="en-US" sz="2400">
                <a:solidFill>
                  <a:schemeClr val="tx1"/>
                </a:solidFill>
              </a:rPr>
              <a:t>皮肤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skin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23.</a:t>
            </a:r>
            <a:r>
              <a:rPr lang="zh-CN" altLang="en-US" sz="2400">
                <a:solidFill>
                  <a:schemeClr val="tx1"/>
                </a:solidFill>
              </a:rPr>
              <a:t>蹦跳；跳过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en-US" altLang="zh-CN" sz="2400">
                <a:solidFill>
                  <a:schemeClr val="bg1"/>
                </a:solidFill>
              </a:rPr>
              <a:t>skip</a:t>
            </a:r>
            <a:endParaRPr lang="en-US" altLang="zh-CN" sz="2400">
              <a:solidFill>
                <a:schemeClr val="bg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commondata" val="eyJoZGlkIjoiOGY5NTQyMzkzNzFlMTQ3ZjlhODAwMTUzYmI4YzEyZTc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503</Words>
  <Application>WPS 演示</Application>
  <PresentationFormat>宽屏</PresentationFormat>
  <Paragraphs>29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程多涛</cp:lastModifiedBy>
  <cp:revision>156</cp:revision>
  <dcterms:created xsi:type="dcterms:W3CDTF">2019-06-19T02:08:00Z</dcterms:created>
  <dcterms:modified xsi:type="dcterms:W3CDTF">2024-07-09T11:00:53Z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2052-12.1.0.16929</vt:lpwstr>
  </property>
  <property fmtid="{D5CDD505-2E9C-101B-9397-08002B2CF9AE}" pid="3" name="ICV">
    <vt:lpwstr>177117DF31AA4FE3B29BECF4451B2581_11</vt:lpwstr>
  </property>
</Properties>
</file>