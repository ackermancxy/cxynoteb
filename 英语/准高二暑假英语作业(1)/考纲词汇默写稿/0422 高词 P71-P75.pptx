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en-US" sz="2400">
                <a:solidFill>
                  <a:schemeClr val="tx1"/>
                </a:solidFill>
              </a:rPr>
              <a:t>catalogue n. </a:t>
            </a:r>
            <a:r>
              <a:rPr lang="zh-CN" altLang="en-US" sz="2400">
                <a:solidFill>
                  <a:schemeClr val="bg1"/>
                </a:solidFill>
              </a:rPr>
              <a:t>目录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2.catch cold </a:t>
            </a:r>
            <a:r>
              <a:rPr lang="zh-CN" altLang="en-US" sz="2400">
                <a:solidFill>
                  <a:schemeClr val="bg1"/>
                </a:solidFill>
              </a:rPr>
              <a:t>感冒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catch one’s eye </a:t>
            </a:r>
            <a:r>
              <a:rPr lang="zh-CN" altLang="en-US" sz="2400">
                <a:solidFill>
                  <a:schemeClr val="bg1"/>
                </a:solidFill>
              </a:rPr>
              <a:t>引起某人注意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catch sight of </a:t>
            </a:r>
            <a:r>
              <a:rPr lang="zh-CN" altLang="en-US" sz="2400">
                <a:solidFill>
                  <a:schemeClr val="bg1"/>
                </a:solidFill>
              </a:rPr>
              <a:t>看见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catch up with </a:t>
            </a:r>
            <a:r>
              <a:rPr lang="zh-CN" altLang="en-US" sz="2400">
                <a:solidFill>
                  <a:schemeClr val="bg1"/>
                </a:solidFill>
              </a:rPr>
              <a:t>赶上；追着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将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分类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categorize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4.cause n. </a:t>
            </a:r>
            <a:r>
              <a:rPr lang="zh-CN" altLang="en-US" sz="2400">
                <a:solidFill>
                  <a:schemeClr val="bg1"/>
                </a:solidFill>
              </a:rPr>
              <a:t>原因；事业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5.caution n./v. </a:t>
            </a:r>
            <a:r>
              <a:rPr lang="zh-CN" altLang="en-US" sz="2400">
                <a:solidFill>
                  <a:schemeClr val="bg1"/>
                </a:solidFill>
              </a:rPr>
              <a:t>小心；谨慎；警告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6.cave n. </a:t>
            </a:r>
            <a:r>
              <a:rPr lang="zh-CN" altLang="en-US" sz="2400">
                <a:solidFill>
                  <a:schemeClr val="bg1"/>
                </a:solidFill>
              </a:rPr>
              <a:t>山洞；地窖</a:t>
            </a:r>
            <a:r>
              <a:rPr lang="en-US" altLang="zh-CN" sz="2400">
                <a:solidFill>
                  <a:schemeClr val="tx1"/>
                </a:solidFill>
              </a:rPr>
              <a:t>  v. </a:t>
            </a:r>
            <a:r>
              <a:rPr lang="zh-CN" altLang="en-US" sz="2400">
                <a:solidFill>
                  <a:schemeClr val="bg1"/>
                </a:solidFill>
              </a:rPr>
              <a:t>坍塌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7.cease to exist </a:t>
            </a:r>
            <a:r>
              <a:rPr lang="zh-CN" altLang="en-US" sz="2400">
                <a:solidFill>
                  <a:schemeClr val="bg1"/>
                </a:solidFill>
              </a:rPr>
              <a:t>不复存在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wonders will never cease </a:t>
            </a:r>
            <a:r>
              <a:rPr lang="zh-CN" altLang="en-US" sz="2400">
                <a:solidFill>
                  <a:schemeClr val="bg1"/>
                </a:solidFill>
              </a:rPr>
              <a:t>无奇不有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天花板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ceiling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9.celebrate v. </a:t>
            </a:r>
            <a:r>
              <a:rPr lang="zh-CN" altLang="en-US" sz="2400">
                <a:solidFill>
                  <a:schemeClr val="bg1"/>
                </a:solidFill>
              </a:rPr>
              <a:t>庆祝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celebrity n. </a:t>
            </a:r>
            <a:r>
              <a:rPr lang="zh-CN" altLang="en-US" sz="2400">
                <a:solidFill>
                  <a:schemeClr val="bg1"/>
                </a:solidFill>
              </a:rPr>
              <a:t>名人；名流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10.cell n. </a:t>
            </a:r>
            <a:r>
              <a:rPr lang="zh-CN" altLang="en-US" sz="2400">
                <a:solidFill>
                  <a:schemeClr val="bg1"/>
                </a:solidFill>
              </a:rPr>
              <a:t>细胞；电池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11.cemetery n. </a:t>
            </a:r>
            <a:r>
              <a:rPr lang="zh-CN" altLang="en-US" sz="2400">
                <a:solidFill>
                  <a:schemeClr val="bg1"/>
                </a:solidFill>
              </a:rPr>
              <a:t>墓地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12.centre n. </a:t>
            </a:r>
            <a:r>
              <a:rPr lang="zh-CN" altLang="en-US" sz="2400">
                <a:solidFill>
                  <a:schemeClr val="bg1"/>
                </a:solidFill>
              </a:rPr>
              <a:t>中心</a:t>
            </a:r>
            <a:endParaRPr lang="zh-CN" altLang="en-US" sz="2400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世纪；百年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century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结婚典礼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wedding ceremony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证书；证明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certificate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连锁店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chain store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17.chair a meeting </a:t>
            </a:r>
            <a:r>
              <a:rPr lang="zh-CN" altLang="en-US" sz="2400">
                <a:solidFill>
                  <a:schemeClr val="bg1"/>
                </a:solidFill>
              </a:rPr>
              <a:t>主持会议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18.chalk n. </a:t>
            </a:r>
            <a:r>
              <a:rPr lang="zh-CN" altLang="en-US" sz="2400">
                <a:solidFill>
                  <a:schemeClr val="bg1"/>
                </a:solidFill>
              </a:rPr>
              <a:t>粉笔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具有挑战性的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challenging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冠军称号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championship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21.by chance </a:t>
            </a:r>
            <a:r>
              <a:rPr lang="zh-CN" altLang="en-US" sz="2400">
                <a:solidFill>
                  <a:schemeClr val="bg1"/>
                </a:solidFill>
              </a:rPr>
              <a:t>偶然地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chances are that... </a:t>
            </a:r>
            <a:r>
              <a:rPr lang="zh-CN" altLang="en-US" sz="2400">
                <a:solidFill>
                  <a:schemeClr val="bg1"/>
                </a:solidFill>
              </a:rPr>
              <a:t>很可能...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take chance </a:t>
            </a:r>
            <a:r>
              <a:rPr lang="zh-CN" altLang="en-US" sz="2400">
                <a:solidFill>
                  <a:schemeClr val="bg1"/>
                </a:solidFill>
              </a:rPr>
              <a:t>碰运气；冒险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22.the evolving change </a:t>
            </a:r>
            <a:r>
              <a:rPr lang="zh-CN" altLang="en-US" sz="2400">
                <a:solidFill>
                  <a:schemeClr val="bg1"/>
                </a:solidFill>
              </a:rPr>
              <a:t>日新月异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海峡；频道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channel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24.chaos n. </a:t>
            </a:r>
            <a:r>
              <a:rPr lang="zh-CN" altLang="en-US" sz="2400">
                <a:solidFill>
                  <a:schemeClr val="bg1"/>
                </a:solidFill>
              </a:rPr>
              <a:t>混乱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特征；特性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characteristic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WPS 演示</Application>
  <PresentationFormat>宽屏</PresentationFormat>
  <Paragraphs>35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158</cp:revision>
  <dcterms:created xsi:type="dcterms:W3CDTF">2019-06-19T02:08:00Z</dcterms:created>
  <dcterms:modified xsi:type="dcterms:W3CDTF">2024-09-10T01:18:19Z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5A4C9C8B14004A1082502ECD24839AAB_11</vt:lpwstr>
  </property>
</Properties>
</file>