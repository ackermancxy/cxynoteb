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1.magnificent adj. </a:t>
            </a:r>
            <a:r>
              <a:rPr lang="zh-CN" altLang="en-US" sz="2400">
                <a:solidFill>
                  <a:schemeClr val="bg1"/>
                </a:solidFill>
              </a:rPr>
              <a:t>壮丽的；宏伟的</a:t>
            </a:r>
            <a:endParaRPr lang="zh-CN" altLang="en-US" sz="2400"/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大陆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mainland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主修外国语言文学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major in foreign languages and literature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辅修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minor in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大多数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majority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6.make for </a:t>
            </a:r>
            <a:r>
              <a:rPr lang="en-US" altLang="zh-CN" sz="2400">
                <a:solidFill>
                  <a:schemeClr val="bg1"/>
                </a:solidFill>
              </a:rPr>
              <a:t>走向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make out </a:t>
            </a:r>
            <a:r>
              <a:rPr lang="en-US" altLang="zh-CN" sz="2400">
                <a:solidFill>
                  <a:schemeClr val="bg1"/>
                </a:solidFill>
              </a:rPr>
              <a:t>辨认出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make up for </a:t>
            </a:r>
            <a:r>
              <a:rPr lang="en-US" altLang="zh-CN" sz="2400">
                <a:solidFill>
                  <a:schemeClr val="bg1"/>
                </a:solidFill>
              </a:rPr>
              <a:t>补偿；弥补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可操纵的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manageable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8.in manner of </a:t>
            </a:r>
            <a:r>
              <a:rPr lang="en-US" altLang="zh-CN" sz="2400">
                <a:solidFill>
                  <a:schemeClr val="bg1"/>
                </a:solidFill>
              </a:rPr>
              <a:t>以...方式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9.mansion n. </a:t>
            </a:r>
            <a:r>
              <a:rPr lang="en-US" altLang="zh-CN" sz="2400">
                <a:solidFill>
                  <a:schemeClr val="bg1"/>
                </a:solidFill>
              </a:rPr>
              <a:t>大厦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10.manual adj. </a:t>
            </a:r>
            <a:r>
              <a:rPr lang="en-US" altLang="zh-CN" sz="2400">
                <a:solidFill>
                  <a:schemeClr val="bg1"/>
                </a:solidFill>
              </a:rPr>
              <a:t>手工的；体力的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11.manufacture n. </a:t>
            </a:r>
            <a:r>
              <a:rPr lang="en-US" altLang="zh-CN" sz="2400">
                <a:solidFill>
                  <a:schemeClr val="bg1"/>
                </a:solidFill>
              </a:rPr>
              <a:t>制造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12.a good many </a:t>
            </a:r>
            <a:r>
              <a:rPr lang="en-US" altLang="zh-CN" sz="2400">
                <a:solidFill>
                  <a:schemeClr val="bg1"/>
                </a:solidFill>
              </a:rPr>
              <a:t>大量；许多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13.march n. </a:t>
            </a:r>
            <a:r>
              <a:rPr lang="en-US" altLang="zh-CN" sz="2400">
                <a:solidFill>
                  <a:schemeClr val="bg1"/>
                </a:solidFill>
              </a:rPr>
              <a:t>行军；行进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14.margin n. </a:t>
            </a:r>
            <a:r>
              <a:rPr lang="en-US" altLang="zh-CN" sz="2400">
                <a:solidFill>
                  <a:schemeClr val="bg1"/>
                </a:solidFill>
              </a:rPr>
              <a:t>边缘；页边空白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海洋的；海军的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marine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</a:t>
            </a:r>
            <a:r>
              <a:rPr lang="en-US" sz="2400"/>
              <a:t>6.</a:t>
            </a:r>
            <a:r>
              <a:rPr lang="zh-CN" altLang="en-US" sz="2400"/>
              <a:t>婚姻</a:t>
            </a:r>
            <a:r>
              <a:rPr lang="en-US" altLang="zh-CN" sz="2400"/>
              <a:t> n. </a:t>
            </a:r>
            <a:r>
              <a:rPr lang="en-US" altLang="zh-CN" sz="2400">
                <a:solidFill>
                  <a:schemeClr val="bg1"/>
                </a:solidFill>
              </a:rPr>
              <a:t>marriage</a:t>
            </a:r>
            <a:endParaRPr lang="en-US" altLang="zh-CN" sz="2400"/>
          </a:p>
          <a:p>
            <a:r>
              <a:rPr lang="en-US" altLang="zh-CN" sz="2400">
                <a:solidFill>
                  <a:schemeClr val="tx1"/>
                </a:solidFill>
              </a:rPr>
              <a:t>17.marvel at his courgae </a:t>
            </a:r>
            <a:r>
              <a:rPr lang="en-US" altLang="zh-CN" sz="2400">
                <a:solidFill>
                  <a:schemeClr val="bg1"/>
                </a:solidFill>
              </a:rPr>
              <a:t>惊叹于他的勇气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18.marvellous adj. </a:t>
            </a:r>
            <a:r>
              <a:rPr lang="en-US" altLang="zh-CN" sz="2400">
                <a:solidFill>
                  <a:schemeClr val="bg1"/>
                </a:solidFill>
              </a:rPr>
              <a:t>令人惊叹的；奇迹般的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19.massive adj. </a:t>
            </a:r>
            <a:r>
              <a:rPr lang="en-US" altLang="zh-CN" sz="2400">
                <a:solidFill>
                  <a:schemeClr val="bg1"/>
                </a:solidFill>
              </a:rPr>
              <a:t>大规模的；巨大的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杰作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masterpiece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21.a good match </a:t>
            </a:r>
            <a:r>
              <a:rPr lang="en-US" altLang="zh-CN" sz="2400">
                <a:solidFill>
                  <a:schemeClr val="bg1"/>
                </a:solidFill>
              </a:rPr>
              <a:t>天作之合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22.as a matter of fact </a:t>
            </a:r>
            <a:r>
              <a:rPr lang="en-US" altLang="zh-CN" sz="2400">
                <a:solidFill>
                  <a:schemeClr val="bg1"/>
                </a:solidFill>
              </a:rPr>
              <a:t>事实上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成熟的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mature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WPS 演示</Application>
  <PresentationFormat>宽屏</PresentationFormat>
  <Paragraphs>27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2024-06-02T13:58:43Z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87586B06505543FF898FE0E0D47C6F70_11</vt:lpwstr>
  </property>
</Properties>
</file>