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1.have effect on/upon </a:t>
            </a:r>
            <a:r>
              <a:rPr lang="zh-CN" altLang="en-US" sz="2400">
                <a:solidFill>
                  <a:schemeClr val="bg1"/>
                </a:solidFill>
              </a:rPr>
              <a:t>对</a:t>
            </a:r>
            <a:r>
              <a:rPr lang="en-US" altLang="zh-CN" sz="2400">
                <a:solidFill>
                  <a:schemeClr val="bg1"/>
                </a:solidFill>
              </a:rPr>
              <a:t>...</a:t>
            </a:r>
            <a:r>
              <a:rPr lang="zh-CN" altLang="en-US" sz="2400">
                <a:solidFill>
                  <a:schemeClr val="bg1"/>
                </a:solidFill>
              </a:rPr>
              <a:t>有影响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take effect </a:t>
            </a:r>
            <a:r>
              <a:rPr lang="zh-CN" altLang="en-US" sz="2400">
                <a:solidFill>
                  <a:schemeClr val="bg1"/>
                </a:solidFill>
              </a:rPr>
              <a:t>生效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效率；效能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efficiency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不遗余力做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zh-CN" altLang="en-US" sz="2400">
                <a:solidFill>
                  <a:schemeClr val="bg1"/>
                </a:solidFill>
              </a:rPr>
              <a:t>spare no effort to do sth.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with effort </a:t>
            </a:r>
            <a:r>
              <a:rPr lang="zh-CN" altLang="en-US" sz="2400">
                <a:solidFill>
                  <a:schemeClr val="bg1"/>
                </a:solidFill>
              </a:rPr>
              <a:t>费力地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学习如逆水行舟，不进则退</a:t>
            </a:r>
            <a:r>
              <a:rPr lang="en-US" altLang="zh-CN" sz="2400">
                <a:solidFill>
                  <a:schemeClr val="tx1"/>
                </a:solidFill>
              </a:rPr>
              <a:t>(either) </a:t>
            </a:r>
            <a:r>
              <a:rPr lang="zh-CN" altLang="en-US" sz="2400">
                <a:solidFill>
                  <a:schemeClr val="bg1"/>
                </a:solidFill>
              </a:rPr>
              <a:t>Learning is like rowing upstream, either to advance or go back.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被选为难民代表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be elected (as) the representitive of the refugees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选举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election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电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electricity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电子产品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electronic product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优雅的；典雅的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elegant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n. </a:t>
            </a:r>
            <a:r>
              <a:rPr lang="zh-CN" altLang="en-US" sz="2400">
                <a:solidFill>
                  <a:schemeClr val="bg1"/>
                </a:solidFill>
              </a:rPr>
              <a:t>elegance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元素；成分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element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初级的；基本的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elementary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消除；淘汰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eliminate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使尴尬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embarrass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新兴市场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emerging market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紧急的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emergent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散发；发射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emit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皇帝；君主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emperor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强调</a:t>
            </a:r>
            <a:r>
              <a:rPr lang="en-US" altLang="zh-CN" sz="2400">
                <a:solidFill>
                  <a:schemeClr val="tx1"/>
                </a:solidFill>
              </a:rPr>
              <a:t>(</a:t>
            </a:r>
            <a:r>
              <a:rPr lang="zh-CN" altLang="en-US" sz="2400">
                <a:solidFill>
                  <a:schemeClr val="tx1"/>
                </a:solidFill>
              </a:rPr>
              <a:t>短语</a:t>
            </a:r>
            <a:r>
              <a:rPr lang="en-US" altLang="zh-CN" sz="2400">
                <a:solidFill>
                  <a:schemeClr val="tx1"/>
                </a:solidFill>
              </a:rPr>
              <a:t>) </a:t>
            </a:r>
            <a:r>
              <a:rPr lang="en-US" altLang="zh-CN" sz="2400">
                <a:solidFill>
                  <a:schemeClr val="bg1"/>
                </a:solidFill>
              </a:rPr>
              <a:t>lay emphasis 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帝国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empire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2024-05-06T11:00:25Z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5210DDF1D4DC477EA2ABE09BA19C5264_11</vt:lpwstr>
  </property>
</Properties>
</file>