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7800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1.attend v. </a:t>
            </a:r>
            <a:r>
              <a:rPr lang="zh-CN" altLang="en-US" sz="2400">
                <a:solidFill>
                  <a:schemeClr val="bg1"/>
                </a:solidFill>
              </a:rPr>
              <a:t>出席；参加；照料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attentive adj. </a:t>
            </a:r>
            <a:r>
              <a:rPr lang="zh-CN" altLang="en-US" sz="2400">
                <a:solidFill>
                  <a:schemeClr val="bg1"/>
                </a:solidFill>
              </a:rPr>
              <a:t>专心的；留心的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积极的态度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optimistic attitude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被</a:t>
            </a:r>
            <a:r>
              <a:rPr lang="en-US" altLang="zh-CN" sz="2400">
                <a:solidFill>
                  <a:schemeClr val="tx1"/>
                </a:solidFill>
              </a:rPr>
              <a:t>...</a:t>
            </a:r>
            <a:r>
              <a:rPr lang="zh-CN" altLang="en-US" sz="2400">
                <a:solidFill>
                  <a:schemeClr val="tx1"/>
                </a:solidFill>
              </a:rPr>
              <a:t>吸引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be attracted by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听众；观众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audience</a:t>
            </a:r>
            <a:r>
              <a:rPr lang="en-US" altLang="zh-CN" sz="2400">
                <a:solidFill>
                  <a:schemeClr val="tx1"/>
                </a:solidFill>
              </a:rPr>
              <a:t>/</a:t>
            </a:r>
            <a:r>
              <a:rPr lang="zh-CN" altLang="en-US" sz="2400">
                <a:solidFill>
                  <a:schemeClr val="bg1"/>
                </a:solidFill>
              </a:rPr>
              <a:t>spectator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权威；当局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authority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自动的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automatic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自主的；自治的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autonomous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某物可供某人使用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sth. be available to sb.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9.above average </a:t>
            </a:r>
            <a:r>
              <a:rPr lang="zh-CN" altLang="en-US" sz="2400">
                <a:solidFill>
                  <a:schemeClr val="bg1"/>
                </a:solidFill>
              </a:rPr>
              <a:t>高于平均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on (the) average </a:t>
            </a:r>
            <a:r>
              <a:rPr lang="zh-CN" altLang="en-US" sz="2400">
                <a:solidFill>
                  <a:schemeClr val="bg1"/>
                </a:solidFill>
              </a:rPr>
              <a:t>平均来说；一般来说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</a:t>
            </a:r>
            <a:r>
              <a:rPr lang="zh-CN" altLang="en-US" sz="2400">
                <a:solidFill>
                  <a:schemeClr val="tx1"/>
                </a:solidFill>
              </a:rPr>
              <a:t>避免做某事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avoid doing sth.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从睡梦中醒来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awake from sleep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</a:t>
            </a:r>
            <a:r>
              <a:rPr lang="zh-CN" altLang="en-US" sz="2400">
                <a:solidFill>
                  <a:schemeClr val="tx1"/>
                </a:solidFill>
              </a:rPr>
              <a:t>唤起某人的同情心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awake one’s sympathy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</a:t>
            </a:r>
            <a:r>
              <a:rPr lang="zh-CN" altLang="en-US" sz="2400">
                <a:solidFill>
                  <a:schemeClr val="tx1"/>
                </a:solidFill>
              </a:rPr>
              <a:t>人们越来越意识到地球所面临的环境危机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People are more and more aware of the environmental crisis that the earth is facing.</a:t>
            </a:r>
            <a:endParaRPr lang="en-US" altLang="zh-CN" sz="2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98565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13.awesome adj. </a:t>
            </a:r>
            <a:r>
              <a:rPr lang="en-US" altLang="zh-CN" sz="2400">
                <a:solidFill>
                  <a:schemeClr val="bg1"/>
                </a:solidFill>
              </a:rPr>
              <a:t>令人惊叹的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14.awful adj. </a:t>
            </a:r>
            <a:r>
              <a:rPr lang="en-US" altLang="zh-CN" sz="2400">
                <a:solidFill>
                  <a:schemeClr val="bg1"/>
                </a:solidFill>
              </a:rPr>
              <a:t>可怕的；不舒服的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15.awkward adj. </a:t>
            </a:r>
            <a:r>
              <a:rPr lang="en-US" altLang="zh-CN" sz="2400">
                <a:solidFill>
                  <a:schemeClr val="bg1"/>
                </a:solidFill>
              </a:rPr>
              <a:t>笨拙的；难处理的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16.bachelor’s degree of management </a:t>
            </a:r>
            <a:r>
              <a:rPr lang="en-US" altLang="zh-CN" sz="2400">
                <a:solidFill>
                  <a:schemeClr val="bg1"/>
                </a:solidFill>
              </a:rPr>
              <a:t>管理学学士学位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17.be backed by </a:t>
            </a:r>
            <a:r>
              <a:rPr lang="en-US" altLang="zh-CN" sz="2400">
                <a:solidFill>
                  <a:schemeClr val="bg1"/>
                </a:solidFill>
              </a:rPr>
              <a:t>被...支持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back up </a:t>
            </a:r>
            <a:r>
              <a:rPr lang="en-US" altLang="zh-CN" sz="2400">
                <a:solidFill>
                  <a:schemeClr val="bg1"/>
                </a:solidFill>
              </a:rPr>
              <a:t>后退；支持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</a:t>
            </a:r>
            <a:r>
              <a:rPr lang="zh-CN" altLang="en-US" sz="2400">
                <a:solidFill>
                  <a:schemeClr val="tx1"/>
                </a:solidFill>
              </a:rPr>
              <a:t>细菌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bacteria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</a:t>
            </a:r>
            <a:r>
              <a:rPr lang="zh-CN" altLang="en-US" sz="2400">
                <a:solidFill>
                  <a:schemeClr val="tx1"/>
                </a:solidFill>
              </a:rPr>
              <a:t>羽毛球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badminton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20.baggage n. </a:t>
            </a:r>
            <a:r>
              <a:rPr lang="en-US" altLang="zh-CN" sz="2400">
                <a:solidFill>
                  <a:schemeClr val="bg1"/>
                </a:solidFill>
              </a:rPr>
              <a:t>行李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</a:t>
            </a:r>
            <a:r>
              <a:rPr lang="zh-CN" altLang="en-US" sz="2400">
                <a:solidFill>
                  <a:schemeClr val="tx1"/>
                </a:solidFill>
              </a:rPr>
              <a:t>面包烘房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bakery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22.balance n. </a:t>
            </a:r>
            <a:r>
              <a:rPr lang="en-US" altLang="zh-CN" sz="2400">
                <a:solidFill>
                  <a:schemeClr val="bg1"/>
                </a:solidFill>
              </a:rPr>
              <a:t>天平；平衡；余额</a:t>
            </a:r>
            <a:endParaRPr lang="en-US" altLang="zh-CN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702</Words>
  <Application>WPS 演示</Application>
  <PresentationFormat>宽屏</PresentationFormat>
  <Paragraphs>28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157</cp:revision>
  <dcterms:created xsi:type="dcterms:W3CDTF">2019-06-19T02:08:00Z</dcterms:created>
  <dcterms:modified xsi:type="dcterms:W3CDTF">2024-09-05T05:10:17Z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2052-12.1.0.17857</vt:lpwstr>
  </property>
  <property fmtid="{D5CDD505-2E9C-101B-9397-08002B2CF9AE}" pid="3" name="ICV">
    <vt:lpwstr>0BF839F941E24D49877D381F31A227E8_11</vt:lpwstr>
  </property>
</Properties>
</file>