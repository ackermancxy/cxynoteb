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12192000" cy="6858000"/>
  <p:notesSz cx="6858000" cy="9144000"/>
  <p:custDataLst>
    <p:tags r:id="rId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1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51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64.xml"/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77800" y="93980"/>
            <a:ext cx="5993765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>
                <a:solidFill>
                  <a:schemeClr val="tx1"/>
                </a:solidFill>
              </a:rPr>
              <a:t>1.</a:t>
            </a:r>
            <a:r>
              <a:rPr lang="zh-CN" altLang="en-US" sz="2400">
                <a:solidFill>
                  <a:schemeClr val="tx1"/>
                </a:solidFill>
              </a:rPr>
              <a:t>雇主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employer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</a:t>
            </a:r>
            <a:r>
              <a:rPr lang="zh-CN" altLang="en-US" sz="2400">
                <a:solidFill>
                  <a:schemeClr val="tx1"/>
                </a:solidFill>
              </a:rPr>
              <a:t>雇员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employee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2.</a:t>
            </a:r>
            <a:r>
              <a:rPr lang="zh-CN" altLang="en-US" sz="2400">
                <a:solidFill>
                  <a:schemeClr val="tx1"/>
                </a:solidFill>
              </a:rPr>
              <a:t>把瓶子一倒而空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en-US" altLang="zh-CN" sz="2400">
                <a:solidFill>
                  <a:schemeClr val="bg1"/>
                </a:solidFill>
              </a:rPr>
              <a:t>empty the bottle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3.</a:t>
            </a:r>
            <a:r>
              <a:rPr lang="zh-CN" altLang="en-US" sz="2400">
                <a:solidFill>
                  <a:schemeClr val="tx1"/>
                </a:solidFill>
              </a:rPr>
              <a:t>意外遇见；邂逅</a:t>
            </a:r>
            <a:r>
              <a:rPr lang="en-US" altLang="zh-CN" sz="2400">
                <a:solidFill>
                  <a:schemeClr val="tx1"/>
                </a:solidFill>
              </a:rPr>
              <a:t> v. </a:t>
            </a:r>
            <a:r>
              <a:rPr lang="en-US" altLang="zh-CN" sz="2400">
                <a:solidFill>
                  <a:schemeClr val="bg1"/>
                </a:solidFill>
              </a:rPr>
              <a:t>encounter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4.</a:t>
            </a:r>
            <a:r>
              <a:rPr lang="zh-CN" altLang="en-US" sz="2400">
                <a:solidFill>
                  <a:schemeClr val="tx1"/>
                </a:solidFill>
              </a:rPr>
              <a:t>鼓励某人做某事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en-US" altLang="zh-CN" sz="2400">
                <a:solidFill>
                  <a:schemeClr val="bg1"/>
                </a:solidFill>
              </a:rPr>
              <a:t>encourage sb. to do sth.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5.</a:t>
            </a:r>
            <a:r>
              <a:rPr lang="zh-CN" altLang="en-US" sz="2400">
                <a:solidFill>
                  <a:schemeClr val="tx1"/>
                </a:solidFill>
              </a:rPr>
              <a:t>以失败告终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en-US" altLang="zh-CN" sz="2400">
                <a:solidFill>
                  <a:schemeClr val="bg1"/>
                </a:solidFill>
              </a:rPr>
              <a:t>end up in failure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6.</a:t>
            </a:r>
            <a:r>
              <a:rPr lang="zh-CN" altLang="en-US" sz="2400">
                <a:solidFill>
                  <a:schemeClr val="tx1"/>
                </a:solidFill>
              </a:rPr>
              <a:t>持久力；忍耐力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endurance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7.</a:t>
            </a:r>
            <a:r>
              <a:rPr lang="zh-CN" altLang="en-US" sz="2400">
                <a:solidFill>
                  <a:schemeClr val="tx1"/>
                </a:solidFill>
              </a:rPr>
              <a:t>仇人；敌人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en-US" altLang="zh-CN" sz="2400">
                <a:solidFill>
                  <a:schemeClr val="bg1"/>
                </a:solidFill>
              </a:rPr>
              <a:t>enemy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8.</a:t>
            </a:r>
            <a:r>
              <a:rPr lang="zh-CN" altLang="en-US" sz="2400">
                <a:solidFill>
                  <a:schemeClr val="tx1"/>
                </a:solidFill>
              </a:rPr>
              <a:t>精力充沛的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en-US" altLang="zh-CN" sz="2400">
                <a:solidFill>
                  <a:schemeClr val="bg1"/>
                </a:solidFill>
              </a:rPr>
              <a:t>energetic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9.be engaged in sth. </a:t>
            </a:r>
            <a:r>
              <a:rPr lang="en-US" altLang="zh-CN" sz="2400">
                <a:solidFill>
                  <a:schemeClr val="bg1"/>
                </a:solidFill>
              </a:rPr>
              <a:t>从事；忙于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be engaged to sb. </a:t>
            </a:r>
            <a:r>
              <a:rPr lang="en-US" altLang="zh-CN" sz="2400">
                <a:solidFill>
                  <a:schemeClr val="bg1"/>
                </a:solidFill>
              </a:rPr>
              <a:t>与...订婚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10.</a:t>
            </a:r>
            <a:r>
              <a:rPr lang="zh-CN" altLang="en-US" sz="2400">
                <a:solidFill>
                  <a:schemeClr val="tx1"/>
                </a:solidFill>
              </a:rPr>
              <a:t>引擎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engine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11.</a:t>
            </a:r>
            <a:r>
              <a:rPr lang="zh-CN" altLang="en-US" sz="2400">
                <a:solidFill>
                  <a:schemeClr val="tx1"/>
                </a:solidFill>
              </a:rPr>
              <a:t>强化我的英语口语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en-US" altLang="zh-CN" sz="2400">
                <a:solidFill>
                  <a:schemeClr val="bg1"/>
                </a:solidFill>
              </a:rPr>
              <a:t>enhance my oral English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12.enlarge on/upon sth. </a:t>
            </a:r>
            <a:r>
              <a:rPr lang="en-US" altLang="zh-CN" sz="2400">
                <a:solidFill>
                  <a:schemeClr val="bg1"/>
                </a:solidFill>
              </a:rPr>
              <a:t>详述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13.enormous adj. </a:t>
            </a:r>
            <a:r>
              <a:rPr lang="en-US" altLang="zh-CN" sz="2400">
                <a:solidFill>
                  <a:schemeClr val="bg1"/>
                </a:solidFill>
              </a:rPr>
              <a:t>巨大的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14.enroll v. </a:t>
            </a:r>
            <a:r>
              <a:rPr lang="en-US" altLang="zh-CN" sz="2400">
                <a:solidFill>
                  <a:schemeClr val="bg1"/>
                </a:solidFill>
              </a:rPr>
              <a:t>招生；吸收</a:t>
            </a:r>
            <a:endParaRPr lang="en-US" altLang="zh-CN" sz="2400">
              <a:solidFill>
                <a:schemeClr val="bg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298565" y="93980"/>
            <a:ext cx="5993765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>
                <a:solidFill>
                  <a:schemeClr val="tx1"/>
                </a:solidFill>
              </a:rPr>
              <a:t>1</a:t>
            </a:r>
            <a:r>
              <a:rPr lang="en-US" sz="2400">
                <a:solidFill>
                  <a:schemeClr val="tx1"/>
                </a:solidFill>
              </a:rPr>
              <a:t>5.entire adj. </a:t>
            </a:r>
            <a:r>
              <a:rPr lang="en-US" altLang="zh-CN" sz="2400">
                <a:solidFill>
                  <a:schemeClr val="bg1"/>
                </a:solidFill>
              </a:rPr>
              <a:t>整个的；全部的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16.</a:t>
            </a:r>
            <a:r>
              <a:rPr lang="zh-CN" altLang="en-US" sz="2400">
                <a:solidFill>
                  <a:schemeClr val="tx1"/>
                </a:solidFill>
              </a:rPr>
              <a:t>确保货物准时送达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en-US" altLang="zh-CN" sz="2400">
                <a:solidFill>
                  <a:schemeClr val="bg1"/>
                </a:solidFill>
              </a:rPr>
              <a:t>ensure that the goods are delivered on time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17.enterprise n. </a:t>
            </a:r>
            <a:r>
              <a:rPr lang="en-US" altLang="zh-CN" sz="2400">
                <a:solidFill>
                  <a:schemeClr val="bg1"/>
                </a:solidFill>
              </a:rPr>
              <a:t>企业；公司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18.entertain a proposal </a:t>
            </a:r>
            <a:r>
              <a:rPr lang="en-US" altLang="zh-CN" sz="2400">
                <a:solidFill>
                  <a:schemeClr val="bg1"/>
                </a:solidFill>
              </a:rPr>
              <a:t>考虑某建议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19.</a:t>
            </a:r>
            <a:r>
              <a:rPr lang="zh-CN" altLang="en-US" sz="2400">
                <a:solidFill>
                  <a:schemeClr val="tx1"/>
                </a:solidFill>
              </a:rPr>
              <a:t>娱乐；招待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entertainment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20.</a:t>
            </a:r>
            <a:r>
              <a:rPr lang="zh-CN" altLang="en-US" sz="2400">
                <a:solidFill>
                  <a:schemeClr val="tx1"/>
                </a:solidFill>
              </a:rPr>
              <a:t>满腔热情的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en-US" altLang="zh-CN" sz="2400">
                <a:solidFill>
                  <a:schemeClr val="bg1"/>
                </a:solidFill>
              </a:rPr>
              <a:t>enthusiastic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21.entitle v. </a:t>
            </a:r>
            <a:r>
              <a:rPr lang="en-US" altLang="zh-CN" sz="2400">
                <a:solidFill>
                  <a:schemeClr val="bg1"/>
                </a:solidFill>
              </a:rPr>
              <a:t>给...权利；给...称号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22.entrance n. </a:t>
            </a:r>
            <a:r>
              <a:rPr lang="en-US" altLang="zh-CN" sz="2400">
                <a:solidFill>
                  <a:schemeClr val="bg1"/>
                </a:solidFill>
              </a:rPr>
              <a:t>入口；进入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23.</a:t>
            </a:r>
            <a:r>
              <a:rPr lang="zh-CN" altLang="en-US" sz="2400">
                <a:solidFill>
                  <a:schemeClr val="tx1"/>
                </a:solidFill>
              </a:rPr>
              <a:t>信封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envelope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24.</a:t>
            </a:r>
            <a:r>
              <a:rPr lang="zh-CN" altLang="en-US" sz="2400">
                <a:solidFill>
                  <a:schemeClr val="tx1"/>
                </a:solidFill>
              </a:rPr>
              <a:t>羡慕；嫉妒</a:t>
            </a:r>
            <a:r>
              <a:rPr lang="en-US" altLang="zh-CN" sz="2400">
                <a:solidFill>
                  <a:schemeClr val="tx1"/>
                </a:solidFill>
              </a:rPr>
              <a:t> v. </a:t>
            </a:r>
            <a:r>
              <a:rPr lang="en-US" altLang="zh-CN" sz="2400">
                <a:solidFill>
                  <a:schemeClr val="bg1"/>
                </a:solidFill>
              </a:rPr>
              <a:t>envy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25.</a:t>
            </a:r>
            <a:r>
              <a:rPr lang="zh-CN" altLang="en-US" sz="2400">
                <a:solidFill>
                  <a:schemeClr val="tx1"/>
                </a:solidFill>
              </a:rPr>
              <a:t>一集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episode</a:t>
            </a:r>
            <a:endParaRPr lang="en-US" altLang="zh-CN" sz="2400">
              <a:solidFill>
                <a:schemeClr val="bg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commondata" val="eyJoZGlkIjoiOGY5NTQyMzkzNzFlMTQ3ZjlhODAwMTUzYmI4YzEyZTc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639</Words>
  <Application>WPS 演示</Application>
  <PresentationFormat>宽屏</PresentationFormat>
  <Paragraphs>29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程多涛</cp:lastModifiedBy>
  <cp:revision>157</cp:revision>
  <dcterms:created xsi:type="dcterms:W3CDTF">2019-06-19T02:08:00Z</dcterms:created>
  <dcterms:modified xsi:type="dcterms:W3CDTF">2024-09-18T00:37:08Z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2052-12.1.0.17857</vt:lpwstr>
  </property>
  <property fmtid="{D5CDD505-2E9C-101B-9397-08002B2CF9AE}" pid="3" name="ICV">
    <vt:lpwstr>A26CF5EDF31245769A2E9565EC28F74F_11</vt:lpwstr>
  </property>
</Properties>
</file>