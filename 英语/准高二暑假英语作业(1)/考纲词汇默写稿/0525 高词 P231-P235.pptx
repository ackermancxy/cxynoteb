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</a:t>
            </a:r>
            <a:r>
              <a:rPr lang="zh-CN" altLang="en-US" sz="2400"/>
              <a:t>本能；天性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instinct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2.institute n. </a:t>
            </a:r>
            <a:r>
              <a:rPr lang="en-US" altLang="zh-CN" sz="2400">
                <a:solidFill>
                  <a:schemeClr val="bg1"/>
                </a:solidFill>
              </a:rPr>
              <a:t>学会；研究所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3.</a:t>
            </a:r>
            <a:r>
              <a:rPr lang="zh-CN" altLang="en-US" sz="2400"/>
              <a:t>教导；指示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instruction</a:t>
            </a:r>
            <a:endParaRPr lang="en-US" altLang="zh-CN" sz="2400"/>
          </a:p>
          <a:p>
            <a:r>
              <a:rPr lang="en-US" altLang="zh-CN" sz="2400"/>
              <a:t>4.instrument n. </a:t>
            </a:r>
            <a:r>
              <a:rPr lang="en-US" altLang="zh-CN" sz="2400">
                <a:solidFill>
                  <a:schemeClr val="bg1"/>
                </a:solidFill>
              </a:rPr>
              <a:t>乐器</a:t>
            </a:r>
            <a:endParaRPr lang="zh-CN" altLang="en-US" sz="2400"/>
          </a:p>
          <a:p>
            <a:r>
              <a:rPr lang="en-US" altLang="zh-CN" sz="2400"/>
              <a:t>5.</a:t>
            </a:r>
            <a:r>
              <a:rPr lang="zh-CN" altLang="en-US" sz="2400"/>
              <a:t>侮辱；辱骂</a:t>
            </a:r>
            <a:r>
              <a:rPr lang="en-US" altLang="zh-CN" sz="2400"/>
              <a:t> v. </a:t>
            </a:r>
            <a:r>
              <a:rPr lang="en-US" altLang="zh-CN" sz="2400">
                <a:solidFill>
                  <a:schemeClr val="bg1"/>
                </a:solidFill>
              </a:rPr>
              <a:t>insult</a:t>
            </a:r>
            <a:endParaRPr lang="en-US" altLang="zh-CN" sz="2400"/>
          </a:p>
          <a:p>
            <a:pPr algn="l">
              <a:buClrTx/>
              <a:buSzTx/>
              <a:buFontTx/>
            </a:pPr>
            <a:r>
              <a:rPr lang="en-US" altLang="zh-CN" sz="2400"/>
              <a:t>6.</a:t>
            </a:r>
            <a:r>
              <a:rPr lang="zh-CN" altLang="en-US" sz="2400"/>
              <a:t>保险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insurance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7.integrity n. </a:t>
            </a:r>
            <a:r>
              <a:rPr lang="en-US" altLang="zh-CN" sz="2400">
                <a:solidFill>
                  <a:schemeClr val="bg1"/>
                </a:solidFill>
              </a:rPr>
              <a:t>完整；正直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en-US" altLang="zh-CN" sz="2400"/>
              <a:t>8.</a:t>
            </a:r>
            <a:r>
              <a:rPr lang="zh-CN" altLang="en-US" sz="2400"/>
              <a:t>聪明的；有才智的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intelligent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9.</a:t>
            </a:r>
            <a:r>
              <a:rPr lang="zh-CN" altLang="en-US" sz="2400"/>
              <a:t>意图；目的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intention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10.</a:t>
            </a:r>
            <a:r>
              <a:rPr lang="zh-CN" altLang="en-US" sz="2400"/>
              <a:t>强烈的；紧张的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intense</a:t>
            </a:r>
            <a:endParaRPr lang="en-US" altLang="zh-CN" sz="2400"/>
          </a:p>
          <a:p>
            <a:pPr algn="l">
              <a:buClrTx/>
              <a:buSzTx/>
              <a:buFontTx/>
            </a:pPr>
            <a:r>
              <a:rPr lang="en-US" altLang="zh-CN" sz="2400"/>
              <a:t>11.</a:t>
            </a:r>
            <a:r>
              <a:rPr lang="zh-CN" altLang="en-US" sz="2400"/>
              <a:t>相互作用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interaction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12.an intermediate stage </a:t>
            </a:r>
            <a:r>
              <a:rPr lang="en-US" altLang="zh-CN" sz="2400">
                <a:solidFill>
                  <a:schemeClr val="bg1"/>
                </a:solidFill>
              </a:rPr>
              <a:t>中间阶段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13.</a:t>
            </a:r>
            <a:r>
              <a:rPr lang="zh-CN" altLang="en-US" sz="2400"/>
              <a:t>内部的；内在的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internal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14.</a:t>
            </a:r>
            <a:r>
              <a:rPr lang="zh-CN" altLang="en-US" sz="2400"/>
              <a:t>解释；口译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interpret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15.</a:t>
            </a:r>
            <a:r>
              <a:rPr lang="zh-CN" altLang="en-US" sz="2400"/>
              <a:t>打断；打扰</a:t>
            </a:r>
            <a:r>
              <a:rPr lang="en-US" altLang="zh-CN" sz="2400"/>
              <a:t> v.</a:t>
            </a:r>
            <a:r>
              <a:rPr lang="en-US" altLang="zh-CN" sz="2400">
                <a:solidFill>
                  <a:schemeClr val="bg1"/>
                </a:solidFill>
              </a:rPr>
              <a:t> interrupt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16.</a:t>
            </a:r>
            <a:r>
              <a:rPr lang="zh-CN" altLang="en-US" sz="2400"/>
              <a:t>间隔；幕间休息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interval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17.</a:t>
            </a:r>
            <a:r>
              <a:rPr lang="zh-CN" altLang="en-US" sz="2400"/>
              <a:t>干涉；干预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intervention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/>
              <a:t>1</a:t>
            </a:r>
            <a:r>
              <a:rPr lang="en-US" sz="2400"/>
              <a:t>8.introduce v. </a:t>
            </a:r>
            <a:r>
              <a:rPr lang="en-US" altLang="zh-CN" sz="2400">
                <a:solidFill>
                  <a:schemeClr val="bg1"/>
                </a:solidFill>
              </a:rPr>
              <a:t>介绍；引进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19.intruder n. </a:t>
            </a:r>
            <a:r>
              <a:rPr lang="en-US" altLang="zh-CN" sz="2400">
                <a:solidFill>
                  <a:schemeClr val="bg1"/>
                </a:solidFill>
              </a:rPr>
              <a:t>侵入者；闯入者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/>
              <a:t>20.invade v. </a:t>
            </a:r>
            <a:r>
              <a:rPr lang="en-US" altLang="zh-CN" sz="2400">
                <a:solidFill>
                  <a:schemeClr val="bg1"/>
                </a:solidFill>
              </a:rPr>
              <a:t>侵入；侵略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en-US" altLang="zh-CN" sz="2400"/>
              <a:t>21.</a:t>
            </a:r>
            <a:r>
              <a:rPr lang="zh-CN" altLang="en-US" sz="2400"/>
              <a:t>发明</a:t>
            </a:r>
            <a:r>
              <a:rPr lang="en-US" altLang="zh-CN" sz="2400"/>
              <a:t> n.</a:t>
            </a:r>
            <a:r>
              <a:rPr lang="en-US" altLang="zh-CN" sz="2400">
                <a:solidFill>
                  <a:schemeClr val="bg1"/>
                </a:solidFill>
              </a:rPr>
              <a:t> invention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22.</a:t>
            </a:r>
            <a:r>
              <a:rPr lang="zh-CN" altLang="en-US" sz="2400"/>
              <a:t>投资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investment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23.</a:t>
            </a:r>
            <a:r>
              <a:rPr lang="zh-CN" altLang="en-US" sz="2400"/>
              <a:t>调查；审查</a:t>
            </a:r>
            <a:r>
              <a:rPr lang="en-US" altLang="zh-CN" sz="2400"/>
              <a:t> v. </a:t>
            </a:r>
            <a:r>
              <a:rPr lang="en-US" altLang="zh-CN" sz="2400">
                <a:solidFill>
                  <a:schemeClr val="bg1"/>
                </a:solidFill>
              </a:rPr>
              <a:t>investigate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24.</a:t>
            </a:r>
            <a:r>
              <a:rPr lang="zh-CN" altLang="en-US" sz="2400"/>
              <a:t>无形的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invisible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25.inviting adj. </a:t>
            </a:r>
            <a:r>
              <a:rPr lang="en-US" altLang="zh-CN" sz="2400">
                <a:solidFill>
                  <a:schemeClr val="bg1"/>
                </a:solidFill>
              </a:rPr>
              <a:t>吸引人的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/>
              <a:t>26.iron n. </a:t>
            </a:r>
            <a:r>
              <a:rPr lang="en-US" altLang="zh-CN" sz="2400">
                <a:solidFill>
                  <a:schemeClr val="bg1"/>
                </a:solidFill>
              </a:rPr>
              <a:t>铁；熨斗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2024-05-24T03:22:25Z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23A297A9FEAB4B91824D4A1E42607E6F_11</vt:lpwstr>
  </property>
</Properties>
</file>