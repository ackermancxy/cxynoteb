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</p:sldIdLst>
  <p:sldSz cx="12192000" cy="6858000"/>
  <p:notesSz cx="6858000" cy="9144000"/>
  <p:custDataLst>
    <p:tags r:id="rId7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1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51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7" Type="http://schemas.openxmlformats.org/officeDocument/2006/relationships/tags" Target="tags/tag64.xml"/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6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177800" y="93980"/>
            <a:ext cx="5918200" cy="66427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2400">
                <a:solidFill>
                  <a:schemeClr val="tx1"/>
                </a:solidFill>
              </a:rPr>
              <a:t>1.</a:t>
            </a:r>
            <a:r>
              <a:rPr lang="zh-CN" altLang="en-US" sz="2400">
                <a:solidFill>
                  <a:schemeClr val="tx1"/>
                </a:solidFill>
              </a:rPr>
              <a:t>揭示；揭露</a:t>
            </a:r>
            <a:r>
              <a:rPr lang="en-US" altLang="zh-CN" sz="2400">
                <a:solidFill>
                  <a:schemeClr val="tx1"/>
                </a:solidFill>
              </a:rPr>
              <a:t> v. </a:t>
            </a:r>
            <a:r>
              <a:rPr lang="en-US" altLang="zh-CN" sz="2400">
                <a:solidFill>
                  <a:schemeClr val="bg1"/>
                </a:solidFill>
              </a:rPr>
              <a:t>reveal</a:t>
            </a:r>
            <a:endParaRPr lang="en-US" altLang="zh-CN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2.</a:t>
            </a:r>
            <a:r>
              <a:rPr lang="zh-CN" altLang="en-US" sz="2400">
                <a:solidFill>
                  <a:schemeClr val="tx1"/>
                </a:solidFill>
              </a:rPr>
              <a:t>复仇；报仇</a:t>
            </a:r>
            <a:r>
              <a:rPr lang="en-US" altLang="zh-CN" sz="2400">
                <a:solidFill>
                  <a:schemeClr val="tx1"/>
                </a:solidFill>
              </a:rPr>
              <a:t> v. </a:t>
            </a:r>
            <a:r>
              <a:rPr lang="en-US" altLang="zh-CN" sz="2400">
                <a:solidFill>
                  <a:schemeClr val="bg1"/>
                </a:solidFill>
              </a:rPr>
              <a:t>revenge</a:t>
            </a:r>
            <a:endParaRPr lang="en-US" altLang="zh-CN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3.reverse adj. </a:t>
            </a:r>
            <a:r>
              <a:rPr lang="en-US" altLang="zh-CN" sz="2400">
                <a:solidFill>
                  <a:schemeClr val="bg1"/>
                </a:solidFill>
              </a:rPr>
              <a:t>反向的；颠倒的</a:t>
            </a:r>
            <a:endParaRPr lang="en-US" altLang="zh-CN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4.</a:t>
            </a:r>
            <a:r>
              <a:rPr lang="zh-CN" altLang="en-US" sz="2400">
                <a:solidFill>
                  <a:schemeClr val="tx1"/>
                </a:solidFill>
              </a:rPr>
              <a:t>复习；回顾</a:t>
            </a:r>
            <a:r>
              <a:rPr lang="en-US" altLang="zh-CN" sz="2400">
                <a:solidFill>
                  <a:schemeClr val="tx1"/>
                </a:solidFill>
              </a:rPr>
              <a:t> v. </a:t>
            </a:r>
            <a:r>
              <a:rPr lang="en-US" altLang="zh-CN" sz="2400">
                <a:solidFill>
                  <a:schemeClr val="bg1"/>
                </a:solidFill>
              </a:rPr>
              <a:t>review</a:t>
            </a:r>
            <a:endParaRPr lang="en-US" altLang="zh-CN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5.</a:t>
            </a:r>
            <a:r>
              <a:rPr lang="zh-CN" altLang="en-US" sz="2400">
                <a:solidFill>
                  <a:schemeClr val="tx1"/>
                </a:solidFill>
              </a:rPr>
              <a:t>修订；修正</a:t>
            </a:r>
            <a:r>
              <a:rPr lang="en-US" altLang="zh-CN" sz="2400">
                <a:solidFill>
                  <a:schemeClr val="tx1"/>
                </a:solidFill>
              </a:rPr>
              <a:t> v. </a:t>
            </a:r>
            <a:r>
              <a:rPr lang="en-US" altLang="zh-CN" sz="2400">
                <a:solidFill>
                  <a:schemeClr val="bg1"/>
                </a:solidFill>
              </a:rPr>
              <a:t>revise</a:t>
            </a:r>
            <a:endParaRPr lang="en-US" altLang="zh-CN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6.</a:t>
            </a:r>
            <a:r>
              <a:rPr lang="zh-CN" altLang="en-US" sz="2400">
                <a:solidFill>
                  <a:schemeClr val="tx1"/>
                </a:solidFill>
              </a:rPr>
              <a:t>革命</a:t>
            </a:r>
            <a:r>
              <a:rPr lang="en-US" altLang="zh-CN" sz="2400">
                <a:solidFill>
                  <a:schemeClr val="tx1"/>
                </a:solidFill>
              </a:rPr>
              <a:t> n. </a:t>
            </a:r>
            <a:r>
              <a:rPr lang="en-US" altLang="zh-CN" sz="2400">
                <a:solidFill>
                  <a:schemeClr val="bg1"/>
                </a:solidFill>
              </a:rPr>
              <a:t>revolution</a:t>
            </a:r>
            <a:endParaRPr lang="en-US" altLang="zh-CN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7.</a:t>
            </a:r>
            <a:r>
              <a:rPr lang="zh-CN" altLang="en-US" sz="2400">
                <a:solidFill>
                  <a:schemeClr val="tx1"/>
                </a:solidFill>
              </a:rPr>
              <a:t>作为回报</a:t>
            </a:r>
            <a:r>
              <a:rPr lang="en-US" altLang="zh-CN" sz="2400">
                <a:solidFill>
                  <a:schemeClr val="tx1"/>
                </a:solidFill>
              </a:rPr>
              <a:t> </a:t>
            </a:r>
            <a:r>
              <a:rPr lang="en-US" altLang="zh-CN" sz="2400">
                <a:solidFill>
                  <a:schemeClr val="bg1"/>
                </a:solidFill>
              </a:rPr>
              <a:t>as a reward</a:t>
            </a:r>
            <a:endParaRPr lang="en-US" altLang="zh-CN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8.</a:t>
            </a:r>
            <a:r>
              <a:rPr lang="zh-CN" altLang="en-US" sz="2400">
                <a:solidFill>
                  <a:schemeClr val="tx1"/>
                </a:solidFill>
              </a:rPr>
              <a:t>韵；押韵</a:t>
            </a:r>
            <a:r>
              <a:rPr lang="en-US" altLang="zh-CN" sz="2400">
                <a:solidFill>
                  <a:schemeClr val="tx1"/>
                </a:solidFill>
              </a:rPr>
              <a:t> n. </a:t>
            </a:r>
            <a:r>
              <a:rPr lang="en-US" altLang="zh-CN" sz="2400">
                <a:solidFill>
                  <a:schemeClr val="bg1"/>
                </a:solidFill>
              </a:rPr>
              <a:t>rhyme</a:t>
            </a:r>
            <a:endParaRPr lang="en-US" altLang="zh-CN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9.</a:t>
            </a:r>
            <a:r>
              <a:rPr lang="zh-CN" altLang="en-US" sz="2400">
                <a:solidFill>
                  <a:schemeClr val="tx1"/>
                </a:solidFill>
              </a:rPr>
              <a:t>节奏；韵律</a:t>
            </a:r>
            <a:r>
              <a:rPr lang="en-US" altLang="zh-CN" sz="2400">
                <a:solidFill>
                  <a:schemeClr val="tx1"/>
                </a:solidFill>
              </a:rPr>
              <a:t> n. </a:t>
            </a:r>
            <a:r>
              <a:rPr lang="en-US" altLang="zh-CN" sz="2400">
                <a:solidFill>
                  <a:schemeClr val="bg1"/>
                </a:solidFill>
              </a:rPr>
              <a:t>rhythm</a:t>
            </a:r>
            <a:endParaRPr lang="en-US" altLang="zh-CN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10.</a:t>
            </a:r>
            <a:r>
              <a:rPr lang="zh-CN" altLang="en-US" sz="2400">
                <a:solidFill>
                  <a:schemeClr val="tx1"/>
                </a:solidFill>
              </a:rPr>
              <a:t>摆脱；除去</a:t>
            </a:r>
            <a:r>
              <a:rPr lang="en-US" altLang="zh-CN" sz="2400">
                <a:solidFill>
                  <a:schemeClr val="bg1"/>
                </a:solidFill>
              </a:rPr>
              <a:t> get rid of</a:t>
            </a:r>
            <a:endParaRPr lang="en-US" altLang="zh-CN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11.</a:t>
            </a:r>
            <a:r>
              <a:rPr lang="zh-CN" altLang="en-US" sz="2400">
                <a:solidFill>
                  <a:schemeClr val="tx1"/>
                </a:solidFill>
              </a:rPr>
              <a:t>谜语</a:t>
            </a:r>
            <a:r>
              <a:rPr lang="en-US" altLang="zh-CN" sz="2400">
                <a:solidFill>
                  <a:schemeClr val="tx1"/>
                </a:solidFill>
              </a:rPr>
              <a:t> n. </a:t>
            </a:r>
            <a:r>
              <a:rPr lang="en-US" altLang="zh-CN" sz="2400">
                <a:solidFill>
                  <a:schemeClr val="bg1"/>
                </a:solidFill>
              </a:rPr>
              <a:t>riddle</a:t>
            </a:r>
            <a:endParaRPr lang="en-US" altLang="zh-CN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12.</a:t>
            </a:r>
            <a:r>
              <a:rPr lang="zh-CN" altLang="en-US" sz="2400">
                <a:solidFill>
                  <a:schemeClr val="tx1"/>
                </a:solidFill>
              </a:rPr>
              <a:t>可笑的；荒谬的</a:t>
            </a:r>
            <a:r>
              <a:rPr lang="en-US" altLang="zh-CN" sz="2400">
                <a:solidFill>
                  <a:schemeClr val="tx1"/>
                </a:solidFill>
              </a:rPr>
              <a:t> adj. </a:t>
            </a:r>
            <a:r>
              <a:rPr lang="en-US" altLang="zh-CN" sz="2400">
                <a:solidFill>
                  <a:schemeClr val="bg1"/>
                </a:solidFill>
              </a:rPr>
              <a:t>rediculous</a:t>
            </a:r>
            <a:endParaRPr lang="en-US" altLang="zh-CN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13.rigid adj. </a:t>
            </a:r>
            <a:r>
              <a:rPr lang="zh-CN" altLang="en-US" sz="2400">
                <a:solidFill>
                  <a:schemeClr val="bg1"/>
                </a:solidFill>
              </a:rPr>
              <a:t>固执的；缰化的</a:t>
            </a:r>
            <a:endParaRPr lang="zh-CN" altLang="en-US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14.ring sb. up </a:t>
            </a:r>
            <a:r>
              <a:rPr lang="zh-CN" altLang="en-US" sz="2400">
                <a:solidFill>
                  <a:schemeClr val="bg1"/>
                </a:solidFill>
              </a:rPr>
              <a:t>给某人打电话</a:t>
            </a:r>
            <a:endParaRPr lang="zh-CN" altLang="en-US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15.ripe adj. </a:t>
            </a:r>
            <a:r>
              <a:rPr lang="zh-CN" altLang="en-US" sz="2400">
                <a:solidFill>
                  <a:schemeClr val="bg1"/>
                </a:solidFill>
              </a:rPr>
              <a:t>成熟的</a:t>
            </a:r>
            <a:endParaRPr lang="zh-CN" altLang="en-US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     ripe for </a:t>
            </a:r>
            <a:r>
              <a:rPr lang="zh-CN" altLang="en-US" sz="2400">
                <a:solidFill>
                  <a:schemeClr val="bg1"/>
                </a:solidFill>
              </a:rPr>
              <a:t>为...做好准备</a:t>
            </a:r>
            <a:endParaRPr lang="zh-CN" altLang="en-US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16.</a:t>
            </a:r>
            <a:r>
              <a:rPr lang="zh-CN" altLang="en-US" sz="2400">
                <a:solidFill>
                  <a:schemeClr val="tx1"/>
                </a:solidFill>
              </a:rPr>
              <a:t>冒险做某事</a:t>
            </a:r>
            <a:r>
              <a:rPr lang="en-US" altLang="zh-CN" sz="2400">
                <a:solidFill>
                  <a:schemeClr val="tx1"/>
                </a:solidFill>
              </a:rPr>
              <a:t> </a:t>
            </a:r>
            <a:r>
              <a:rPr lang="zh-CN" altLang="en-US" sz="2400">
                <a:solidFill>
                  <a:schemeClr val="bg1"/>
                </a:solidFill>
              </a:rPr>
              <a:t>risk doing sth. </a:t>
            </a:r>
            <a:endParaRPr lang="zh-CN" altLang="en-US" sz="2400">
              <a:solidFill>
                <a:schemeClr val="bg1"/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6223000" y="93980"/>
            <a:ext cx="5918200" cy="66427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2400">
                <a:solidFill>
                  <a:schemeClr val="tx1"/>
                </a:solidFill>
              </a:rPr>
              <a:t>1</a:t>
            </a:r>
            <a:r>
              <a:rPr lang="en-US" sz="2400">
                <a:solidFill>
                  <a:schemeClr val="tx1"/>
                </a:solidFill>
              </a:rPr>
              <a:t>7.ritual n. </a:t>
            </a:r>
            <a:r>
              <a:rPr lang="zh-CN" altLang="en-US" sz="2400">
                <a:solidFill>
                  <a:schemeClr val="bg1"/>
                </a:solidFill>
              </a:rPr>
              <a:t>仪式；礼节</a:t>
            </a:r>
            <a:endParaRPr lang="zh-CN" altLang="en-US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18.roast v. </a:t>
            </a:r>
            <a:r>
              <a:rPr lang="zh-CN" altLang="en-US" sz="2400">
                <a:solidFill>
                  <a:schemeClr val="bg1"/>
                </a:solidFill>
              </a:rPr>
              <a:t>烤；炙</a:t>
            </a:r>
            <a:endParaRPr lang="zh-CN" altLang="en-US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19.</a:t>
            </a:r>
            <a:r>
              <a:rPr lang="zh-CN" altLang="en-US" sz="2400">
                <a:solidFill>
                  <a:schemeClr val="tx1"/>
                </a:solidFill>
              </a:rPr>
              <a:t>强盗；盗贼</a:t>
            </a:r>
            <a:r>
              <a:rPr lang="en-US" altLang="zh-CN" sz="2400">
                <a:solidFill>
                  <a:schemeClr val="tx1"/>
                </a:solidFill>
              </a:rPr>
              <a:t> n. </a:t>
            </a:r>
            <a:r>
              <a:rPr lang="zh-CN" altLang="en-US" sz="2400">
                <a:solidFill>
                  <a:schemeClr val="bg1"/>
                </a:solidFill>
              </a:rPr>
              <a:t>robber</a:t>
            </a:r>
            <a:endParaRPr lang="zh-CN" altLang="en-US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20.</a:t>
            </a:r>
            <a:r>
              <a:rPr lang="zh-CN" altLang="en-US" sz="2400">
                <a:solidFill>
                  <a:schemeClr val="tx1"/>
                </a:solidFill>
              </a:rPr>
              <a:t>火箭</a:t>
            </a:r>
            <a:r>
              <a:rPr lang="en-US" altLang="zh-CN" sz="2400">
                <a:solidFill>
                  <a:schemeClr val="tx1"/>
                </a:solidFill>
              </a:rPr>
              <a:t> n. </a:t>
            </a:r>
            <a:r>
              <a:rPr lang="zh-CN" altLang="en-US" sz="2400">
                <a:solidFill>
                  <a:schemeClr val="bg1"/>
                </a:solidFill>
              </a:rPr>
              <a:t>rocket</a:t>
            </a:r>
            <a:endParaRPr lang="zh-CN" altLang="en-US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21.</a:t>
            </a:r>
            <a:r>
              <a:rPr lang="zh-CN" altLang="en-US" sz="2400">
                <a:solidFill>
                  <a:schemeClr val="tx1"/>
                </a:solidFill>
              </a:rPr>
              <a:t>扮演重要角色</a:t>
            </a:r>
            <a:r>
              <a:rPr lang="en-US" altLang="zh-CN" sz="2400">
                <a:solidFill>
                  <a:schemeClr val="tx1"/>
                </a:solidFill>
              </a:rPr>
              <a:t> </a:t>
            </a:r>
            <a:r>
              <a:rPr lang="zh-CN" altLang="en-US" sz="2400">
                <a:solidFill>
                  <a:schemeClr val="bg1"/>
                </a:solidFill>
              </a:rPr>
              <a:t>paly an important role</a:t>
            </a:r>
            <a:endParaRPr lang="en-US" altLang="zh-CN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22.</a:t>
            </a:r>
            <a:r>
              <a:rPr lang="zh-CN" altLang="en-US" sz="2400">
                <a:solidFill>
                  <a:schemeClr val="tx1"/>
                </a:solidFill>
              </a:rPr>
              <a:t>浪漫的</a:t>
            </a:r>
            <a:r>
              <a:rPr lang="en-US" altLang="zh-CN" sz="2400">
                <a:solidFill>
                  <a:schemeClr val="tx1"/>
                </a:solidFill>
              </a:rPr>
              <a:t> adj. </a:t>
            </a:r>
            <a:r>
              <a:rPr lang="zh-CN" altLang="en-US" sz="2400">
                <a:solidFill>
                  <a:schemeClr val="bg1"/>
                </a:solidFill>
              </a:rPr>
              <a:t>romantic</a:t>
            </a:r>
            <a:endParaRPr lang="zh-CN" altLang="en-US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23.</a:t>
            </a:r>
            <a:r>
              <a:rPr lang="zh-CN" altLang="en-US" sz="2400">
                <a:solidFill>
                  <a:schemeClr val="tx1"/>
                </a:solidFill>
              </a:rPr>
              <a:t>屋顶</a:t>
            </a:r>
            <a:r>
              <a:rPr lang="en-US" altLang="zh-CN" sz="2400">
                <a:solidFill>
                  <a:schemeClr val="tx1"/>
                </a:solidFill>
              </a:rPr>
              <a:t> n. </a:t>
            </a:r>
            <a:r>
              <a:rPr lang="zh-CN" altLang="en-US" sz="2400">
                <a:solidFill>
                  <a:schemeClr val="bg1"/>
                </a:solidFill>
              </a:rPr>
              <a:t>roof</a:t>
            </a:r>
            <a:endParaRPr lang="zh-CN" altLang="en-US" sz="2400">
              <a:solidFill>
                <a:schemeClr val="bg1"/>
              </a:solidFill>
            </a:endParaRPr>
          </a:p>
        </p:txBody>
      </p:sp>
    </p:spTree>
    <p:custDataLst>
      <p:tags r:id="rId1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4.xml><?xml version="1.0" encoding="utf-8"?>
<p:tagLst xmlns:p="http://schemas.openxmlformats.org/presentationml/2006/main">
  <p:tag name="commondata" val="eyJoZGlkIjoiOGY5NTQyMzkzNzFlMTQ3ZjlhODAwMTUzYmI4YzEyZTcifQ==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455</Words>
  <Application>WPS 演示</Application>
  <PresentationFormat>宽屏</PresentationFormat>
  <Paragraphs>26</Paragraphs>
  <Slides>1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9" baseType="lpstr">
      <vt:lpstr>Arial</vt:lpstr>
      <vt:lpstr>宋体</vt:lpstr>
      <vt:lpstr>Wingdings</vt:lpstr>
      <vt:lpstr>Wingdings</vt:lpstr>
      <vt:lpstr>微软雅黑</vt:lpstr>
      <vt:lpstr>Arial Unicode MS</vt:lpstr>
      <vt:lpstr>Calibri</vt:lpstr>
      <vt:lpstr>WPS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程多涛</cp:lastModifiedBy>
  <cp:revision>158</cp:revision>
  <dcterms:created xsi:type="dcterms:W3CDTF">2019-06-19T02:08:00Z</dcterms:created>
  <dcterms:modified xsi:type="dcterms:W3CDTF">2024-10-14T23:53:29Z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2052-12.1.0.18276</vt:lpwstr>
  </property>
  <property fmtid="{D5CDD505-2E9C-101B-9397-08002B2CF9AE}" pid="3" name="ICV">
    <vt:lpwstr>3BCEC1DEA2F242B9B9E328E60E445AF4_11</vt:lpwstr>
  </property>
</Properties>
</file>