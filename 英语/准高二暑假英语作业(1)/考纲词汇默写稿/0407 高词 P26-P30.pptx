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1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51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6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/>
          <p:cNvSpPr txBox="1"/>
          <p:nvPr/>
        </p:nvSpPr>
        <p:spPr>
          <a:xfrm>
            <a:off x="177800" y="93980"/>
            <a:ext cx="5993765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1.</a:t>
            </a:r>
            <a:r>
              <a:rPr lang="zh-CN" altLang="en-US" sz="2400">
                <a:solidFill>
                  <a:schemeClr val="tx1"/>
                </a:solidFill>
              </a:rPr>
              <a:t>消失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disappear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from all appearances </a:t>
            </a:r>
            <a:r>
              <a:rPr lang="en-US" altLang="zh-CN" sz="2400">
                <a:solidFill>
                  <a:schemeClr val="bg1"/>
                </a:solidFill>
              </a:rPr>
              <a:t>从各种迹象来看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2.</a:t>
            </a:r>
            <a:r>
              <a:rPr lang="zh-CN" altLang="en-US" sz="2400">
                <a:solidFill>
                  <a:schemeClr val="tx1"/>
                </a:solidFill>
              </a:rPr>
              <a:t>食欲；爱好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appetite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3.</a:t>
            </a:r>
            <a:r>
              <a:rPr lang="zh-CN" altLang="en-US" sz="2400">
                <a:solidFill>
                  <a:schemeClr val="tx1"/>
                </a:solidFill>
              </a:rPr>
              <a:t>鼓掌；称赞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applaud</a:t>
            </a:r>
            <a:r>
              <a:rPr lang="en-US" altLang="zh-CN" sz="2400">
                <a:solidFill>
                  <a:schemeClr val="tx1"/>
                </a:solidFill>
              </a:rPr>
              <a:t>  n. </a:t>
            </a:r>
            <a:r>
              <a:rPr lang="en-US" altLang="zh-CN" sz="2400">
                <a:solidFill>
                  <a:schemeClr val="bg1"/>
                </a:solidFill>
              </a:rPr>
              <a:t>applause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4.appliance n. </a:t>
            </a:r>
            <a:r>
              <a:rPr lang="en-US" altLang="zh-CN" sz="2400">
                <a:solidFill>
                  <a:schemeClr val="bg1"/>
                </a:solidFill>
              </a:rPr>
              <a:t>器具；电器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5.applicant n. </a:t>
            </a:r>
            <a:r>
              <a:rPr lang="en-US" altLang="zh-CN" sz="2400">
                <a:solidFill>
                  <a:schemeClr val="bg1"/>
                </a:solidFill>
              </a:rPr>
              <a:t>申请人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6.apply A to B </a:t>
            </a:r>
            <a:r>
              <a:rPr lang="en-US" altLang="zh-CN" sz="2400">
                <a:solidFill>
                  <a:schemeClr val="bg1"/>
                </a:solidFill>
              </a:rPr>
              <a:t>把 A 应用到B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</a:t>
            </a:r>
            <a:r>
              <a:rPr lang="zh-CN" altLang="en-US" sz="2400">
                <a:solidFill>
                  <a:schemeClr val="tx1"/>
                </a:solidFill>
              </a:rPr>
              <a:t>在伤口涂抹药膏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apply ointment to the wound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</a:t>
            </a:r>
            <a:r>
              <a:rPr lang="zh-CN" altLang="en-US" sz="2400">
                <a:solidFill>
                  <a:schemeClr val="tx1"/>
                </a:solidFill>
              </a:rPr>
              <a:t>申请全额奖学金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apply for full scholarship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7.</a:t>
            </a:r>
            <a:r>
              <a:rPr lang="zh-CN" altLang="en-US" sz="2400">
                <a:solidFill>
                  <a:schemeClr val="tx1"/>
                </a:solidFill>
              </a:rPr>
              <a:t>被任命为班长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be appointed (to be) monitor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8.</a:t>
            </a:r>
            <a:r>
              <a:rPr lang="zh-CN" altLang="en-US" sz="2400">
                <a:solidFill>
                  <a:schemeClr val="tx1"/>
                </a:solidFill>
              </a:rPr>
              <a:t>如果你能</a:t>
            </a:r>
            <a:r>
              <a:rPr lang="en-US" altLang="zh-CN" sz="2400">
                <a:solidFill>
                  <a:schemeClr val="tx1"/>
                </a:solidFill>
              </a:rPr>
              <a:t>...</a:t>
            </a:r>
            <a:r>
              <a:rPr lang="zh-CN" altLang="en-US" sz="2400">
                <a:solidFill>
                  <a:schemeClr val="tx1"/>
                </a:solidFill>
              </a:rPr>
              <a:t>我将感激不尽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I would appreciate it if you could ...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9.approach n. </a:t>
            </a:r>
            <a:r>
              <a:rPr lang="en-US" altLang="zh-CN" sz="2400">
                <a:solidFill>
                  <a:schemeClr val="bg1"/>
                </a:solidFill>
              </a:rPr>
              <a:t>接近；途径；方法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接近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</a:t>
            </a:r>
            <a:r>
              <a:rPr lang="zh-CN" altLang="en-US" sz="2400">
                <a:solidFill>
                  <a:schemeClr val="tx1"/>
                </a:solidFill>
              </a:rPr>
              <a:t>春节临近</a:t>
            </a:r>
            <a:r>
              <a:rPr lang="en-US" altLang="zh-CN" sz="2400">
                <a:solidFill>
                  <a:schemeClr val="tx1"/>
                </a:solidFill>
              </a:rPr>
              <a:t> </a:t>
            </a:r>
            <a:r>
              <a:rPr lang="en-US" altLang="zh-CN" sz="2400">
                <a:solidFill>
                  <a:schemeClr val="bg1"/>
                </a:solidFill>
              </a:rPr>
              <a:t>Spring Festival is approaching</a:t>
            </a:r>
            <a:endParaRPr lang="en-US" altLang="zh-CN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10.appropriate adj. </a:t>
            </a:r>
            <a:r>
              <a:rPr lang="en-US" altLang="zh-CN" sz="2400">
                <a:solidFill>
                  <a:schemeClr val="bg1"/>
                </a:solidFill>
              </a:rPr>
              <a:t>合适的</a:t>
            </a:r>
            <a:endParaRPr lang="en-US" altLang="zh-CN" sz="2400">
              <a:solidFill>
                <a:schemeClr val="bg1"/>
              </a:solidFill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24880" y="93980"/>
            <a:ext cx="5847080" cy="664273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400">
                <a:solidFill>
                  <a:schemeClr val="tx1"/>
                </a:solidFill>
              </a:rPr>
              <a:t>11.</a:t>
            </a:r>
            <a:r>
              <a:rPr lang="zh-CN" altLang="en-US" sz="2400">
                <a:solidFill>
                  <a:schemeClr val="tx1"/>
                </a:solidFill>
              </a:rPr>
              <a:t>赞成；批准</a:t>
            </a:r>
            <a:r>
              <a:rPr lang="en-US" altLang="zh-CN" sz="2400">
                <a:solidFill>
                  <a:schemeClr val="tx1"/>
                </a:solidFill>
              </a:rPr>
              <a:t> v. </a:t>
            </a:r>
            <a:r>
              <a:rPr lang="en-US" altLang="zh-CN" sz="2400">
                <a:solidFill>
                  <a:schemeClr val="bg1"/>
                </a:solidFill>
              </a:rPr>
              <a:t>approve 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approval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12.approximately adv. </a:t>
            </a:r>
            <a:r>
              <a:rPr lang="en-US" altLang="zh-CN" sz="2400">
                <a:solidFill>
                  <a:schemeClr val="bg1"/>
                </a:solidFill>
              </a:rPr>
              <a:t>近似；估计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13.arch n. </a:t>
            </a:r>
            <a:r>
              <a:rPr lang="en-US" altLang="zh-CN" sz="2400">
                <a:solidFill>
                  <a:schemeClr val="bg1"/>
                </a:solidFill>
              </a:rPr>
              <a:t>拱形</a:t>
            </a:r>
            <a:endParaRPr lang="zh-CN" altLang="en-US" sz="2400">
              <a:solidFill>
                <a:schemeClr val="tx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14.</a:t>
            </a:r>
            <a:r>
              <a:rPr lang="zh-CN" altLang="en-US" sz="2400">
                <a:solidFill>
                  <a:schemeClr val="tx1"/>
                </a:solidFill>
              </a:rPr>
              <a:t>建筑师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architect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     </a:t>
            </a:r>
            <a:r>
              <a:rPr lang="zh-CN" altLang="en-US" sz="2400">
                <a:solidFill>
                  <a:schemeClr val="tx1"/>
                </a:solidFill>
              </a:rPr>
              <a:t>建筑学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architecture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15.</a:t>
            </a:r>
            <a:r>
              <a:rPr lang="zh-CN" altLang="en-US" sz="2400">
                <a:solidFill>
                  <a:schemeClr val="tx1"/>
                </a:solidFill>
              </a:rPr>
              <a:t>争论；论据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argument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16.arithmetic n. </a:t>
            </a:r>
            <a:r>
              <a:rPr lang="en-US" altLang="zh-CN" sz="2400">
                <a:solidFill>
                  <a:schemeClr val="bg1"/>
                </a:solidFill>
              </a:rPr>
              <a:t>算术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17.be armed with </a:t>
            </a:r>
            <a:r>
              <a:rPr lang="en-US" altLang="zh-CN" sz="2400">
                <a:solidFill>
                  <a:schemeClr val="bg1"/>
                </a:solidFill>
              </a:rPr>
              <a:t>装载了...</a:t>
            </a:r>
            <a:endParaRPr lang="en-US" altLang="zh-CN" sz="2400">
              <a:solidFill>
                <a:schemeClr val="bg1"/>
              </a:solidFill>
            </a:endParaRPr>
          </a:p>
          <a:p>
            <a:r>
              <a:rPr lang="en-US" altLang="zh-CN" sz="2400">
                <a:solidFill>
                  <a:schemeClr val="tx1"/>
                </a:solidFill>
              </a:rPr>
              <a:t>18.</a:t>
            </a:r>
            <a:r>
              <a:rPr lang="zh-CN" altLang="en-US" sz="2400">
                <a:solidFill>
                  <a:schemeClr val="tx1"/>
                </a:solidFill>
              </a:rPr>
              <a:t>安排</a:t>
            </a:r>
            <a:r>
              <a:rPr lang="en-US" altLang="zh-CN" sz="2400">
                <a:solidFill>
                  <a:schemeClr val="tx1"/>
                </a:solidFill>
              </a:rPr>
              <a:t> n. </a:t>
            </a:r>
            <a:r>
              <a:rPr lang="en-US" altLang="zh-CN" sz="2400">
                <a:solidFill>
                  <a:schemeClr val="bg1"/>
                </a:solidFill>
              </a:rPr>
              <a:t>arrangement</a:t>
            </a:r>
            <a:endParaRPr lang="en-US" altLang="zh-CN" sz="2400">
              <a:solidFill>
                <a:schemeClr val="bg1"/>
              </a:solidFill>
            </a:endParaRPr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64.xml><?xml version="1.0" encoding="utf-8"?>
<p:tagLst xmlns:p="http://schemas.openxmlformats.org/presentationml/2006/main">
  <p:tag name="commondata" val="eyJoZGlkIjoiOGY5NTQyMzkzNzFlMTQ3ZjlhODAwMTUzYmI4YzEyZTc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611</Words>
  <Application>WPS 演示</Application>
  <PresentationFormat>宽屏</PresentationFormat>
  <Paragraphs>25</Paragraphs>
  <Slides>1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Wingdings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程多涛</cp:lastModifiedBy>
  <cp:revision>157</cp:revision>
  <dcterms:created xsi:type="dcterms:W3CDTF">2019-06-19T02:08:00Z</dcterms:created>
  <dcterms:modified xsi:type="dcterms:W3CDTF">2024-09-04T11:42:07Z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2052-12.1.0.17857</vt:lpwstr>
  </property>
  <property fmtid="{D5CDD505-2E9C-101B-9397-08002B2CF9AE}" pid="3" name="ICV">
    <vt:lpwstr>F472284E994344DFB1DC4408D5C27222_11</vt:lpwstr>
  </property>
</Properties>
</file>